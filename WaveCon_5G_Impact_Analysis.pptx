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5G</c:v>
                </c:pt>
              </c:strCache>
            </c:strRef>
          </c:tx>
          <c:spPr>
            <a:solidFill>
              <a:srgbClr val="BCB9CB"/>
            </a:solidFill>
            <a:effectLst/>
          </c:spPr>
          <c:invertIfNegative val="0"/>
          <c:dLbls>
            <c:numFmt formatCode="#,##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cat>
            <c:multiLvlStrRef>
              <c:f>Sheet1!$A$2:$A$5</c:f>
              <c:multiLvlStrCache>
                <c:ptCount val="4"/>
                <c:lvl>
                  <c:pt idx="0">
                    <c:v>Jan / Jun</c:v>
                  </c:pt>
                  <c:pt idx="1">
                    <c:v>Feb / Jul</c:v>
                  </c:pt>
                  <c:pt idx="2">
                    <c:v>Mar / Aug</c:v>
                  </c:pt>
                  <c:pt idx="3">
                    <c:v>Apr / Sep</c:v>
                  </c:pt>
                </c:lvl>
              </c:multiLvlStrCache>
            </c:multiLvlStrRef>
          </c:cat>
          <c:val>
            <c:numRef>
              <c:f>Sheet1!$B$2:$B$5</c:f>
              <c:numCache>
                <c:formatCode>General</c:formatCode>
                <c:ptCount val="4"/>
                <c:pt idx="0">
                  <c:v>354.37</c:v>
                </c:pt>
                <c:pt idx="1">
                  <c:v>425.69</c:v>
                </c:pt>
                <c:pt idx="2">
                  <c:v>410.45</c:v>
                </c:pt>
                <c:pt idx="3">
                  <c:v>407.19</c:v>
                </c:pt>
              </c:numCache>
            </c:numRef>
          </c:val>
        </c:ser>
        <c:ser>
          <c:idx val="1"/>
          <c:order val="1"/>
          <c:tx>
            <c:strRef>
              <c:f>Sheet1!$C$1</c:f>
              <c:strCache>
                <c:ptCount val="1"/>
                <c:pt idx="0">
                  <c:v>After 5G</c:v>
                </c:pt>
              </c:strCache>
            </c:strRef>
          </c:tx>
          <c:spPr>
            <a:solidFill>
              <a:srgbClr val="5B3DF5"/>
            </a:solidFill>
            <a:effectLst/>
          </c:spPr>
          <c:invertIfNegative val="0"/>
          <c:dLbls>
            <c:numFmt formatCode="#,##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cat>
            <c:multiLvlStrRef>
              <c:f>Sheet1!$A$2:$A$5</c:f>
              <c:multiLvlStrCache>
                <c:ptCount val="4"/>
                <c:lvl>
                  <c:pt idx="0">
                    <c:v>Jan / Jun</c:v>
                  </c:pt>
                  <c:pt idx="1">
                    <c:v>Feb / Jul</c:v>
                  </c:pt>
                  <c:pt idx="2">
                    <c:v>Mar / Aug</c:v>
                  </c:pt>
                  <c:pt idx="3">
                    <c:v>Apr / Sep</c:v>
                  </c:pt>
                </c:lvl>
              </c:multiLvlStrCache>
            </c:multiLvlStrRef>
          </c:cat>
          <c:val>
            <c:numRef>
              <c:f>Sheet1!$C$2:$C$5</c:f>
              <c:numCache>
                <c:formatCode>General</c:formatCode>
                <c:ptCount val="4"/>
                <c:pt idx="0">
                  <c:v>357.56</c:v>
                </c:pt>
                <c:pt idx="1">
                  <c:v>412.76</c:v>
                </c:pt>
                <c:pt idx="2">
                  <c:v>419.08</c:v>
                </c:pt>
                <c:pt idx="3">
                  <c:v>400.26</c:v>
                </c:pt>
              </c:numCache>
            </c:numRef>
          </c:val>
        </c:ser>
        <c:dLbls>
          <c:numFmt formatCode="#,##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3E0"/>
            </a:solidFill>
            <a:prstDash val="solid"/>
            <a:round/>
          </a:ln>
        </c:spPr>
        <c:txPr>
          <a:bodyPr/>
          <a:lstStyle/>
          <a:p>
            <a:pPr>
              <a:defRPr sz="1100" b="0" i="0" u="none" strike="noStrike">
                <a:solidFill>
                  <a:srgbClr val="615E78"/>
                </a:solidFill>
                <a:latin typeface="Calibri"/>
              </a:defRPr>
            </a:pPr>
            <a:endParaRPr lang="en-US"/>
          </a:p>
        </c:txPr>
        <c:crossAx val="2094734552"/>
        <c:crosses val="autoZero"/>
        <c:auto val="1"/>
        <c:lblAlgn val="ctr"/>
        <c:noMultiLvlLbl val="1"/>
      </c:catAx>
      <c:valAx>
        <c:axId val="2094734552"/>
        <c:scaling>
          <c:orientation val="minMax"/>
          <c:max val="480"/>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15E78"/>
                </a:solidFill>
                <a:latin typeface="Calibri"/>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100">
              <a:solidFill>
                <a:srgbClr val="615E7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growth</c:v>
                </c:pt>
              </c:strCache>
            </c:strRef>
          </c:tx>
          <c:spPr>
            <a:solidFill>
              <a:srgbClr val="E5484D"/>
            </a:solidFill>
            <a:effectLst/>
          </c:spPr>
          <c:invertIfNegative val="0"/>
          <c:dLbls>
            <c:numFmt formatCode="+0.0%;-0.0%;0.0%" sourceLinked="0"/>
            <c:txPr>
              <a:bodyPr/>
              <a:lstStyle/>
              <a:p>
                <a:pPr>
                  <a:defRPr b="0" i="0" strike="noStrike" sz="1200" u="none">
                    <a:solidFill>
                      <a:srgbClr val="1B1838"/>
                    </a:solidFill>
                    <a:latin typeface="Calibri"/>
                  </a:defRPr>
                </a:pPr>
              </a:p>
            </c:txPr>
            <c:showLegendKey val="0"/>
            <c:showVal val="1"/>
            <c:showCatName val="0"/>
            <c:showSerName val="0"/>
            <c:showPercent val="0"/>
            <c:showBubbleSize val="0"/>
            <c:showLeaderLines val="0"/>
          </c:dLbls>
          <c:dPt>
            <c:idx val="0"/>
            <c:invertIfNegative val="0"/>
            <c:bubble3D val="0"/>
            <c:spPr>
              <a:solidFill>
                <a:srgbClr val="E5484D"/>
              </a:solidFill>
              <a:effectLst/>
            </c:spPr>
          </c:dPt>
          <c:dPt>
            <c:idx val="1"/>
            <c:invertIfNegative val="0"/>
            <c:bubble3D val="0"/>
            <c:spPr>
              <a:solidFill>
                <a:srgbClr val="BCB9CB"/>
              </a:solidFill>
              <a:effectLst/>
            </c:spPr>
          </c:dPt>
          <c:dPt>
            <c:idx val="2"/>
            <c:invertIfNegative val="0"/>
            <c:bubble3D val="0"/>
            <c:spPr>
              <a:solidFill>
                <a:srgbClr val="BCB9CB"/>
              </a:solidFill>
              <a:effectLst/>
            </c:spPr>
          </c:dPt>
          <c:dPt>
            <c:idx val="3"/>
            <c:invertIfNegative val="0"/>
            <c:bubble3D val="0"/>
            <c:spPr>
              <a:solidFill>
                <a:srgbClr val="BCB9CB"/>
              </a:solidFill>
              <a:effectLst/>
            </c:spPr>
          </c:dPt>
          <c:dPt>
            <c:idx val="4"/>
            <c:invertIfNegative val="0"/>
            <c:bubble3D val="0"/>
            <c:spPr>
              <a:solidFill>
                <a:srgbClr val="BCB9CB"/>
              </a:solidFill>
              <a:effectLst/>
            </c:spPr>
          </c:dPt>
          <c:cat>
            <c:multiLvlStrRef>
              <c:f>Sheet1!$A$2:$A$6</c:f>
              <c:multiLvlStrCache>
                <c:ptCount val="5"/>
                <c:lvl>
                  <c:pt idx="0">
                    <c:v>WaveCon</c:v>
                  </c:pt>
                  <c:pt idx="1">
                    <c:v>Dadafone</c:v>
                  </c:pt>
                  <c:pt idx="2">
                    <c:v>PIO</c:v>
                  </c:pt>
                  <c:pt idx="3">
                    <c:v>Others</c:v>
                  </c:pt>
                  <c:pt idx="4">
                    <c:v>Britel</c:v>
                  </c:pt>
                </c:lvl>
              </c:multiLvlStrCache>
            </c:multiLvlStrRef>
          </c:cat>
          <c:val>
            <c:numRef>
              <c:f>Sheet1!$B$2:$B$6</c:f>
              <c:numCache>
                <c:formatCode>General</c:formatCode>
                <c:ptCount val="5"/>
                <c:pt idx="0">
                  <c:v>-0.005039204928395935</c:v>
                </c:pt>
                <c:pt idx="1">
                  <c:v>0.08688124687614862</c:v>
                </c:pt>
                <c:pt idx="2">
                  <c:v>0.08577889271020811</c:v>
                </c:pt>
                <c:pt idx="3">
                  <c:v>0.08572937675488257</c:v>
                </c:pt>
                <c:pt idx="4">
                  <c:v>0.08543145800924612</c:v>
                </c:pt>
              </c:numCache>
            </c:numRef>
          </c:val>
        </c:ser>
        <c:dLbls>
          <c:numFmt formatCode="+0.0%;-0.0%;0.0%" sourceLinked="0"/>
          <c:txPr>
            <a:bodyPr/>
            <a:lstStyle/>
            <a:p>
              <a:pPr>
                <a:defRPr b="0" i="0" strike="noStrike" sz="1200" u="none">
                  <a:solidFill>
                    <a:srgbClr val="1B1838"/>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D6D3E0"/>
            </a:solidFill>
            <a:prstDash val="solid"/>
            <a:round/>
          </a:ln>
        </c:spPr>
        <c:txPr>
          <a:bodyPr/>
          <a:lstStyle/>
          <a:p>
            <a:pPr>
              <a:defRPr sz="1300" b="0" i="0" u="none" strike="noStrike">
                <a:solidFill>
                  <a:srgbClr val="1B1838"/>
                </a:solidFill>
                <a:latin typeface="Calibri"/>
              </a:defRPr>
            </a:pPr>
            <a:endParaRPr lang="en-US"/>
          </a:p>
        </c:txPr>
        <c:crossAx val="2094734552"/>
        <c:crosses val="autoZero"/>
        <c:auto val="1"/>
        <c:lblAlgn val="ctr"/>
        <c:noMultiLvlLbl val="1"/>
      </c:catAx>
      <c:valAx>
        <c:axId val="2094734552"/>
        <c:scaling>
          <c:orientation val="minMax"/>
          <c:max val="0.11"/>
          <c:min val="-0.03"/>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15E7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Active users (lakh)</c:v>
                </c:pt>
              </c:strCache>
            </c:strRef>
          </c:tx>
          <c:spPr>
            <a:solidFill>
              <a:srgbClr val="BCB9CB"/>
            </a:solidFill>
            <a:effectLst/>
          </c:spPr>
          <c:invertIfNegative val="0"/>
          <c:dLbls>
            <c:numFmt formatCode="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dPt>
            <c:idx val="0"/>
            <c:invertIfNegative val="0"/>
            <c:bubble3D val="0"/>
            <c:spPr>
              <a:solidFill>
                <a:srgbClr val="BCB9CB"/>
              </a:solidFill>
              <a:effectLst/>
            </c:spPr>
          </c:dPt>
          <c:dPt>
            <c:idx val="1"/>
            <c:invertIfNegative val="0"/>
            <c:bubble3D val="0"/>
            <c:spPr>
              <a:solidFill>
                <a:srgbClr val="BCB9CB"/>
              </a:solidFill>
              <a:effectLst/>
            </c:spPr>
          </c:dPt>
          <c:dPt>
            <c:idx val="2"/>
            <c:invertIfNegative val="0"/>
            <c:bubble3D val="0"/>
            <c:spPr>
              <a:solidFill>
                <a:srgbClr val="BCB9CB"/>
              </a:solidFill>
              <a:effectLst/>
            </c:spPr>
          </c:dPt>
          <c:dPt>
            <c:idx val="3"/>
            <c:invertIfNegative val="0"/>
            <c:bubble3D val="0"/>
            <c:spPr>
              <a:solidFill>
                <a:srgbClr val="BCB9CB"/>
              </a:solidFill>
              <a:effectLst/>
            </c:spPr>
          </c:dPt>
          <c:dPt>
            <c:idx val="4"/>
            <c:invertIfNegative val="0"/>
            <c:bubble3D val="0"/>
            <c:spPr>
              <a:solidFill>
                <a:srgbClr val="5B3DF5"/>
              </a:solidFill>
              <a:effectLst/>
            </c:spPr>
          </c:dPt>
          <c:dPt>
            <c:idx val="5"/>
            <c:invertIfNegative val="0"/>
            <c:bubble3D val="0"/>
            <c:spPr>
              <a:solidFill>
                <a:srgbClr val="5B3DF5"/>
              </a:solidFill>
              <a:effectLst/>
            </c:spPr>
          </c:dPt>
          <c:dPt>
            <c:idx val="6"/>
            <c:invertIfNegative val="0"/>
            <c:bubble3D val="0"/>
            <c:spPr>
              <a:solidFill>
                <a:srgbClr val="5B3DF5"/>
              </a:solidFill>
              <a:effectLst/>
            </c:spPr>
          </c:dPt>
          <c:dPt>
            <c:idx val="7"/>
            <c:invertIfNegative val="0"/>
            <c:bubble3D val="0"/>
            <c:spPr>
              <a:solidFill>
                <a:srgbClr val="5B3DF5"/>
              </a:solidFill>
              <a:effectLst/>
            </c:spPr>
          </c:dPt>
          <c:cat>
            <c:multiLvlStrRef>
              <c:f>Sheet1!$A$2:$A$9</c:f>
              <c:multiLvlStrCache>
                <c:ptCount val="8"/>
                <c:lvl>
                  <c:pt idx="0">
                    <c:v>Jan</c:v>
                  </c:pt>
                  <c:pt idx="1">
                    <c:v>Feb</c:v>
                  </c:pt>
                  <c:pt idx="2">
                    <c:v>Mar</c:v>
                  </c:pt>
                  <c:pt idx="3">
                    <c:v>Apr</c:v>
                  </c:pt>
                  <c:pt idx="4">
                    <c:v>Jun</c:v>
                  </c:pt>
                  <c:pt idx="5">
                    <c:v>Jul</c:v>
                  </c:pt>
                  <c:pt idx="6">
                    <c:v>Aug</c:v>
                  </c:pt>
                  <c:pt idx="7">
                    <c:v>Sep</c:v>
                  </c:pt>
                </c:lvl>
              </c:multiLvlStrCache>
            </c:multiLvlStrRef>
          </c:cat>
          <c:val>
            <c:numRef>
              <c:f>Sheet1!$B$2:$B$9</c:f>
              <c:numCache>
                <c:formatCode>General</c:formatCode>
                <c:ptCount val="8"/>
                <c:pt idx="0">
                  <c:v>191.71</c:v>
                </c:pt>
                <c:pt idx="1">
                  <c:v>228.28</c:v>
                </c:pt>
                <c:pt idx="2">
                  <c:v>212.58</c:v>
                </c:pt>
                <c:pt idx="3">
                  <c:v>210.96</c:v>
                </c:pt>
                <c:pt idx="4">
                  <c:v>169.94</c:v>
                </c:pt>
                <c:pt idx="5">
                  <c:v>211.13</c:v>
                </c:pt>
                <c:pt idx="6">
                  <c:v>204.41</c:v>
                </c:pt>
                <c:pt idx="7">
                  <c:v>188.22</c:v>
                </c:pt>
              </c:numCache>
            </c:numRef>
          </c:val>
        </c:ser>
        <c:dLbls>
          <c:numFmt formatCode="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3E0"/>
            </a:solidFill>
            <a:prstDash val="solid"/>
            <a:round/>
          </a:ln>
        </c:spPr>
        <c:txPr>
          <a:bodyPr/>
          <a:lstStyle/>
          <a:p>
            <a:pPr>
              <a:defRPr sz="1100" b="0" i="0" u="none" strike="noStrike">
                <a:solidFill>
                  <a:srgbClr val="615E78"/>
                </a:solidFill>
                <a:latin typeface="Calibri"/>
              </a:defRPr>
            </a:pPr>
            <a:endParaRPr lang="en-US"/>
          </a:p>
        </c:txPr>
        <c:crossAx val="2094734552"/>
        <c:crosses val="autoZero"/>
        <c:auto val="1"/>
        <c:lblAlgn val="ctr"/>
        <c:noMultiLvlLbl val="1"/>
      </c:catAx>
      <c:valAx>
        <c:axId val="2094734552"/>
        <c:scaling>
          <c:orientation val="minMax"/>
          <c:max val="260"/>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15E78"/>
                </a:solidFill>
                <a:latin typeface="Calibri"/>
              </a:defRPr>
            </a:pPr>
            <a:endParaRPr lang="en-US"/>
          </a:p>
        </c:txPr>
        <c:crossAx val="2094734554"/>
        <c:crosses val="autoZero"/>
        <c:crossBetween val="between"/>
      </c:valAx>
      <c:spPr>
        <a:solidFill>
          <a:srgbClr val="F5F4FA"/>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Unsubscribe rate</c:v>
                </c:pt>
              </c:strCache>
            </c:strRef>
          </c:tx>
          <c:spPr>
            <a:solidFill>
              <a:srgbClr val="BCB9CB"/>
            </a:solidFill>
            <a:effectLst/>
          </c:spPr>
          <c:invertIfNegative val="0"/>
          <c:dLbls>
            <c:numFmt formatCode="0.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dPt>
            <c:idx val="0"/>
            <c:invertIfNegative val="0"/>
            <c:bubble3D val="0"/>
            <c:spPr>
              <a:solidFill>
                <a:srgbClr val="BCB9CB"/>
              </a:solidFill>
              <a:effectLst/>
            </c:spPr>
          </c:dPt>
          <c:dPt>
            <c:idx val="1"/>
            <c:invertIfNegative val="0"/>
            <c:bubble3D val="0"/>
            <c:spPr>
              <a:solidFill>
                <a:srgbClr val="BCB9CB"/>
              </a:solidFill>
              <a:effectLst/>
            </c:spPr>
          </c:dPt>
          <c:dPt>
            <c:idx val="2"/>
            <c:invertIfNegative val="0"/>
            <c:bubble3D val="0"/>
            <c:spPr>
              <a:solidFill>
                <a:srgbClr val="BCB9CB"/>
              </a:solidFill>
              <a:effectLst/>
            </c:spPr>
          </c:dPt>
          <c:dPt>
            <c:idx val="3"/>
            <c:invertIfNegative val="0"/>
            <c:bubble3D val="0"/>
            <c:spPr>
              <a:solidFill>
                <a:srgbClr val="BCB9CB"/>
              </a:solidFill>
              <a:effectLst/>
            </c:spPr>
          </c:dPt>
          <c:dPt>
            <c:idx val="4"/>
            <c:invertIfNegative val="0"/>
            <c:bubble3D val="0"/>
            <c:spPr>
              <a:solidFill>
                <a:srgbClr val="E5484D"/>
              </a:solidFill>
              <a:effectLst/>
            </c:spPr>
          </c:dPt>
          <c:dPt>
            <c:idx val="5"/>
            <c:invertIfNegative val="0"/>
            <c:bubble3D val="0"/>
            <c:spPr>
              <a:solidFill>
                <a:srgbClr val="E5484D"/>
              </a:solidFill>
              <a:effectLst/>
            </c:spPr>
          </c:dPt>
          <c:dPt>
            <c:idx val="6"/>
            <c:invertIfNegative val="0"/>
            <c:bubble3D val="0"/>
            <c:spPr>
              <a:solidFill>
                <a:srgbClr val="E5484D"/>
              </a:solidFill>
              <a:effectLst/>
            </c:spPr>
          </c:dPt>
          <c:dPt>
            <c:idx val="7"/>
            <c:invertIfNegative val="0"/>
            <c:bubble3D val="0"/>
            <c:spPr>
              <a:solidFill>
                <a:srgbClr val="E5484D"/>
              </a:solidFill>
              <a:effectLst/>
            </c:spPr>
          </c:dPt>
          <c:cat>
            <c:multiLvlStrRef>
              <c:f>Sheet1!$A$2:$A$9</c:f>
              <c:multiLvlStrCache>
                <c:ptCount val="8"/>
                <c:lvl>
                  <c:pt idx="0">
                    <c:v>Jan</c:v>
                  </c:pt>
                  <c:pt idx="1">
                    <c:v>Feb</c:v>
                  </c:pt>
                  <c:pt idx="2">
                    <c:v>Mar</c:v>
                  </c:pt>
                  <c:pt idx="3">
                    <c:v>Apr</c:v>
                  </c:pt>
                  <c:pt idx="4">
                    <c:v>Jun</c:v>
                  </c:pt>
                  <c:pt idx="5">
                    <c:v>Jul</c:v>
                  </c:pt>
                  <c:pt idx="6">
                    <c:v>Aug</c:v>
                  </c:pt>
                  <c:pt idx="7">
                    <c:v>Sep</c:v>
                  </c:pt>
                </c:lvl>
              </c:multiLvlStrCache>
            </c:multiLvlStrRef>
          </c:cat>
          <c:val>
            <c:numRef>
              <c:f>Sheet1!$B$2:$B$9</c:f>
              <c:numCache>
                <c:formatCode>General</c:formatCode>
                <c:ptCount val="8"/>
                <c:pt idx="0">
                  <c:v>0.06087319388659955</c:v>
                </c:pt>
                <c:pt idx="1">
                  <c:v>0.06233572805326792</c:v>
                </c:pt>
                <c:pt idx="2">
                  <c:v>0.07037350644463261</c:v>
                </c:pt>
                <c:pt idx="3">
                  <c:v>0.07333143723928708</c:v>
                </c:pt>
                <c:pt idx="4">
                  <c:v>0.09156172766858892</c:v>
                </c:pt>
                <c:pt idx="5">
                  <c:v>0.0879552882110548</c:v>
                </c:pt>
                <c:pt idx="6">
                  <c:v>0.09133604031113939</c:v>
                </c:pt>
                <c:pt idx="7">
                  <c:v>0.08909786420146637</c:v>
                </c:pt>
              </c:numCache>
            </c:numRef>
          </c:val>
        </c:ser>
        <c:dLbls>
          <c:numFmt formatCode="0.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3E0"/>
            </a:solidFill>
            <a:prstDash val="solid"/>
            <a:round/>
          </a:ln>
        </c:spPr>
        <c:txPr>
          <a:bodyPr/>
          <a:lstStyle/>
          <a:p>
            <a:pPr>
              <a:defRPr sz="1100" b="0" i="0" u="none" strike="noStrike">
                <a:solidFill>
                  <a:srgbClr val="615E78"/>
                </a:solidFill>
                <a:latin typeface="Calibri"/>
              </a:defRPr>
            </a:pPr>
            <a:endParaRPr lang="en-US"/>
          </a:p>
        </c:txPr>
        <c:crossAx val="2094734552"/>
        <c:crosses val="autoZero"/>
        <c:auto val="1"/>
        <c:lblAlgn val="ctr"/>
        <c:noMultiLvlLbl val="1"/>
      </c:catAx>
      <c:valAx>
        <c:axId val="2094734552"/>
        <c:scaling>
          <c:orientation val="minMax"/>
          <c:max val="0.11"/>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15E78"/>
                </a:solidFill>
                <a:latin typeface="Calibri"/>
              </a:defRPr>
            </a:pPr>
            <a:endParaRPr lang="en-US"/>
          </a:p>
        </c:txPr>
        <c:crossAx val="2094734554"/>
        <c:crosses val="autoZero"/>
        <c:crossBetween val="between"/>
      </c:valAx>
      <c:spPr>
        <a:solidFill>
          <a:srgbClr val="F5F4FA"/>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after 5G</c:v>
                </c:pt>
              </c:strCache>
            </c:strRef>
          </c:tx>
          <c:spPr>
            <a:solidFill>
              <a:srgbClr val="5B3DF5"/>
            </a:solidFill>
            <a:effectLst/>
          </c:spPr>
          <c:invertIfNegative val="0"/>
          <c:dLbls>
            <c:numFmt formatCode="#,##0.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dPt>
            <c:idx val="0"/>
            <c:invertIfNegative val="0"/>
            <c:bubble3D val="0"/>
            <c:spPr>
              <a:solidFill>
                <a:srgbClr val="5B3DF5"/>
              </a:solidFill>
              <a:effectLst/>
            </c:spPr>
          </c:dPt>
          <c:dPt>
            <c:idx val="1"/>
            <c:invertIfNegative val="0"/>
            <c:bubble3D val="0"/>
            <c:spPr>
              <a:solidFill>
                <a:srgbClr val="5B3DF5"/>
              </a:solidFill>
              <a:effectLst/>
            </c:spPr>
          </c:dPt>
          <c:dPt>
            <c:idx val="2"/>
            <c:invertIfNegative val="0"/>
            <c:bubble3D val="0"/>
            <c:spPr>
              <a:solidFill>
                <a:srgbClr val="5B3DF5"/>
              </a:solidFill>
              <a:effectLst/>
            </c:spPr>
          </c:dPt>
          <c:dPt>
            <c:idx val="3"/>
            <c:invertIfNegative val="0"/>
            <c:bubble3D val="0"/>
            <c:spPr>
              <a:solidFill>
                <a:srgbClr val="5B3DF5"/>
              </a:solidFill>
              <a:effectLst/>
            </c:spPr>
          </c:dPt>
          <c:dPt>
            <c:idx val="4"/>
            <c:invertIfNegative val="0"/>
            <c:bubble3D val="0"/>
            <c:spPr>
              <a:solidFill>
                <a:srgbClr val="5B3DF5"/>
              </a:solidFill>
              <a:effectLst/>
            </c:spPr>
          </c:dPt>
          <c:dPt>
            <c:idx val="5"/>
            <c:invertIfNegative val="0"/>
            <c:bubble3D val="0"/>
            <c:spPr>
              <a:solidFill>
                <a:srgbClr val="BCB9CB"/>
              </a:solidFill>
              <a:effectLst/>
            </c:spPr>
          </c:dPt>
          <c:dPt>
            <c:idx val="6"/>
            <c:invertIfNegative val="0"/>
            <c:bubble3D val="0"/>
            <c:spPr>
              <a:solidFill>
                <a:srgbClr val="BCB9CB"/>
              </a:solidFill>
              <a:effectLst/>
            </c:spPr>
          </c:dPt>
          <c:dPt>
            <c:idx val="7"/>
            <c:invertIfNegative val="0"/>
            <c:bubble3D val="0"/>
            <c:spPr>
              <a:solidFill>
                <a:srgbClr val="BCB9CB"/>
              </a:solidFill>
              <a:effectLst/>
            </c:spPr>
          </c:dPt>
          <c:dPt>
            <c:idx val="8"/>
            <c:invertIfNegative val="0"/>
            <c:bubble3D val="0"/>
            <c:spPr>
              <a:solidFill>
                <a:srgbClr val="BCB9CB"/>
              </a:solidFill>
              <a:effectLst/>
            </c:spPr>
          </c:dPt>
          <c:dPt>
            <c:idx val="9"/>
            <c:invertIfNegative val="0"/>
            <c:bubble3D val="0"/>
            <c:spPr>
              <a:solidFill>
                <a:srgbClr val="BCB9CB"/>
              </a:solidFill>
              <a:effectLst/>
            </c:spPr>
          </c:dPt>
          <c:cat>
            <c:multiLvlStrRef>
              <c:f>Sheet1!$A$2:$A$11</c:f>
              <c:multiLvlStrCache>
                <c:ptCount val="10"/>
                <c:lvl>
                  <c:pt idx="0">
                    <c:v>p1 · Smart Recharge</c:v>
                  </c:pt>
                  <c:pt idx="1">
                    <c:v>p11 · Ultra Fast Mega *</c:v>
                  </c:pt>
                  <c:pt idx="2">
                    <c:v>p2 · Super Saviour</c:v>
                  </c:pt>
                  <c:pt idx="3">
                    <c:v>p3 · Elite Saver</c:v>
                  </c:pt>
                  <c:pt idx="4">
                    <c:v>p12 · Ultra Duo *</c:v>
                  </c:pt>
                  <c:pt idx="5">
                    <c:v>p4 · Mini Data Saver</c:v>
                  </c:pt>
                  <c:pt idx="6">
                    <c:v>p5 · ₹99 Talktime</c:v>
                  </c:pt>
                  <c:pt idx="7">
                    <c:v>p6 · Xstream 15 GB</c:v>
                  </c:pt>
                  <c:pt idx="8">
                    <c:v>p13 · Mini Ultra Saver *</c:v>
                  </c:pt>
                  <c:pt idx="9">
                    <c:v>p7 · 25 GB 3G/4G</c:v>
                  </c:pt>
                </c:lvl>
              </c:multiLvlStrCache>
            </c:multiLvlStrRef>
          </c:cat>
          <c:val>
            <c:numRef>
              <c:f>Sheet1!$B$2:$B$11</c:f>
              <c:numCache>
                <c:formatCode>General</c:formatCode>
                <c:ptCount val="10"/>
                <c:pt idx="0">
                  <c:v>238.66</c:v>
                </c:pt>
                <c:pt idx="1">
                  <c:v>185.95</c:v>
                </c:pt>
                <c:pt idx="2">
                  <c:v>148.73</c:v>
                </c:pt>
                <c:pt idx="3">
                  <c:v>129.61</c:v>
                </c:pt>
                <c:pt idx="4">
                  <c:v>116.13</c:v>
                </c:pt>
                <c:pt idx="5">
                  <c:v>87.67999999999999</c:v>
                </c:pt>
                <c:pt idx="6">
                  <c:v>65.15</c:v>
                </c:pt>
                <c:pt idx="7">
                  <c:v>49.46</c:v>
                </c:pt>
                <c:pt idx="8">
                  <c:v>31.45</c:v>
                </c:pt>
                <c:pt idx="9">
                  <c:v>15.56</c:v>
                </c:pt>
              </c:numCache>
            </c:numRef>
          </c:val>
        </c:ser>
        <c:dLbls>
          <c:numFmt formatCode="#,##0.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6D3E0"/>
            </a:solidFill>
            <a:prstDash val="solid"/>
            <a:round/>
          </a:ln>
        </c:spPr>
        <c:txPr>
          <a:bodyPr/>
          <a:lstStyle/>
          <a:p>
            <a:pPr>
              <a:defRPr sz="1150" b="0" i="0" u="none" strike="noStrike">
                <a:solidFill>
                  <a:srgbClr val="1B1838"/>
                </a:solidFill>
                <a:latin typeface="Calibri"/>
              </a:defRPr>
            </a:pPr>
            <a:endParaRPr lang="en-US"/>
          </a:p>
        </c:txPr>
        <c:crossAx val="2094734552"/>
        <c:crosses val="autoZero"/>
        <c:auto val="1"/>
        <c:lblAlgn val="ctr"/>
        <c:noMultiLvlLbl val="1"/>
      </c:catAx>
      <c:valAx>
        <c:axId val="2094734552"/>
        <c:scaling>
          <c:orientation val="minMax"/>
          <c:max val="28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15E7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change</c:v>
                </c:pt>
              </c:strCache>
            </c:strRef>
          </c:tx>
          <c:spPr>
            <a:solidFill>
              <a:srgbClr val="12A67A"/>
            </a:solidFill>
            <a:effectLst/>
          </c:spPr>
          <c:invertIfNegative val="0"/>
          <c:dLbls>
            <c:numFmt formatCode="+0%;-0%;0%" sourceLinked="0"/>
            <c:txPr>
              <a:bodyPr/>
              <a:lstStyle/>
              <a:p>
                <a:pPr>
                  <a:defRPr b="0" i="0" strike="noStrike" sz="1100" u="none">
                    <a:solidFill>
                      <a:srgbClr val="1B1838"/>
                    </a:solidFill>
                    <a:latin typeface="Calibri"/>
                  </a:defRPr>
                </a:pPr>
              </a:p>
            </c:txPr>
            <c:showLegendKey val="0"/>
            <c:showVal val="1"/>
            <c:showCatName val="0"/>
            <c:showSerName val="0"/>
            <c:showPercent val="0"/>
            <c:showBubbleSize val="0"/>
            <c:showLeaderLines val="0"/>
          </c:dLbls>
          <c:dPt>
            <c:idx val="0"/>
            <c:invertIfNegative val="0"/>
            <c:bubble3D val="0"/>
            <c:spPr>
              <a:solidFill>
                <a:srgbClr val="12A67A"/>
              </a:solidFill>
              <a:effectLst/>
            </c:spPr>
          </c:dPt>
          <c:dPt>
            <c:idx val="1"/>
            <c:invertIfNegative val="0"/>
            <c:bubble3D val="0"/>
            <c:spPr>
              <a:solidFill>
                <a:srgbClr val="BCB9CB"/>
              </a:solidFill>
              <a:effectLst/>
            </c:spPr>
          </c:dPt>
          <c:dPt>
            <c:idx val="2"/>
            <c:invertIfNegative val="0"/>
            <c:bubble3D val="0"/>
            <c:spPr>
              <a:solidFill>
                <a:srgbClr val="BCB9CB"/>
              </a:solidFill>
              <a:effectLst/>
            </c:spPr>
          </c:dPt>
          <c:dPt>
            <c:idx val="3"/>
            <c:invertIfNegative val="0"/>
            <c:bubble3D val="0"/>
            <c:spPr>
              <a:solidFill>
                <a:srgbClr val="E5484D"/>
              </a:solidFill>
              <a:effectLst/>
            </c:spPr>
          </c:dPt>
          <c:dPt>
            <c:idx val="4"/>
            <c:invertIfNegative val="0"/>
            <c:bubble3D val="0"/>
            <c:spPr>
              <a:solidFill>
                <a:srgbClr val="E5484D"/>
              </a:solidFill>
              <a:effectLst/>
            </c:spPr>
          </c:dPt>
          <c:dPt>
            <c:idx val="5"/>
            <c:invertIfNegative val="0"/>
            <c:bubble3D val="0"/>
            <c:spPr>
              <a:solidFill>
                <a:srgbClr val="E5484D"/>
              </a:solidFill>
              <a:effectLst/>
            </c:spPr>
          </c:dPt>
          <c:dPt>
            <c:idx val="6"/>
            <c:invertIfNegative val="0"/>
            <c:bubble3D val="0"/>
            <c:spPr>
              <a:solidFill>
                <a:srgbClr val="E5484D"/>
              </a:solidFill>
              <a:effectLst/>
            </c:spPr>
          </c:dPt>
          <c:cat>
            <c:multiLvlStrRef>
              <c:f>Sheet1!$A$2:$A$8</c:f>
              <c:multiLvlStrCache>
                <c:ptCount val="7"/>
                <c:lvl>
                  <c:pt idx="0">
                    <c:v>p1 · 2 GB/day</c:v>
                  </c:pt>
                  <c:pt idx="1">
                    <c:v>p2 · 1.5 GB/day</c:v>
                  </c:pt>
                  <c:pt idx="2">
                    <c:v>p3 · 1 GB/day</c:v>
                  </c:pt>
                  <c:pt idx="3">
                    <c:v>p4 · 500 MB/day</c:v>
                  </c:pt>
                  <c:pt idx="4">
                    <c:v>p6 · 15 GB / 28 days</c:v>
                  </c:pt>
                  <c:pt idx="5">
                    <c:v>p5 · ₹99 talk-time</c:v>
                  </c:pt>
                  <c:pt idx="6">
                    <c:v>p7 · 25 GB 3G/4G</c:v>
                  </c:pt>
                </c:lvl>
              </c:multiLvlStrCache>
            </c:multiLvlStrRef>
          </c:cat>
          <c:val>
            <c:numRef>
              <c:f>Sheet1!$B$2:$B$8</c:f>
              <c:numCache>
                <c:formatCode>General</c:formatCode>
                <c:ptCount val="7"/>
                <c:pt idx="0">
                  <c:v>0.31659954763612275</c:v>
                </c:pt>
                <c:pt idx="1">
                  <c:v>0</c:v>
                </c:pt>
                <c:pt idx="2">
                  <c:v>-0.017585082998559765</c:v>
                </c:pt>
                <c:pt idx="3">
                  <c:v>-0.18467546959270975</c:v>
                </c:pt>
                <c:pt idx="4">
                  <c:v>-0.3397410225604057</c:v>
                </c:pt>
                <c:pt idx="5">
                  <c:v>-0.35148317738403334</c:v>
                </c:pt>
                <c:pt idx="6">
                  <c:v>-0.7328296703296704</c:v>
                </c:pt>
              </c:numCache>
            </c:numRef>
          </c:val>
        </c:ser>
        <c:dLbls>
          <c:numFmt formatCode="+0%;-0%;0%" sourceLinked="0"/>
          <c:txPr>
            <a:bodyPr/>
            <a:lstStyle/>
            <a:p>
              <a:pPr>
                <a:defRPr b="0" i="0" strike="noStrike" sz="1100" u="none">
                  <a:solidFill>
                    <a:srgbClr val="1B18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D6D3E0"/>
            </a:solidFill>
            <a:prstDash val="solid"/>
            <a:round/>
          </a:ln>
        </c:spPr>
        <c:txPr>
          <a:bodyPr/>
          <a:lstStyle/>
          <a:p>
            <a:pPr>
              <a:defRPr sz="1150" b="0" i="0" u="none" strike="noStrike">
                <a:solidFill>
                  <a:srgbClr val="1B1838"/>
                </a:solidFill>
                <a:latin typeface="Calibri"/>
              </a:defRPr>
            </a:pPr>
            <a:endParaRPr lang="en-US"/>
          </a:p>
        </c:txPr>
        <c:crossAx val="2094734552"/>
        <c:crosses val="autoZero"/>
        <c:auto val="1"/>
        <c:lblAlgn val="ctr"/>
        <c:noMultiLvlLbl val="1"/>
      </c:catAx>
      <c:valAx>
        <c:axId val="2094734552"/>
        <c:scaling>
          <c:orientation val="minMax"/>
          <c:max val="0.5"/>
          <c:min val="-0.95"/>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15E7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p7 revenue</c:v>
                </c:pt>
              </c:strCache>
            </c:strRef>
          </c:tx>
          <c:spPr>
            <a:solidFill>
              <a:srgbClr val="BCB9CB"/>
            </a:solidFill>
            <a:effectLst/>
          </c:spPr>
          <c:invertIfNegative val="0"/>
          <c:dLbls>
            <c:numFmt formatCode="0.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dPt>
            <c:idx val="0"/>
            <c:invertIfNegative val="0"/>
            <c:bubble3D val="0"/>
            <c:spPr>
              <a:solidFill>
                <a:srgbClr val="BCB9CB"/>
              </a:solidFill>
              <a:effectLst/>
            </c:spPr>
          </c:dPt>
          <c:dPt>
            <c:idx val="1"/>
            <c:invertIfNegative val="0"/>
            <c:bubble3D val="0"/>
            <c:spPr>
              <a:solidFill>
                <a:srgbClr val="BCB9CB"/>
              </a:solidFill>
              <a:effectLst/>
            </c:spPr>
          </c:dPt>
          <c:dPt>
            <c:idx val="2"/>
            <c:invertIfNegative val="0"/>
            <c:bubble3D val="0"/>
            <c:spPr>
              <a:solidFill>
                <a:srgbClr val="BCB9CB"/>
              </a:solidFill>
              <a:effectLst/>
            </c:spPr>
          </c:dPt>
          <c:dPt>
            <c:idx val="3"/>
            <c:invertIfNegative val="0"/>
            <c:bubble3D val="0"/>
            <c:spPr>
              <a:solidFill>
                <a:srgbClr val="BCB9CB"/>
              </a:solidFill>
              <a:effectLst/>
            </c:spPr>
          </c:dPt>
          <c:dPt>
            <c:idx val="4"/>
            <c:invertIfNegative val="0"/>
            <c:bubble3D val="0"/>
            <c:spPr>
              <a:solidFill>
                <a:srgbClr val="E5484D"/>
              </a:solidFill>
              <a:effectLst/>
            </c:spPr>
          </c:dPt>
          <c:dPt>
            <c:idx val="5"/>
            <c:invertIfNegative val="0"/>
            <c:bubble3D val="0"/>
            <c:spPr>
              <a:solidFill>
                <a:srgbClr val="E5484D"/>
              </a:solidFill>
              <a:effectLst/>
            </c:spPr>
          </c:dPt>
          <c:dPt>
            <c:idx val="6"/>
            <c:invertIfNegative val="0"/>
            <c:bubble3D val="0"/>
            <c:spPr>
              <a:solidFill>
                <a:srgbClr val="E5484D"/>
              </a:solidFill>
              <a:effectLst/>
            </c:spPr>
          </c:dPt>
          <c:dPt>
            <c:idx val="7"/>
            <c:invertIfNegative val="0"/>
            <c:bubble3D val="0"/>
            <c:spPr>
              <a:solidFill>
                <a:srgbClr val="E5484D"/>
              </a:solidFill>
              <a:effectLst/>
            </c:spPr>
          </c:dPt>
          <c:cat>
            <c:multiLvlStrRef>
              <c:f>Sheet1!$A$2:$A$9</c:f>
              <c:multiLvlStrCache>
                <c:ptCount val="8"/>
                <c:lvl>
                  <c:pt idx="0">
                    <c:v>Jan</c:v>
                  </c:pt>
                  <c:pt idx="1">
                    <c:v>Feb</c:v>
                  </c:pt>
                  <c:pt idx="2">
                    <c:v>Mar</c:v>
                  </c:pt>
                  <c:pt idx="3">
                    <c:v>Apr</c:v>
                  </c:pt>
                  <c:pt idx="4">
                    <c:v>Jun</c:v>
                  </c:pt>
                  <c:pt idx="5">
                    <c:v>Jul</c:v>
                  </c:pt>
                  <c:pt idx="6">
                    <c:v>Aug</c:v>
                  </c:pt>
                  <c:pt idx="7">
                    <c:v>Sep</c:v>
                  </c:pt>
                </c:lvl>
              </c:multiLvlStrCache>
            </c:multiLvlStrRef>
          </c:cat>
          <c:val>
            <c:numRef>
              <c:f>Sheet1!$B$2:$B$9</c:f>
              <c:numCache>
                <c:formatCode>General</c:formatCode>
                <c:ptCount val="8"/>
                <c:pt idx="0">
                  <c:v>12.25</c:v>
                </c:pt>
                <c:pt idx="1">
                  <c:v>15.82</c:v>
                </c:pt>
                <c:pt idx="2">
                  <c:v>15.59</c:v>
                </c:pt>
                <c:pt idx="3">
                  <c:v>14.58</c:v>
                </c:pt>
                <c:pt idx="4">
                  <c:v>3.32</c:v>
                </c:pt>
                <c:pt idx="5">
                  <c:v>3.45</c:v>
                </c:pt>
                <c:pt idx="6">
                  <c:v>4.47</c:v>
                </c:pt>
                <c:pt idx="7">
                  <c:v>4.32</c:v>
                </c:pt>
              </c:numCache>
            </c:numRef>
          </c:val>
        </c:ser>
        <c:dLbls>
          <c:numFmt formatCode="0.0" sourceLinked="0"/>
          <c:txPr>
            <a:bodyPr/>
            <a:lstStyle/>
            <a:p>
              <a:pPr>
                <a:defRPr b="0" i="0" strike="noStrike" sz="1000" u="none">
                  <a:solidFill>
                    <a:srgbClr val="1B183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3E0"/>
            </a:solidFill>
            <a:prstDash val="solid"/>
            <a:round/>
          </a:ln>
        </c:spPr>
        <c:txPr>
          <a:bodyPr/>
          <a:lstStyle/>
          <a:p>
            <a:pPr>
              <a:defRPr sz="1100" b="0" i="0" u="none" strike="noStrike">
                <a:solidFill>
                  <a:srgbClr val="615E78"/>
                </a:solidFill>
                <a:latin typeface="Calibri"/>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15E7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assess whether the May 2022 5G launch improved WaveCon's business. Data: the WaveCon Power BI dashboard (15 cities, 13 plans, Jan-Sep 2022; May excluded as the launch month). We compare Jan-Apr (before) to Jun-Sep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answers to the five business questions. The headline: the 5G launch did not grow revenue. ARPU rose, but it was offset by fewer active users and more unsubscribes, and WaveCon lost market share in every city while competitors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four months before vs four months after, using the same month pairing as the dashboard. May 2022 (launch month) is absent from the data. Three lenses: company KPIs, market share, and plan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after launch was ₹1,589.7 Cr vs ₹1,597.7 Cr before, a −0.50% change. Two of the four month pairs were down. A launch of this size should have been a growth catalyst, but revenue did not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market value grew from ₹8,032 Cr to ₹8,576 Cr (+6.8%). PIO, Britel, Dadafone and Others each grew 8.5-8.7%. WaveCon was the only operator that shrank. Holding pre-launch share city by city would have added about ₹116 Cr. Rivals appear to have captured the 5G upgrade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Underperforming KPI: active users (−8.3%, about 17.5 lakh fewer active users a month), plus unsubscribed users (+23.5%). ARPU is the only KPI that improved (+11.0% on the dashboard definition, +8.5% revenue-weighted). We are earning more from fewer customers, and that cannot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base dropped sharply in June, the first month after launch, and averaged about 8% lower across Jun-Sep. Churn was already trending up before launch. After launch it jumped to about 9% of the active base and stayed there. That points to network or experience issues around the launch, or to rivals' 5G offers pulling users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City scorecard sorted by total revenue. Every city lost market share. Users fell almost everywhere except Pune, Lucknow and Chennai. Unsubscribes rose everywhere except Mumbai. ARPU rose everywhere except Pune and Chennai. Delhi, Chennai and Ahmedabad had the worst revenue declines.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Winners after launch: p1 ₹238.7 Cr (+31.7%), p11 ₹186.0 Cr (new), p2 ₹148.7 Cr (flat), p3 ₹129.6 Cr, p12 ₹116.1 Cr (new). Together they are 77% of plan revenue. The common thread is 1.5-3 GB per day on long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pattern: plans with more data per day held up or grew, and low-data, talk-time and 3G/4G plans fell. p7 −73.3%, p5 −35.1%, p6 −34.0%, p4 −18.5%. Customers moving to 5G devices want more data, so these legacy plans need to be redesigned.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p7 fell from ₹58.2 Cr to ₹15.6 Cr (−73.3%). The collapse happened immediately in June and hit every city by 65-79%, which points to the product, not a local issue. Recommendation: discontinue it in its current form and run a migration offer to a 5G data pack so its remaining customers are not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Discontinued after launch: p8 Daily Saviour, p9 Combo TopUp, p10 Big Combo Pack. They were the three lowest-revenue plans before launch (₹79.2 Cr combined, 9% of plan revenue) and were all short-validity packs. WaveCon replaced them with p11, p12 and p13, which earned ₹333.5 Cr after launch. The data does not record the reason, but the evidence points to a deliberate move to high-value, long-validity 5G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Mumbai is the benchmark: its ARPU rose and its churn fell. Delhi is the biggest problem: our #2 market has about 4.8 lakh fewer active users a month. Pune added users but at lower ARPU and with high churn. Lucknow grew revenue while churn nearly doubled, so its revenue gain is fragile.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in priority order. First stop losing users, since that is what is holding revenue back. Next, fix churn at its source. Then reshape the plan portfolio around data-heavy 5G packs and retire p7. Finally, compete for share. Suggested north-star target: get back to pre-launch user levels while keeping the ARPU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5G launch lifted ARPU but cost us users and market share. The next phase has to focus on retention and on a 5G-first plan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E33"/>
        </a:solidFill>
      </p:bgPr>
    </p:bg>
    <p:spTree>
      <p:nvGrpSpPr>
        <p:cNvPr id="1" name=""/>
        <p:cNvGrpSpPr/>
        <p:nvPr/>
      </p:nvGrpSpPr>
      <p:grpSpPr>
        <a:xfrm>
          <a:off x="0" y="0"/>
          <a:ext cx="0" cy="0"/>
          <a:chOff x="0" y="0"/>
          <a:chExt cx="0" cy="0"/>
        </a:xfrm>
      </p:grpSpPr>
      <p:sp>
        <p:nvSpPr>
          <p:cNvPr id="2" name="Shape 0"/>
          <p:cNvSpPr/>
          <p:nvPr/>
        </p:nvSpPr>
        <p:spPr>
          <a:xfrm>
            <a:off x="6355080" y="228600"/>
            <a:ext cx="6035040" cy="6035040"/>
          </a:xfrm>
          <a:prstGeom prst="ellipse">
            <a:avLst/>
          </a:prstGeom>
          <a:ln w="19050">
            <a:solidFill>
              <a:srgbClr val="5B3DF5">
                <a:alpha val="30000"/>
              </a:srgbClr>
            </a:solidFill>
            <a:prstDash val="solid"/>
          </a:ln>
        </p:spPr>
      </p:sp>
      <p:sp>
        <p:nvSpPr>
          <p:cNvPr id="3" name="Shape 1"/>
          <p:cNvSpPr/>
          <p:nvPr/>
        </p:nvSpPr>
        <p:spPr>
          <a:xfrm>
            <a:off x="6949440" y="822960"/>
            <a:ext cx="4846320" cy="4846320"/>
          </a:xfrm>
          <a:prstGeom prst="ellipse">
            <a:avLst/>
          </a:prstGeom>
          <a:ln w="19050">
            <a:solidFill>
              <a:srgbClr val="5B3DF5">
                <a:alpha val="45000"/>
              </a:srgbClr>
            </a:solidFill>
            <a:prstDash val="solid"/>
          </a:ln>
        </p:spPr>
      </p:sp>
      <p:sp>
        <p:nvSpPr>
          <p:cNvPr id="4" name="Shape 2"/>
          <p:cNvSpPr/>
          <p:nvPr/>
        </p:nvSpPr>
        <p:spPr>
          <a:xfrm>
            <a:off x="7543800" y="1417320"/>
            <a:ext cx="3657600" cy="3657600"/>
          </a:xfrm>
          <a:prstGeom prst="ellipse">
            <a:avLst/>
          </a:prstGeom>
          <a:ln w="19050">
            <a:solidFill>
              <a:srgbClr val="5B3DF5">
                <a:alpha val="60000"/>
              </a:srgbClr>
            </a:solidFill>
            <a:prstDash val="solid"/>
          </a:ln>
        </p:spPr>
      </p:sp>
      <p:sp>
        <p:nvSpPr>
          <p:cNvPr id="5" name="Shape 3"/>
          <p:cNvSpPr/>
          <p:nvPr/>
        </p:nvSpPr>
        <p:spPr>
          <a:xfrm>
            <a:off x="8092440" y="1965960"/>
            <a:ext cx="2560320" cy="2560320"/>
          </a:xfrm>
          <a:prstGeom prst="ellipse">
            <a:avLst/>
          </a:prstGeom>
          <a:ln w="19050">
            <a:solidFill>
              <a:srgbClr val="5B3DF5">
                <a:alpha val="75000"/>
              </a:srgbClr>
            </a:solidFill>
            <a:prstDash val="solid"/>
          </a:ln>
        </p:spPr>
      </p:sp>
      <p:sp>
        <p:nvSpPr>
          <p:cNvPr id="6" name="Shape 4"/>
          <p:cNvSpPr/>
          <p:nvPr/>
        </p:nvSpPr>
        <p:spPr>
          <a:xfrm>
            <a:off x="8641080" y="2514600"/>
            <a:ext cx="1463040" cy="1463040"/>
          </a:xfrm>
          <a:prstGeom prst="ellipse">
            <a:avLst/>
          </a:prstGeom>
          <a:solidFill>
            <a:srgbClr val="5B3DF5"/>
          </a:solidFill>
          <a:ln w="12700">
            <a:solidFill>
              <a:srgbClr val="5B3DF5"/>
            </a:solidFill>
            <a:prstDash val="solid"/>
          </a:ln>
        </p:spPr>
      </p:sp>
      <p:pic>
        <p:nvPicPr>
          <p:cNvPr id="7" name="Image 0" descr="preencoded.png">    </p:cNvPr>
          <p:cNvPicPr>
            <a:picLocks noChangeAspect="1"/>
          </p:cNvPicPr>
          <p:nvPr/>
        </p:nvPicPr>
        <p:blipFill>
          <a:blip r:embed="rId1"/>
          <a:stretch>
            <a:fillRect/>
          </a:stretch>
        </p:blipFill>
        <p:spPr>
          <a:xfrm>
            <a:off x="8869680" y="2743200"/>
            <a:ext cx="1005840" cy="1005840"/>
          </a:xfrm>
          <a:prstGeom prst="rect">
            <a:avLst/>
          </a:prstGeom>
        </p:spPr>
      </p:pic>
      <p:sp>
        <p:nvSpPr>
          <p:cNvPr id="8" name="Text 5"/>
          <p:cNvSpPr txBox="1"/>
          <p:nvPr/>
        </p:nvSpPr>
        <p:spPr>
          <a:xfrm>
            <a:off x="731520" y="1417320"/>
            <a:ext cx="5943600" cy="320040"/>
          </a:xfrm>
          <a:prstGeom prst="rect">
            <a:avLst/>
          </a:prstGeom>
          <a:noFill/>
          <a:ln/>
        </p:spPr>
        <p:txBody>
          <a:bodyPr wrap="square" lIns="0" tIns="0" rIns="0" bIns="0" rtlCol="0" anchor="t"/>
          <a:lstStyle/>
          <a:p>
            <a:pPr indent="0" marL="0">
              <a:buNone/>
            </a:pPr>
            <a:r>
              <a:rPr lang="en-US" sz="1300" b="1" spc="300" kern="0" dirty="0">
                <a:solidFill>
                  <a:srgbClr val="B4A8FF"/>
                </a:solidFill>
                <a:latin typeface="Calibri" pitchFamily="34" charset="0"/>
                <a:ea typeface="Calibri" pitchFamily="34" charset="-122"/>
                <a:cs typeface="Calibri" pitchFamily="34" charset="-120"/>
              </a:rPr>
              <a:t>POST-LAUNCH PERFORMANCE REVIEW</a:t>
            </a:r>
            <a:endParaRPr lang="en-US" sz="1300" dirty="0"/>
          </a:p>
        </p:txBody>
      </p:sp>
      <p:sp>
        <p:nvSpPr>
          <p:cNvPr id="9" name="Text 6"/>
          <p:cNvSpPr txBox="1"/>
          <p:nvPr/>
        </p:nvSpPr>
        <p:spPr>
          <a:xfrm>
            <a:off x="731520" y="1783080"/>
            <a:ext cx="5852160" cy="182880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Did 5G move the needle?</a:t>
            </a:r>
            <a:endParaRPr lang="en-US" sz="5200" dirty="0"/>
          </a:p>
        </p:txBody>
      </p:sp>
      <p:sp>
        <p:nvSpPr>
          <p:cNvPr id="10" name="Text 7"/>
          <p:cNvSpPr txBox="1"/>
          <p:nvPr/>
        </p:nvSpPr>
        <p:spPr>
          <a:xfrm>
            <a:off x="731520" y="3657600"/>
            <a:ext cx="5394960" cy="731520"/>
          </a:xfrm>
          <a:prstGeom prst="rect">
            <a:avLst/>
          </a:prstGeom>
          <a:noFill/>
          <a:ln/>
        </p:spPr>
        <p:txBody>
          <a:bodyPr wrap="square" lIns="0" tIns="0" rIns="0" bIns="0" rtlCol="0" anchor="t"/>
          <a:lstStyle/>
          <a:p>
            <a:pPr indent="0" marL="0">
              <a:buNone/>
            </a:pPr>
            <a:r>
              <a:rPr lang="en-US" sz="1800" dirty="0">
                <a:solidFill>
                  <a:srgbClr val="CFC8FA"/>
                </a:solidFill>
                <a:latin typeface="Calibri" pitchFamily="34" charset="0"/>
                <a:ea typeface="Calibri" pitchFamily="34" charset="-122"/>
                <a:cs typeface="Calibri" pitchFamily="34" charset="-120"/>
              </a:rPr>
              <a:t>WaveCon’s 5G launch: impact on revenue, customers, market share and plans</a:t>
            </a:r>
            <a:endParaRPr lang="en-US" sz="1800" dirty="0"/>
          </a:p>
        </p:txBody>
      </p:sp>
      <p:sp>
        <p:nvSpPr>
          <p:cNvPr id="11" name="Text 8"/>
          <p:cNvSpPr txBox="1"/>
          <p:nvPr/>
        </p:nvSpPr>
        <p:spPr>
          <a:xfrm>
            <a:off x="731520" y="4892040"/>
            <a:ext cx="1280160" cy="5029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15</a:t>
            </a:r>
            <a:endParaRPr lang="en-US" sz="3000" dirty="0"/>
          </a:p>
        </p:txBody>
      </p:sp>
      <p:sp>
        <p:nvSpPr>
          <p:cNvPr id="12" name="Text 9"/>
          <p:cNvSpPr txBox="1"/>
          <p:nvPr/>
        </p:nvSpPr>
        <p:spPr>
          <a:xfrm>
            <a:off x="731520" y="5394960"/>
            <a:ext cx="1325880" cy="274320"/>
          </a:xfrm>
          <a:prstGeom prst="rect">
            <a:avLst/>
          </a:prstGeom>
          <a:noFill/>
          <a:ln/>
        </p:spPr>
        <p:txBody>
          <a:bodyPr wrap="square" lIns="0" tIns="0" rIns="0" bIns="0" rtlCol="0" anchor="t"/>
          <a:lstStyle/>
          <a:p>
            <a:pPr indent="0" marL="0">
              <a:buNone/>
            </a:pPr>
            <a:r>
              <a:rPr lang="en-US" sz="1100" dirty="0">
                <a:solidFill>
                  <a:srgbClr val="B4A8FF"/>
                </a:solidFill>
                <a:latin typeface="Calibri" pitchFamily="34" charset="0"/>
                <a:ea typeface="Calibri" pitchFamily="34" charset="-122"/>
                <a:cs typeface="Calibri" pitchFamily="34" charset="-120"/>
              </a:rPr>
              <a:t>cities</a:t>
            </a:r>
            <a:endParaRPr lang="en-US" sz="1100" dirty="0"/>
          </a:p>
        </p:txBody>
      </p:sp>
      <p:sp>
        <p:nvSpPr>
          <p:cNvPr id="13" name="Text 10"/>
          <p:cNvSpPr txBox="1"/>
          <p:nvPr/>
        </p:nvSpPr>
        <p:spPr>
          <a:xfrm>
            <a:off x="2148840" y="4892040"/>
            <a:ext cx="1280160" cy="5029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13</a:t>
            </a:r>
            <a:endParaRPr lang="en-US" sz="3000" dirty="0"/>
          </a:p>
        </p:txBody>
      </p:sp>
      <p:sp>
        <p:nvSpPr>
          <p:cNvPr id="14" name="Text 11"/>
          <p:cNvSpPr txBox="1"/>
          <p:nvPr/>
        </p:nvSpPr>
        <p:spPr>
          <a:xfrm>
            <a:off x="2148840" y="5394960"/>
            <a:ext cx="1325880" cy="274320"/>
          </a:xfrm>
          <a:prstGeom prst="rect">
            <a:avLst/>
          </a:prstGeom>
          <a:noFill/>
          <a:ln/>
        </p:spPr>
        <p:txBody>
          <a:bodyPr wrap="square" lIns="0" tIns="0" rIns="0" bIns="0" rtlCol="0" anchor="t"/>
          <a:lstStyle/>
          <a:p>
            <a:pPr indent="0" marL="0">
              <a:buNone/>
            </a:pPr>
            <a:r>
              <a:rPr lang="en-US" sz="1100" dirty="0">
                <a:solidFill>
                  <a:srgbClr val="B4A8FF"/>
                </a:solidFill>
                <a:latin typeface="Calibri" pitchFamily="34" charset="0"/>
                <a:ea typeface="Calibri" pitchFamily="34" charset="-122"/>
                <a:cs typeface="Calibri" pitchFamily="34" charset="-120"/>
              </a:rPr>
              <a:t>prepaid plans</a:t>
            </a:r>
            <a:endParaRPr lang="en-US" sz="1100" dirty="0"/>
          </a:p>
        </p:txBody>
      </p:sp>
      <p:sp>
        <p:nvSpPr>
          <p:cNvPr id="15" name="Text 12"/>
          <p:cNvSpPr txBox="1"/>
          <p:nvPr/>
        </p:nvSpPr>
        <p:spPr>
          <a:xfrm>
            <a:off x="3566160" y="4892040"/>
            <a:ext cx="1280160" cy="5029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8</a:t>
            </a:r>
            <a:endParaRPr lang="en-US" sz="3000" dirty="0"/>
          </a:p>
        </p:txBody>
      </p:sp>
      <p:sp>
        <p:nvSpPr>
          <p:cNvPr id="16" name="Text 13"/>
          <p:cNvSpPr txBox="1"/>
          <p:nvPr/>
        </p:nvSpPr>
        <p:spPr>
          <a:xfrm>
            <a:off x="3566160" y="5394960"/>
            <a:ext cx="1325880" cy="274320"/>
          </a:xfrm>
          <a:prstGeom prst="rect">
            <a:avLst/>
          </a:prstGeom>
          <a:noFill/>
          <a:ln/>
        </p:spPr>
        <p:txBody>
          <a:bodyPr wrap="square" lIns="0" tIns="0" rIns="0" bIns="0" rtlCol="0" anchor="t"/>
          <a:lstStyle/>
          <a:p>
            <a:pPr indent="0" marL="0">
              <a:buNone/>
            </a:pPr>
            <a:r>
              <a:rPr lang="en-US" sz="1100" dirty="0">
                <a:solidFill>
                  <a:srgbClr val="B4A8FF"/>
                </a:solidFill>
                <a:latin typeface="Calibri" pitchFamily="34" charset="0"/>
                <a:ea typeface="Calibri" pitchFamily="34" charset="-122"/>
                <a:cs typeface="Calibri" pitchFamily="34" charset="-120"/>
              </a:rPr>
              <a:t>months of data</a:t>
            </a:r>
            <a:endParaRPr lang="en-US" sz="1100" dirty="0"/>
          </a:p>
        </p:txBody>
      </p:sp>
      <p:sp>
        <p:nvSpPr>
          <p:cNvPr id="17" name="Text 14"/>
          <p:cNvSpPr txBox="1"/>
          <p:nvPr/>
        </p:nvSpPr>
        <p:spPr>
          <a:xfrm>
            <a:off x="4983480" y="4892040"/>
            <a:ext cx="1280160" cy="5029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18" name="Text 15"/>
          <p:cNvSpPr txBox="1"/>
          <p:nvPr/>
        </p:nvSpPr>
        <p:spPr>
          <a:xfrm>
            <a:off x="4983480" y="5394960"/>
            <a:ext cx="1325880" cy="274320"/>
          </a:xfrm>
          <a:prstGeom prst="rect">
            <a:avLst/>
          </a:prstGeom>
          <a:noFill/>
          <a:ln/>
        </p:spPr>
        <p:txBody>
          <a:bodyPr wrap="square" lIns="0" tIns="0" rIns="0" bIns="0" rtlCol="0" anchor="t"/>
          <a:lstStyle/>
          <a:p>
            <a:pPr indent="0" marL="0">
              <a:buNone/>
            </a:pPr>
            <a:r>
              <a:rPr lang="en-US" sz="1100" dirty="0">
                <a:solidFill>
                  <a:srgbClr val="B4A8FF"/>
                </a:solidFill>
                <a:latin typeface="Calibri" pitchFamily="34" charset="0"/>
                <a:ea typeface="Calibri" pitchFamily="34" charset="-122"/>
                <a:cs typeface="Calibri" pitchFamily="34" charset="-120"/>
              </a:rPr>
              <a:t>operators tracked</a:t>
            </a:r>
            <a:endParaRPr lang="en-US" sz="1100" dirty="0"/>
          </a:p>
        </p:txBody>
      </p:sp>
      <p:sp>
        <p:nvSpPr>
          <p:cNvPr id="19" name="Text 16"/>
          <p:cNvSpPr txBox="1"/>
          <p:nvPr/>
        </p:nvSpPr>
        <p:spPr>
          <a:xfrm>
            <a:off x="731520" y="6126480"/>
            <a:ext cx="6400800" cy="274320"/>
          </a:xfrm>
          <a:prstGeom prst="rect">
            <a:avLst/>
          </a:prstGeom>
          <a:noFill/>
          <a:ln/>
        </p:spPr>
        <p:txBody>
          <a:bodyPr wrap="square" lIns="0" tIns="0" rIns="0" bIns="0" rtlCol="0" anchor="t"/>
          <a:lstStyle/>
          <a:p>
            <a:pPr indent="0" marL="0">
              <a:buNone/>
            </a:pPr>
            <a:r>
              <a:rPr lang="en-US" sz="1100" dirty="0">
                <a:solidFill>
                  <a:srgbClr val="8F87C9"/>
                </a:solidFill>
                <a:latin typeface="Calibri" pitchFamily="34" charset="0"/>
                <a:ea typeface="Calibri" pitchFamily="34" charset="-122"/>
                <a:cs typeface="Calibri" pitchFamily="34" charset="-120"/>
              </a:rPr>
              <a:t>Jan–Sep 2022  ·  Before vs. after the May 2022 launch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pic>
        <p:nvPicPr>
          <p:cNvPr id="3" name="Image 0" descr="preencoded.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EXECUTIVE SUMMARY</a:t>
            </a:r>
            <a:endParaRPr lang="en-US" sz="1200" dirty="0"/>
          </a:p>
        </p:txBody>
      </p:sp>
      <p:sp>
        <p:nvSpPr>
          <p:cNvPr id="5" name="Text 2"/>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5G raised value per user, but we lost customers and market share</a:t>
            </a:r>
            <a:endParaRPr lang="en-US" sz="2500" dirty="0"/>
          </a:p>
        </p:txBody>
      </p:sp>
      <p:sp>
        <p:nvSpPr>
          <p:cNvPr id="6" name="Shape 3"/>
          <p:cNvSpPr/>
          <p:nvPr/>
        </p:nvSpPr>
        <p:spPr>
          <a:xfrm>
            <a:off x="548640" y="1737360"/>
            <a:ext cx="11091672" cy="822960"/>
          </a:xfrm>
          <a:prstGeom prst="roundRect">
            <a:avLst>
              <a:gd name="adj" fmla="val 8889"/>
            </a:avLst>
          </a:prstGeom>
          <a:solidFill>
            <a:srgbClr val="F5F4FA"/>
          </a:solidFill>
          <a:ln w="12700">
            <a:solidFill>
              <a:srgbClr val="F5F4FA"/>
            </a:solidFill>
            <a:prstDash val="solid"/>
          </a:ln>
        </p:spPr>
      </p:sp>
      <p:sp>
        <p:nvSpPr>
          <p:cNvPr id="7" name="Shape 4"/>
          <p:cNvSpPr/>
          <p:nvPr/>
        </p:nvSpPr>
        <p:spPr>
          <a:xfrm>
            <a:off x="749808" y="1920240"/>
            <a:ext cx="457200" cy="457200"/>
          </a:xfrm>
          <a:prstGeom prst="ellipse">
            <a:avLst/>
          </a:prstGeom>
          <a:solidFill>
            <a:srgbClr val="5B3DF5"/>
          </a:solidFill>
          <a:ln w="12700">
            <a:solidFill>
              <a:srgbClr val="5B3DF5"/>
            </a:solidFill>
            <a:prstDash val="solid"/>
          </a:ln>
        </p:spPr>
      </p:sp>
      <p:sp>
        <p:nvSpPr>
          <p:cNvPr id="8" name="Text 5"/>
          <p:cNvSpPr txBox="1"/>
          <p:nvPr/>
        </p:nvSpPr>
        <p:spPr>
          <a:xfrm>
            <a:off x="749808" y="1920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6"/>
          <p:cNvSpPr txBox="1"/>
          <p:nvPr/>
        </p:nvSpPr>
        <p:spPr>
          <a:xfrm>
            <a:off x="1417320" y="1737360"/>
            <a:ext cx="2377440" cy="82296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Revenue impact</a:t>
            </a:r>
            <a:endParaRPr lang="en-US" sz="1500" dirty="0"/>
          </a:p>
        </p:txBody>
      </p:sp>
      <p:sp>
        <p:nvSpPr>
          <p:cNvPr id="10" name="Text 7"/>
          <p:cNvSpPr txBox="1"/>
          <p:nvPr/>
        </p:nvSpPr>
        <p:spPr>
          <a:xfrm>
            <a:off x="3840480" y="1737360"/>
            <a:ext cx="5760720" cy="822960"/>
          </a:xfrm>
          <a:prstGeom prst="rect">
            <a:avLst/>
          </a:prstGeom>
          <a:noFill/>
          <a:ln/>
        </p:spPr>
        <p:txBody>
          <a:bodyPr wrap="square" lIns="0" tIns="0" rIns="0" bIns="0" rtlCol="0" anchor="ctr"/>
          <a:lstStyle/>
          <a:p>
            <a:pPr indent="0" marL="0">
              <a:buNone/>
            </a:pPr>
            <a:r>
              <a:rPr lang="en-US" sz="1300" dirty="0">
                <a:solidFill>
                  <a:srgbClr val="1B1838"/>
                </a:solidFill>
                <a:latin typeface="Calibri" pitchFamily="34" charset="0"/>
                <a:ea typeface="Calibri" pitchFamily="34" charset="-122"/>
                <a:cs typeface="Calibri" pitchFamily="34" charset="-120"/>
              </a:rPr>
              <a:t>Revenue slipped to ₹1,589.7 Cr from ₹1,597.7 Cr, while the market grew 6.8%. We were the only operator to lose share.</a:t>
            </a:r>
            <a:endParaRPr lang="en-US" sz="1300" dirty="0"/>
          </a:p>
        </p:txBody>
      </p:sp>
      <p:sp>
        <p:nvSpPr>
          <p:cNvPr id="11" name="Text 8"/>
          <p:cNvSpPr txBox="1"/>
          <p:nvPr/>
        </p:nvSpPr>
        <p:spPr>
          <a:xfrm>
            <a:off x="9692640" y="1828800"/>
            <a:ext cx="1783080" cy="438912"/>
          </a:xfrm>
          <a:prstGeom prst="rect">
            <a:avLst/>
          </a:prstGeom>
          <a:noFill/>
          <a:ln/>
        </p:spPr>
        <p:txBody>
          <a:bodyPr wrap="square" lIns="0" tIns="0" rIns="0" bIns="0" rtlCol="0" anchor="t"/>
          <a:lstStyle/>
          <a:p>
            <a:pPr algn="r" indent="0" marL="0">
              <a:buNone/>
            </a:pPr>
            <a:r>
              <a:rPr lang="en-US" sz="2400" b="1" dirty="0">
                <a:solidFill>
                  <a:srgbClr val="E5484D"/>
                </a:solidFill>
                <a:latin typeface="Calibri" pitchFamily="34" charset="0"/>
                <a:ea typeface="Calibri" pitchFamily="34" charset="-122"/>
                <a:cs typeface="Calibri" pitchFamily="34" charset="-120"/>
              </a:rPr>
              <a:t>−0.5%</a:t>
            </a:r>
            <a:endParaRPr lang="en-US" sz="2400" dirty="0"/>
          </a:p>
        </p:txBody>
      </p:sp>
      <p:sp>
        <p:nvSpPr>
          <p:cNvPr id="12" name="Text 9"/>
          <p:cNvSpPr txBox="1"/>
          <p:nvPr/>
        </p:nvSpPr>
        <p:spPr>
          <a:xfrm>
            <a:off x="9692640" y="2249424"/>
            <a:ext cx="1783080" cy="228600"/>
          </a:xfrm>
          <a:prstGeom prst="rect">
            <a:avLst/>
          </a:prstGeom>
          <a:noFill/>
          <a:ln/>
        </p:spPr>
        <p:txBody>
          <a:bodyPr wrap="square" lIns="0" tIns="0" rIns="0" bIns="0" rtlCol="0" anchor="t"/>
          <a:lstStyle/>
          <a:p>
            <a:pPr algn="r" indent="0" marL="0">
              <a:buNone/>
            </a:pPr>
            <a:r>
              <a:rPr lang="en-US" sz="1000" dirty="0">
                <a:solidFill>
                  <a:srgbClr val="615E78"/>
                </a:solidFill>
                <a:latin typeface="Calibri" pitchFamily="34" charset="0"/>
                <a:ea typeface="Calibri" pitchFamily="34" charset="-122"/>
                <a:cs typeface="Calibri" pitchFamily="34" charset="-120"/>
              </a:rPr>
              <a:t>revenue</a:t>
            </a:r>
            <a:endParaRPr lang="en-US" sz="1000" dirty="0"/>
          </a:p>
        </p:txBody>
      </p:sp>
      <p:sp>
        <p:nvSpPr>
          <p:cNvPr id="13" name="Shape 10"/>
          <p:cNvSpPr/>
          <p:nvPr/>
        </p:nvSpPr>
        <p:spPr>
          <a:xfrm>
            <a:off x="548640" y="2670048"/>
            <a:ext cx="11091672" cy="822960"/>
          </a:xfrm>
          <a:prstGeom prst="roundRect">
            <a:avLst>
              <a:gd name="adj" fmla="val 8889"/>
            </a:avLst>
          </a:prstGeom>
          <a:solidFill>
            <a:srgbClr val="F5F4FA"/>
          </a:solidFill>
          <a:ln w="12700">
            <a:solidFill>
              <a:srgbClr val="F5F4FA"/>
            </a:solidFill>
            <a:prstDash val="solid"/>
          </a:ln>
        </p:spPr>
      </p:sp>
      <p:sp>
        <p:nvSpPr>
          <p:cNvPr id="14" name="Shape 11"/>
          <p:cNvSpPr/>
          <p:nvPr/>
        </p:nvSpPr>
        <p:spPr>
          <a:xfrm>
            <a:off x="749808" y="2852928"/>
            <a:ext cx="457200" cy="457200"/>
          </a:xfrm>
          <a:prstGeom prst="ellipse">
            <a:avLst/>
          </a:prstGeom>
          <a:solidFill>
            <a:srgbClr val="5B3DF5"/>
          </a:solidFill>
          <a:ln w="12700">
            <a:solidFill>
              <a:srgbClr val="5B3DF5"/>
            </a:solidFill>
            <a:prstDash val="solid"/>
          </a:ln>
        </p:spPr>
      </p:sp>
      <p:sp>
        <p:nvSpPr>
          <p:cNvPr id="15" name="Text 12"/>
          <p:cNvSpPr txBox="1"/>
          <p:nvPr/>
        </p:nvSpPr>
        <p:spPr>
          <a:xfrm>
            <a:off x="749808" y="2852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6" name="Text 13"/>
          <p:cNvSpPr txBox="1"/>
          <p:nvPr/>
        </p:nvSpPr>
        <p:spPr>
          <a:xfrm>
            <a:off x="1417320" y="2670048"/>
            <a:ext cx="2377440" cy="82296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Underperforming KPI</a:t>
            </a:r>
            <a:endParaRPr lang="en-US" sz="1500" dirty="0"/>
          </a:p>
        </p:txBody>
      </p:sp>
      <p:sp>
        <p:nvSpPr>
          <p:cNvPr id="17" name="Text 14"/>
          <p:cNvSpPr txBox="1"/>
          <p:nvPr/>
        </p:nvSpPr>
        <p:spPr>
          <a:xfrm>
            <a:off x="3840480" y="2670048"/>
            <a:ext cx="5760720" cy="822960"/>
          </a:xfrm>
          <a:prstGeom prst="rect">
            <a:avLst/>
          </a:prstGeom>
          <a:noFill/>
          <a:ln/>
        </p:spPr>
        <p:txBody>
          <a:bodyPr wrap="square" lIns="0" tIns="0" rIns="0" bIns="0" rtlCol="0" anchor="ctr"/>
          <a:lstStyle/>
          <a:p>
            <a:pPr indent="0" marL="0">
              <a:buNone/>
            </a:pPr>
            <a:r>
              <a:rPr lang="en-US" sz="1300" dirty="0">
                <a:solidFill>
                  <a:srgbClr val="1B1838"/>
                </a:solidFill>
                <a:latin typeface="Calibri" pitchFamily="34" charset="0"/>
                <a:ea typeface="Calibri" pitchFamily="34" charset="-122"/>
                <a:cs typeface="Calibri" pitchFamily="34" charset="-120"/>
              </a:rPr>
              <a:t>Active users fell 8.3% (about 17 L fewer a month) and unsubscribes rose 23.5%. Only ARPU (+11.0%) kept revenue flat.</a:t>
            </a:r>
            <a:endParaRPr lang="en-US" sz="1300" dirty="0"/>
          </a:p>
        </p:txBody>
      </p:sp>
      <p:sp>
        <p:nvSpPr>
          <p:cNvPr id="18" name="Text 15"/>
          <p:cNvSpPr txBox="1"/>
          <p:nvPr/>
        </p:nvSpPr>
        <p:spPr>
          <a:xfrm>
            <a:off x="9692640" y="2761488"/>
            <a:ext cx="1783080" cy="438912"/>
          </a:xfrm>
          <a:prstGeom prst="rect">
            <a:avLst/>
          </a:prstGeom>
          <a:noFill/>
          <a:ln/>
        </p:spPr>
        <p:txBody>
          <a:bodyPr wrap="square" lIns="0" tIns="0" rIns="0" bIns="0" rtlCol="0" anchor="t"/>
          <a:lstStyle/>
          <a:p>
            <a:pPr algn="r" indent="0" marL="0">
              <a:buNone/>
            </a:pPr>
            <a:r>
              <a:rPr lang="en-US" sz="2400" b="1" dirty="0">
                <a:solidFill>
                  <a:srgbClr val="E5484D"/>
                </a:solidFill>
                <a:latin typeface="Calibri" pitchFamily="34" charset="0"/>
                <a:ea typeface="Calibri" pitchFamily="34" charset="-122"/>
                <a:cs typeface="Calibri" pitchFamily="34" charset="-120"/>
              </a:rPr>
              <a:t>−8.3%</a:t>
            </a:r>
            <a:endParaRPr lang="en-US" sz="2400" dirty="0"/>
          </a:p>
        </p:txBody>
      </p:sp>
      <p:sp>
        <p:nvSpPr>
          <p:cNvPr id="19" name="Text 16"/>
          <p:cNvSpPr txBox="1"/>
          <p:nvPr/>
        </p:nvSpPr>
        <p:spPr>
          <a:xfrm>
            <a:off x="9692640" y="3182112"/>
            <a:ext cx="1783080" cy="228600"/>
          </a:xfrm>
          <a:prstGeom prst="rect">
            <a:avLst/>
          </a:prstGeom>
          <a:noFill/>
          <a:ln/>
        </p:spPr>
        <p:txBody>
          <a:bodyPr wrap="square" lIns="0" tIns="0" rIns="0" bIns="0" rtlCol="0" anchor="t"/>
          <a:lstStyle/>
          <a:p>
            <a:pPr algn="r" indent="0" marL="0">
              <a:buNone/>
            </a:pPr>
            <a:r>
              <a:rPr lang="en-US" sz="1000" dirty="0">
                <a:solidFill>
                  <a:srgbClr val="615E78"/>
                </a:solidFill>
                <a:latin typeface="Calibri" pitchFamily="34" charset="0"/>
                <a:ea typeface="Calibri" pitchFamily="34" charset="-122"/>
                <a:cs typeface="Calibri" pitchFamily="34" charset="-120"/>
              </a:rPr>
              <a:t>active users</a:t>
            </a:r>
            <a:endParaRPr lang="en-US" sz="1000" dirty="0"/>
          </a:p>
        </p:txBody>
      </p:sp>
      <p:sp>
        <p:nvSpPr>
          <p:cNvPr id="20" name="Shape 17"/>
          <p:cNvSpPr/>
          <p:nvPr/>
        </p:nvSpPr>
        <p:spPr>
          <a:xfrm>
            <a:off x="548640" y="3602736"/>
            <a:ext cx="11091672" cy="822960"/>
          </a:xfrm>
          <a:prstGeom prst="roundRect">
            <a:avLst>
              <a:gd name="adj" fmla="val 8889"/>
            </a:avLst>
          </a:prstGeom>
          <a:solidFill>
            <a:srgbClr val="F5F4FA"/>
          </a:solidFill>
          <a:ln w="12700">
            <a:solidFill>
              <a:srgbClr val="F5F4FA"/>
            </a:solidFill>
            <a:prstDash val="solid"/>
          </a:ln>
        </p:spPr>
      </p:sp>
      <p:sp>
        <p:nvSpPr>
          <p:cNvPr id="21" name="Shape 18"/>
          <p:cNvSpPr/>
          <p:nvPr/>
        </p:nvSpPr>
        <p:spPr>
          <a:xfrm>
            <a:off x="749808" y="3785616"/>
            <a:ext cx="457200" cy="457200"/>
          </a:xfrm>
          <a:prstGeom prst="ellipse">
            <a:avLst/>
          </a:prstGeom>
          <a:solidFill>
            <a:srgbClr val="5B3DF5"/>
          </a:solidFill>
          <a:ln w="12700">
            <a:solidFill>
              <a:srgbClr val="5B3DF5"/>
            </a:solidFill>
            <a:prstDash val="solid"/>
          </a:ln>
        </p:spPr>
      </p:sp>
      <p:sp>
        <p:nvSpPr>
          <p:cNvPr id="22" name="Text 19"/>
          <p:cNvSpPr txBox="1"/>
          <p:nvPr/>
        </p:nvSpPr>
        <p:spPr>
          <a:xfrm>
            <a:off x="749808" y="3785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23" name="Text 20"/>
          <p:cNvSpPr txBox="1"/>
          <p:nvPr/>
        </p:nvSpPr>
        <p:spPr>
          <a:xfrm>
            <a:off x="1417320" y="3602736"/>
            <a:ext cx="2377440" cy="82296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Plan winners &amp; laggards</a:t>
            </a:r>
            <a:endParaRPr lang="en-US" sz="1500" dirty="0"/>
          </a:p>
        </p:txBody>
      </p:sp>
      <p:sp>
        <p:nvSpPr>
          <p:cNvPr id="24" name="Text 21"/>
          <p:cNvSpPr txBox="1"/>
          <p:nvPr/>
        </p:nvSpPr>
        <p:spPr>
          <a:xfrm>
            <a:off x="3840480" y="3602736"/>
            <a:ext cx="5760720" cy="822960"/>
          </a:xfrm>
          <a:prstGeom prst="rect">
            <a:avLst/>
          </a:prstGeom>
          <a:noFill/>
          <a:ln/>
        </p:spPr>
        <p:txBody>
          <a:bodyPr wrap="square" lIns="0" tIns="0" rIns="0" bIns="0" rtlCol="0" anchor="ctr"/>
          <a:lstStyle/>
          <a:p>
            <a:pPr indent="0" marL="0">
              <a:buNone/>
            </a:pPr>
            <a:r>
              <a:rPr lang="en-US" sz="1300" dirty="0">
                <a:solidFill>
                  <a:srgbClr val="1B1838"/>
                </a:solidFill>
                <a:latin typeface="Calibri" pitchFamily="34" charset="0"/>
                <a:ea typeface="Calibri" pitchFamily="34" charset="-122"/>
                <a:cs typeface="Calibri" pitchFamily="34" charset="-120"/>
              </a:rPr>
              <a:t>p1 grew 31.7% and new plans p11/p12 took off. Low-data and talk-time plans p4, p5 and p6 shrank 18–35%.</a:t>
            </a:r>
            <a:endParaRPr lang="en-US" sz="1300" dirty="0"/>
          </a:p>
        </p:txBody>
      </p:sp>
      <p:sp>
        <p:nvSpPr>
          <p:cNvPr id="25" name="Text 22"/>
          <p:cNvSpPr txBox="1"/>
          <p:nvPr/>
        </p:nvSpPr>
        <p:spPr>
          <a:xfrm>
            <a:off x="9692640" y="3694176"/>
            <a:ext cx="1783080" cy="438912"/>
          </a:xfrm>
          <a:prstGeom prst="rect">
            <a:avLst/>
          </a:prstGeom>
          <a:noFill/>
          <a:ln/>
        </p:spPr>
        <p:txBody>
          <a:bodyPr wrap="square" lIns="0" tIns="0" rIns="0" bIns="0" rtlCol="0" anchor="t"/>
          <a:lstStyle/>
          <a:p>
            <a:pPr algn="r" indent="0" marL="0">
              <a:buNone/>
            </a:pPr>
            <a:r>
              <a:rPr lang="en-US" sz="2400" b="1" dirty="0">
                <a:solidFill>
                  <a:srgbClr val="12A67A"/>
                </a:solidFill>
                <a:latin typeface="Calibri" pitchFamily="34" charset="0"/>
                <a:ea typeface="Calibri" pitchFamily="34" charset="-122"/>
                <a:cs typeface="Calibri" pitchFamily="34" charset="-120"/>
              </a:rPr>
              <a:t>+31.7%</a:t>
            </a:r>
            <a:endParaRPr lang="en-US" sz="2400" dirty="0"/>
          </a:p>
        </p:txBody>
      </p:sp>
      <p:sp>
        <p:nvSpPr>
          <p:cNvPr id="26" name="Text 23"/>
          <p:cNvSpPr txBox="1"/>
          <p:nvPr/>
        </p:nvSpPr>
        <p:spPr>
          <a:xfrm>
            <a:off x="9692640" y="4114800"/>
            <a:ext cx="1783080" cy="228600"/>
          </a:xfrm>
          <a:prstGeom prst="rect">
            <a:avLst/>
          </a:prstGeom>
          <a:noFill/>
          <a:ln/>
        </p:spPr>
        <p:txBody>
          <a:bodyPr wrap="square" lIns="0" tIns="0" rIns="0" bIns="0" rtlCol="0" anchor="t"/>
          <a:lstStyle/>
          <a:p>
            <a:pPr algn="r" indent="0" marL="0">
              <a:buNone/>
            </a:pPr>
            <a:r>
              <a:rPr lang="en-US" sz="1000" dirty="0">
                <a:solidFill>
                  <a:srgbClr val="615E78"/>
                </a:solidFill>
                <a:latin typeface="Calibri" pitchFamily="34" charset="0"/>
                <a:ea typeface="Calibri" pitchFamily="34" charset="-122"/>
                <a:cs typeface="Calibri" pitchFamily="34" charset="-120"/>
              </a:rPr>
              <a:t>p1 revenue</a:t>
            </a:r>
            <a:endParaRPr lang="en-US" sz="1000" dirty="0"/>
          </a:p>
        </p:txBody>
      </p:sp>
      <p:sp>
        <p:nvSpPr>
          <p:cNvPr id="27" name="Shape 24"/>
          <p:cNvSpPr/>
          <p:nvPr/>
        </p:nvSpPr>
        <p:spPr>
          <a:xfrm>
            <a:off x="548640" y="4535424"/>
            <a:ext cx="11091672" cy="822960"/>
          </a:xfrm>
          <a:prstGeom prst="roundRect">
            <a:avLst>
              <a:gd name="adj" fmla="val 8889"/>
            </a:avLst>
          </a:prstGeom>
          <a:solidFill>
            <a:srgbClr val="F5F4FA"/>
          </a:solidFill>
          <a:ln w="12700">
            <a:solidFill>
              <a:srgbClr val="F5F4FA"/>
            </a:solidFill>
            <a:prstDash val="solid"/>
          </a:ln>
        </p:spPr>
      </p:sp>
      <p:sp>
        <p:nvSpPr>
          <p:cNvPr id="28" name="Shape 25"/>
          <p:cNvSpPr/>
          <p:nvPr/>
        </p:nvSpPr>
        <p:spPr>
          <a:xfrm>
            <a:off x="749808" y="4718304"/>
            <a:ext cx="457200" cy="457200"/>
          </a:xfrm>
          <a:prstGeom prst="ellipse">
            <a:avLst/>
          </a:prstGeom>
          <a:solidFill>
            <a:srgbClr val="5B3DF5"/>
          </a:solidFill>
          <a:ln w="12700">
            <a:solidFill>
              <a:srgbClr val="5B3DF5"/>
            </a:solidFill>
            <a:prstDash val="solid"/>
          </a:ln>
        </p:spPr>
      </p:sp>
      <p:sp>
        <p:nvSpPr>
          <p:cNvPr id="29" name="Text 26"/>
          <p:cNvSpPr txBox="1"/>
          <p:nvPr/>
        </p:nvSpPr>
        <p:spPr>
          <a:xfrm>
            <a:off x="749808" y="47183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Q4</a:t>
            </a:r>
            <a:endParaRPr lang="en-US" sz="1300" dirty="0"/>
          </a:p>
        </p:txBody>
      </p:sp>
      <p:sp>
        <p:nvSpPr>
          <p:cNvPr id="30" name="Text 27"/>
          <p:cNvSpPr txBox="1"/>
          <p:nvPr/>
        </p:nvSpPr>
        <p:spPr>
          <a:xfrm>
            <a:off x="1417320" y="4535424"/>
            <a:ext cx="2377440" cy="82296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Most affected plan</a:t>
            </a:r>
            <a:endParaRPr lang="en-US" sz="1500" dirty="0"/>
          </a:p>
        </p:txBody>
      </p:sp>
      <p:sp>
        <p:nvSpPr>
          <p:cNvPr id="31" name="Text 28"/>
          <p:cNvSpPr txBox="1"/>
          <p:nvPr/>
        </p:nvSpPr>
        <p:spPr>
          <a:xfrm>
            <a:off x="3840480" y="4535424"/>
            <a:ext cx="5760720" cy="822960"/>
          </a:xfrm>
          <a:prstGeom prst="rect">
            <a:avLst/>
          </a:prstGeom>
          <a:noFill/>
          <a:ln/>
        </p:spPr>
        <p:txBody>
          <a:bodyPr wrap="square" lIns="0" tIns="0" rIns="0" bIns="0" rtlCol="0" anchor="ctr"/>
          <a:lstStyle/>
          <a:p>
            <a:pPr indent="0" marL="0">
              <a:buNone/>
            </a:pPr>
            <a:r>
              <a:rPr lang="en-US" sz="1300" dirty="0">
                <a:solidFill>
                  <a:srgbClr val="1B1838"/>
                </a:solidFill>
                <a:latin typeface="Calibri" pitchFamily="34" charset="0"/>
                <a:ea typeface="Calibri" pitchFamily="34" charset="-122"/>
                <a:cs typeface="Calibri" pitchFamily="34" charset="-120"/>
              </a:rPr>
              <a:t>p7 (25 GB 3G/4G combo) lost 73% of its revenue, and it fell in every city. Retire it and move its users to a 5G data pack.</a:t>
            </a:r>
            <a:endParaRPr lang="en-US" sz="1300" dirty="0"/>
          </a:p>
        </p:txBody>
      </p:sp>
      <p:sp>
        <p:nvSpPr>
          <p:cNvPr id="32" name="Text 29"/>
          <p:cNvSpPr txBox="1"/>
          <p:nvPr/>
        </p:nvSpPr>
        <p:spPr>
          <a:xfrm>
            <a:off x="9692640" y="4626864"/>
            <a:ext cx="1783080" cy="438912"/>
          </a:xfrm>
          <a:prstGeom prst="rect">
            <a:avLst/>
          </a:prstGeom>
          <a:noFill/>
          <a:ln/>
        </p:spPr>
        <p:txBody>
          <a:bodyPr wrap="square" lIns="0" tIns="0" rIns="0" bIns="0" rtlCol="0" anchor="t"/>
          <a:lstStyle/>
          <a:p>
            <a:pPr algn="r" indent="0" marL="0">
              <a:buNone/>
            </a:pPr>
            <a:r>
              <a:rPr lang="en-US" sz="2400" b="1" dirty="0">
                <a:solidFill>
                  <a:srgbClr val="E5484D"/>
                </a:solidFill>
                <a:latin typeface="Calibri" pitchFamily="34" charset="0"/>
                <a:ea typeface="Calibri" pitchFamily="34" charset="-122"/>
                <a:cs typeface="Calibri" pitchFamily="34" charset="-120"/>
              </a:rPr>
              <a:t>−73%</a:t>
            </a:r>
            <a:endParaRPr lang="en-US" sz="2400" dirty="0"/>
          </a:p>
        </p:txBody>
      </p:sp>
      <p:sp>
        <p:nvSpPr>
          <p:cNvPr id="33" name="Text 30"/>
          <p:cNvSpPr txBox="1"/>
          <p:nvPr/>
        </p:nvSpPr>
        <p:spPr>
          <a:xfrm>
            <a:off x="9692640" y="5047488"/>
            <a:ext cx="1783080" cy="228600"/>
          </a:xfrm>
          <a:prstGeom prst="rect">
            <a:avLst/>
          </a:prstGeom>
          <a:noFill/>
          <a:ln/>
        </p:spPr>
        <p:txBody>
          <a:bodyPr wrap="square" lIns="0" tIns="0" rIns="0" bIns="0" rtlCol="0" anchor="t"/>
          <a:lstStyle/>
          <a:p>
            <a:pPr algn="r" indent="0" marL="0">
              <a:buNone/>
            </a:pPr>
            <a:r>
              <a:rPr lang="en-US" sz="1000" dirty="0">
                <a:solidFill>
                  <a:srgbClr val="615E78"/>
                </a:solidFill>
                <a:latin typeface="Calibri" pitchFamily="34" charset="0"/>
                <a:ea typeface="Calibri" pitchFamily="34" charset="-122"/>
                <a:cs typeface="Calibri" pitchFamily="34" charset="-120"/>
              </a:rPr>
              <a:t>p7 revenue</a:t>
            </a:r>
            <a:endParaRPr lang="en-US" sz="1000" dirty="0"/>
          </a:p>
        </p:txBody>
      </p:sp>
      <p:sp>
        <p:nvSpPr>
          <p:cNvPr id="34" name="Shape 31"/>
          <p:cNvSpPr/>
          <p:nvPr/>
        </p:nvSpPr>
        <p:spPr>
          <a:xfrm>
            <a:off x="548640" y="5468112"/>
            <a:ext cx="11091672" cy="822960"/>
          </a:xfrm>
          <a:prstGeom prst="roundRect">
            <a:avLst>
              <a:gd name="adj" fmla="val 8889"/>
            </a:avLst>
          </a:prstGeom>
          <a:solidFill>
            <a:srgbClr val="F5F4FA"/>
          </a:solidFill>
          <a:ln w="12700">
            <a:solidFill>
              <a:srgbClr val="F5F4FA"/>
            </a:solidFill>
            <a:prstDash val="solid"/>
          </a:ln>
        </p:spPr>
      </p:sp>
      <p:sp>
        <p:nvSpPr>
          <p:cNvPr id="35" name="Shape 32"/>
          <p:cNvSpPr/>
          <p:nvPr/>
        </p:nvSpPr>
        <p:spPr>
          <a:xfrm>
            <a:off x="749808" y="5650992"/>
            <a:ext cx="457200" cy="457200"/>
          </a:xfrm>
          <a:prstGeom prst="ellipse">
            <a:avLst/>
          </a:prstGeom>
          <a:solidFill>
            <a:srgbClr val="5B3DF5"/>
          </a:solidFill>
          <a:ln w="12700">
            <a:solidFill>
              <a:srgbClr val="5B3DF5"/>
            </a:solidFill>
            <a:prstDash val="solid"/>
          </a:ln>
        </p:spPr>
      </p:sp>
      <p:sp>
        <p:nvSpPr>
          <p:cNvPr id="36" name="Text 33"/>
          <p:cNvSpPr txBox="1"/>
          <p:nvPr/>
        </p:nvSpPr>
        <p:spPr>
          <a:xfrm>
            <a:off x="749808" y="56509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Q5</a:t>
            </a:r>
            <a:endParaRPr lang="en-US" sz="1300" dirty="0"/>
          </a:p>
        </p:txBody>
      </p:sp>
      <p:sp>
        <p:nvSpPr>
          <p:cNvPr id="37" name="Text 34"/>
          <p:cNvSpPr txBox="1"/>
          <p:nvPr/>
        </p:nvSpPr>
        <p:spPr>
          <a:xfrm>
            <a:off x="1417320" y="5468112"/>
            <a:ext cx="2377440" cy="82296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Discontinued plans</a:t>
            </a:r>
            <a:endParaRPr lang="en-US" sz="1500" dirty="0"/>
          </a:p>
        </p:txBody>
      </p:sp>
      <p:sp>
        <p:nvSpPr>
          <p:cNvPr id="38" name="Text 35"/>
          <p:cNvSpPr txBox="1"/>
          <p:nvPr/>
        </p:nvSpPr>
        <p:spPr>
          <a:xfrm>
            <a:off x="3840480" y="5468112"/>
            <a:ext cx="5760720" cy="822960"/>
          </a:xfrm>
          <a:prstGeom prst="rect">
            <a:avLst/>
          </a:prstGeom>
          <a:noFill/>
          <a:ln/>
        </p:spPr>
        <p:txBody>
          <a:bodyPr wrap="square" lIns="0" tIns="0" rIns="0" bIns="0" rtlCol="0" anchor="ctr"/>
          <a:lstStyle/>
          <a:p>
            <a:pPr indent="0" marL="0">
              <a:buNone/>
            </a:pPr>
            <a:r>
              <a:rPr lang="en-US" sz="1300" dirty="0">
                <a:solidFill>
                  <a:srgbClr val="1B1838"/>
                </a:solidFill>
                <a:latin typeface="Calibri" pitchFamily="34" charset="0"/>
                <a:ea typeface="Calibri" pitchFamily="34" charset="-122"/>
                <a:cs typeface="Calibri" pitchFamily="34" charset="-120"/>
              </a:rPr>
              <a:t>p8, p9 and p10 were retired. They were the three lowest earners and all short-validity packs. Their replacements, p11–p13, now earn 4.2× as much.</a:t>
            </a:r>
            <a:endParaRPr lang="en-US" sz="1300" dirty="0"/>
          </a:p>
        </p:txBody>
      </p:sp>
      <p:sp>
        <p:nvSpPr>
          <p:cNvPr id="39" name="Text 36"/>
          <p:cNvSpPr txBox="1"/>
          <p:nvPr/>
        </p:nvSpPr>
        <p:spPr>
          <a:xfrm>
            <a:off x="9692640" y="5559552"/>
            <a:ext cx="1783080" cy="438912"/>
          </a:xfrm>
          <a:prstGeom prst="rect">
            <a:avLst/>
          </a:prstGeom>
          <a:noFill/>
          <a:ln/>
        </p:spPr>
        <p:txBody>
          <a:bodyPr wrap="square" lIns="0" tIns="0" rIns="0" bIns="0" rtlCol="0" anchor="t"/>
          <a:lstStyle/>
          <a:p>
            <a:pPr algn="r" indent="0" marL="0">
              <a:buNone/>
            </a:pPr>
            <a:r>
              <a:rPr lang="en-US" sz="2400" b="1" dirty="0">
                <a:solidFill>
                  <a:srgbClr val="5B3DF5"/>
                </a:solidFill>
                <a:latin typeface="Calibri" pitchFamily="34" charset="0"/>
                <a:ea typeface="Calibri" pitchFamily="34" charset="-122"/>
                <a:cs typeface="Calibri" pitchFamily="34" charset="-120"/>
              </a:rPr>
              <a:t>4.2×</a:t>
            </a:r>
            <a:endParaRPr lang="en-US" sz="2400" dirty="0"/>
          </a:p>
        </p:txBody>
      </p:sp>
      <p:sp>
        <p:nvSpPr>
          <p:cNvPr id="40" name="Text 37"/>
          <p:cNvSpPr txBox="1"/>
          <p:nvPr/>
        </p:nvSpPr>
        <p:spPr>
          <a:xfrm>
            <a:off x="9692640" y="5980176"/>
            <a:ext cx="1783080" cy="228600"/>
          </a:xfrm>
          <a:prstGeom prst="rect">
            <a:avLst/>
          </a:prstGeom>
          <a:noFill/>
          <a:ln/>
        </p:spPr>
        <p:txBody>
          <a:bodyPr wrap="square" lIns="0" tIns="0" rIns="0" bIns="0" rtlCol="0" anchor="t"/>
          <a:lstStyle/>
          <a:p>
            <a:pPr algn="r" indent="0" marL="0">
              <a:buNone/>
            </a:pPr>
            <a:r>
              <a:rPr lang="en-US" sz="1000" dirty="0">
                <a:solidFill>
                  <a:srgbClr val="615E78"/>
                </a:solidFill>
                <a:latin typeface="Calibri" pitchFamily="34" charset="0"/>
                <a:ea typeface="Calibri" pitchFamily="34" charset="-122"/>
                <a:cs typeface="Calibri" pitchFamily="34" charset="-120"/>
              </a:rPr>
              <a:t>new vs. retired</a:t>
            </a:r>
            <a:endParaRPr lang="en-US" sz="1000" dirty="0"/>
          </a:p>
        </p:txBody>
      </p:sp>
      <p:sp>
        <p:nvSpPr>
          <p:cNvPr id="41" name="Text 38"/>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42" name="Text 39"/>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pic>
        <p:nvPicPr>
          <p:cNvPr id="3" name="Image 0" descr="preencoded.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SCOPE &amp; APPROACH</a:t>
            </a:r>
            <a:endParaRPr lang="en-US" sz="1200" dirty="0"/>
          </a:p>
        </p:txBody>
      </p:sp>
      <p:sp>
        <p:nvSpPr>
          <p:cNvPr id="5" name="Text 2"/>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We compared the four months before launch with the four months after</a:t>
            </a:r>
            <a:endParaRPr lang="en-US" sz="2500" dirty="0"/>
          </a:p>
        </p:txBody>
      </p:sp>
      <p:sp>
        <p:nvSpPr>
          <p:cNvPr id="6" name="Text 3"/>
          <p:cNvSpPr txBox="1"/>
          <p:nvPr/>
        </p:nvSpPr>
        <p:spPr>
          <a:xfrm>
            <a:off x="708660" y="1856232"/>
            <a:ext cx="4736592" cy="274320"/>
          </a:xfrm>
          <a:prstGeom prst="rect">
            <a:avLst/>
          </a:prstGeom>
          <a:noFill/>
          <a:ln/>
        </p:spPr>
        <p:txBody>
          <a:bodyPr wrap="square" lIns="0" tIns="0" rIns="0" bIns="0" rtlCol="0" anchor="t"/>
          <a:lstStyle/>
          <a:p>
            <a:pPr algn="ctr" indent="0" marL="0">
              <a:buNone/>
            </a:pPr>
            <a:r>
              <a:rPr lang="en-US" sz="1100" b="1" spc="200" kern="0" dirty="0">
                <a:solidFill>
                  <a:srgbClr val="615E78"/>
                </a:solidFill>
                <a:latin typeface="Calibri" pitchFamily="34" charset="0"/>
                <a:ea typeface="Calibri" pitchFamily="34" charset="-122"/>
                <a:cs typeface="Calibri" pitchFamily="34" charset="-120"/>
              </a:rPr>
              <a:t>BEFORE 5G</a:t>
            </a:r>
            <a:endParaRPr lang="en-US" sz="1100" dirty="0"/>
          </a:p>
        </p:txBody>
      </p:sp>
      <p:sp>
        <p:nvSpPr>
          <p:cNvPr id="7" name="Text 4"/>
          <p:cNvSpPr txBox="1"/>
          <p:nvPr/>
        </p:nvSpPr>
        <p:spPr>
          <a:xfrm>
            <a:off x="6743700" y="1856232"/>
            <a:ext cx="4736592" cy="274320"/>
          </a:xfrm>
          <a:prstGeom prst="rect">
            <a:avLst/>
          </a:prstGeom>
          <a:noFill/>
          <a:ln/>
        </p:spPr>
        <p:txBody>
          <a:bodyPr wrap="square" lIns="0" tIns="0" rIns="0" bIns="0" rtlCol="0" anchor="t"/>
          <a:lstStyle/>
          <a:p>
            <a:pPr algn="ctr" indent="0" marL="0">
              <a:buNone/>
            </a:pPr>
            <a:r>
              <a:rPr lang="en-US" sz="1100" b="1" spc="200" kern="0" dirty="0">
                <a:solidFill>
                  <a:srgbClr val="5B3DF5"/>
                </a:solidFill>
                <a:latin typeface="Calibri" pitchFamily="34" charset="0"/>
                <a:ea typeface="Calibri" pitchFamily="34" charset="-122"/>
                <a:cs typeface="Calibri" pitchFamily="34" charset="-120"/>
              </a:rPr>
              <a:t>AFTER 5G</a:t>
            </a:r>
            <a:endParaRPr lang="en-US" sz="1100" dirty="0"/>
          </a:p>
        </p:txBody>
      </p:sp>
      <p:sp>
        <p:nvSpPr>
          <p:cNvPr id="8" name="Shape 5"/>
          <p:cNvSpPr/>
          <p:nvPr/>
        </p:nvSpPr>
        <p:spPr>
          <a:xfrm>
            <a:off x="708660" y="2240280"/>
            <a:ext cx="1115568" cy="777240"/>
          </a:xfrm>
          <a:prstGeom prst="roundRect">
            <a:avLst>
              <a:gd name="adj" fmla="val 9412"/>
            </a:avLst>
          </a:prstGeom>
          <a:solidFill>
            <a:srgbClr val="E4E2EC"/>
          </a:solidFill>
          <a:ln w="12700">
            <a:solidFill>
              <a:srgbClr val="E4E2EC"/>
            </a:solidFill>
            <a:prstDash val="solid"/>
          </a:ln>
        </p:spPr>
      </p:sp>
      <p:sp>
        <p:nvSpPr>
          <p:cNvPr id="9" name="Text 6"/>
          <p:cNvSpPr txBox="1"/>
          <p:nvPr/>
        </p:nvSpPr>
        <p:spPr>
          <a:xfrm>
            <a:off x="708660" y="2240280"/>
            <a:ext cx="1115568" cy="777240"/>
          </a:xfrm>
          <a:prstGeom prst="rect">
            <a:avLst/>
          </a:prstGeom>
          <a:noFill/>
          <a:ln/>
        </p:spPr>
        <p:txBody>
          <a:bodyPr wrap="square" lIns="0" tIns="0" rIns="0" bIns="0" rtlCol="0" anchor="ctr"/>
          <a:lstStyle/>
          <a:p>
            <a:pPr algn="ctr" indent="0" marL="0">
              <a:buNone/>
            </a:pPr>
            <a:r>
              <a:rPr lang="en-US" sz="1400" b="1" dirty="0">
                <a:solidFill>
                  <a:srgbClr val="1B1838"/>
                </a:solidFill>
                <a:latin typeface="Calibri" pitchFamily="34" charset="0"/>
                <a:ea typeface="Calibri" pitchFamily="34" charset="-122"/>
                <a:cs typeface="Calibri" pitchFamily="34" charset="-120"/>
              </a:rPr>
              <a:t>Jan 2022</a:t>
            </a:r>
            <a:endParaRPr lang="en-US" sz="1400" dirty="0"/>
          </a:p>
        </p:txBody>
      </p:sp>
      <p:sp>
        <p:nvSpPr>
          <p:cNvPr id="10" name="Shape 7"/>
          <p:cNvSpPr/>
          <p:nvPr/>
        </p:nvSpPr>
        <p:spPr>
          <a:xfrm>
            <a:off x="1915668" y="2240280"/>
            <a:ext cx="1115568" cy="777240"/>
          </a:xfrm>
          <a:prstGeom prst="roundRect">
            <a:avLst>
              <a:gd name="adj" fmla="val 9412"/>
            </a:avLst>
          </a:prstGeom>
          <a:solidFill>
            <a:srgbClr val="E4E2EC"/>
          </a:solidFill>
          <a:ln w="12700">
            <a:solidFill>
              <a:srgbClr val="E4E2EC"/>
            </a:solidFill>
            <a:prstDash val="solid"/>
          </a:ln>
        </p:spPr>
      </p:sp>
      <p:sp>
        <p:nvSpPr>
          <p:cNvPr id="11" name="Text 8"/>
          <p:cNvSpPr txBox="1"/>
          <p:nvPr/>
        </p:nvSpPr>
        <p:spPr>
          <a:xfrm>
            <a:off x="1915668" y="2240280"/>
            <a:ext cx="1115568" cy="777240"/>
          </a:xfrm>
          <a:prstGeom prst="rect">
            <a:avLst/>
          </a:prstGeom>
          <a:noFill/>
          <a:ln/>
        </p:spPr>
        <p:txBody>
          <a:bodyPr wrap="square" lIns="0" tIns="0" rIns="0" bIns="0" rtlCol="0" anchor="ctr"/>
          <a:lstStyle/>
          <a:p>
            <a:pPr algn="ctr" indent="0" marL="0">
              <a:buNone/>
            </a:pPr>
            <a:r>
              <a:rPr lang="en-US" sz="1400" b="1" dirty="0">
                <a:solidFill>
                  <a:srgbClr val="1B1838"/>
                </a:solidFill>
                <a:latin typeface="Calibri" pitchFamily="34" charset="0"/>
                <a:ea typeface="Calibri" pitchFamily="34" charset="-122"/>
                <a:cs typeface="Calibri" pitchFamily="34" charset="-120"/>
              </a:rPr>
              <a:t>Feb 2022</a:t>
            </a:r>
            <a:endParaRPr lang="en-US" sz="1400" dirty="0"/>
          </a:p>
        </p:txBody>
      </p:sp>
      <p:sp>
        <p:nvSpPr>
          <p:cNvPr id="12" name="Shape 9"/>
          <p:cNvSpPr/>
          <p:nvPr/>
        </p:nvSpPr>
        <p:spPr>
          <a:xfrm>
            <a:off x="3122676" y="2240280"/>
            <a:ext cx="1115568" cy="777240"/>
          </a:xfrm>
          <a:prstGeom prst="roundRect">
            <a:avLst>
              <a:gd name="adj" fmla="val 9412"/>
            </a:avLst>
          </a:prstGeom>
          <a:solidFill>
            <a:srgbClr val="E4E2EC"/>
          </a:solidFill>
          <a:ln w="12700">
            <a:solidFill>
              <a:srgbClr val="E4E2EC"/>
            </a:solidFill>
            <a:prstDash val="solid"/>
          </a:ln>
        </p:spPr>
      </p:sp>
      <p:sp>
        <p:nvSpPr>
          <p:cNvPr id="13" name="Text 10"/>
          <p:cNvSpPr txBox="1"/>
          <p:nvPr/>
        </p:nvSpPr>
        <p:spPr>
          <a:xfrm>
            <a:off x="3122676" y="2240280"/>
            <a:ext cx="1115568" cy="777240"/>
          </a:xfrm>
          <a:prstGeom prst="rect">
            <a:avLst/>
          </a:prstGeom>
          <a:noFill/>
          <a:ln/>
        </p:spPr>
        <p:txBody>
          <a:bodyPr wrap="square" lIns="0" tIns="0" rIns="0" bIns="0" rtlCol="0" anchor="ctr"/>
          <a:lstStyle/>
          <a:p>
            <a:pPr algn="ctr" indent="0" marL="0">
              <a:buNone/>
            </a:pPr>
            <a:r>
              <a:rPr lang="en-US" sz="1400" b="1" dirty="0">
                <a:solidFill>
                  <a:srgbClr val="1B1838"/>
                </a:solidFill>
                <a:latin typeface="Calibri" pitchFamily="34" charset="0"/>
                <a:ea typeface="Calibri" pitchFamily="34" charset="-122"/>
                <a:cs typeface="Calibri" pitchFamily="34" charset="-120"/>
              </a:rPr>
              <a:t>Mar 2022</a:t>
            </a:r>
            <a:endParaRPr lang="en-US" sz="1400" dirty="0"/>
          </a:p>
        </p:txBody>
      </p:sp>
      <p:sp>
        <p:nvSpPr>
          <p:cNvPr id="14" name="Shape 11"/>
          <p:cNvSpPr/>
          <p:nvPr/>
        </p:nvSpPr>
        <p:spPr>
          <a:xfrm>
            <a:off x="4329684" y="2240280"/>
            <a:ext cx="1115568" cy="777240"/>
          </a:xfrm>
          <a:prstGeom prst="roundRect">
            <a:avLst>
              <a:gd name="adj" fmla="val 9412"/>
            </a:avLst>
          </a:prstGeom>
          <a:solidFill>
            <a:srgbClr val="E4E2EC"/>
          </a:solidFill>
          <a:ln w="12700">
            <a:solidFill>
              <a:srgbClr val="E4E2EC"/>
            </a:solidFill>
            <a:prstDash val="solid"/>
          </a:ln>
        </p:spPr>
      </p:sp>
      <p:sp>
        <p:nvSpPr>
          <p:cNvPr id="15" name="Text 12"/>
          <p:cNvSpPr txBox="1"/>
          <p:nvPr/>
        </p:nvSpPr>
        <p:spPr>
          <a:xfrm>
            <a:off x="4329684" y="2240280"/>
            <a:ext cx="1115568" cy="777240"/>
          </a:xfrm>
          <a:prstGeom prst="rect">
            <a:avLst/>
          </a:prstGeom>
          <a:noFill/>
          <a:ln/>
        </p:spPr>
        <p:txBody>
          <a:bodyPr wrap="square" lIns="0" tIns="0" rIns="0" bIns="0" rtlCol="0" anchor="ctr"/>
          <a:lstStyle/>
          <a:p>
            <a:pPr algn="ctr" indent="0" marL="0">
              <a:buNone/>
            </a:pPr>
            <a:r>
              <a:rPr lang="en-US" sz="1400" b="1" dirty="0">
                <a:solidFill>
                  <a:srgbClr val="1B1838"/>
                </a:solidFill>
                <a:latin typeface="Calibri" pitchFamily="34" charset="0"/>
                <a:ea typeface="Calibri" pitchFamily="34" charset="-122"/>
                <a:cs typeface="Calibri" pitchFamily="34" charset="-120"/>
              </a:rPr>
              <a:t>Apr 2022</a:t>
            </a:r>
            <a:endParaRPr lang="en-US" sz="1400" dirty="0"/>
          </a:p>
        </p:txBody>
      </p:sp>
      <p:sp>
        <p:nvSpPr>
          <p:cNvPr id="16" name="Shape 13"/>
          <p:cNvSpPr/>
          <p:nvPr/>
        </p:nvSpPr>
        <p:spPr>
          <a:xfrm>
            <a:off x="5536692" y="2240280"/>
            <a:ext cx="1115568" cy="777240"/>
          </a:xfrm>
          <a:prstGeom prst="roundRect">
            <a:avLst>
              <a:gd name="adj" fmla="val 9412"/>
            </a:avLst>
          </a:prstGeom>
          <a:solidFill>
            <a:srgbClr val="120E33"/>
          </a:solidFill>
          <a:ln w="12700">
            <a:solidFill>
              <a:srgbClr val="120E33"/>
            </a:solidFill>
            <a:prstDash val="solid"/>
          </a:ln>
        </p:spPr>
      </p:sp>
      <p:pic>
        <p:nvPicPr>
          <p:cNvPr id="17" name="Image 1" descr="preencoded.png">    </p:cNvPr>
          <p:cNvPicPr>
            <a:picLocks noChangeAspect="1"/>
          </p:cNvPicPr>
          <p:nvPr/>
        </p:nvPicPr>
        <p:blipFill>
          <a:blip r:embed="rId2"/>
          <a:stretch>
            <a:fillRect/>
          </a:stretch>
        </p:blipFill>
        <p:spPr>
          <a:xfrm>
            <a:off x="5911596" y="2313432"/>
            <a:ext cx="365760" cy="365760"/>
          </a:xfrm>
          <a:prstGeom prst="rect">
            <a:avLst/>
          </a:prstGeom>
        </p:spPr>
      </p:pic>
      <p:sp>
        <p:nvSpPr>
          <p:cNvPr id="18" name="Text 14"/>
          <p:cNvSpPr txBox="1"/>
          <p:nvPr/>
        </p:nvSpPr>
        <p:spPr>
          <a:xfrm>
            <a:off x="5536692" y="2697480"/>
            <a:ext cx="1115568" cy="256032"/>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May · launch</a:t>
            </a:r>
            <a:endParaRPr lang="en-US" sz="1100" dirty="0"/>
          </a:p>
        </p:txBody>
      </p:sp>
      <p:sp>
        <p:nvSpPr>
          <p:cNvPr id="19" name="Shape 15"/>
          <p:cNvSpPr/>
          <p:nvPr/>
        </p:nvSpPr>
        <p:spPr>
          <a:xfrm>
            <a:off x="6743700" y="2240280"/>
            <a:ext cx="1115568" cy="777240"/>
          </a:xfrm>
          <a:prstGeom prst="roundRect">
            <a:avLst>
              <a:gd name="adj" fmla="val 9412"/>
            </a:avLst>
          </a:prstGeom>
          <a:solidFill>
            <a:srgbClr val="5B3DF5"/>
          </a:solidFill>
          <a:ln w="12700">
            <a:solidFill>
              <a:srgbClr val="5B3DF5"/>
            </a:solidFill>
            <a:prstDash val="solid"/>
          </a:ln>
        </p:spPr>
      </p:sp>
      <p:sp>
        <p:nvSpPr>
          <p:cNvPr id="20" name="Text 16"/>
          <p:cNvSpPr txBox="1"/>
          <p:nvPr/>
        </p:nvSpPr>
        <p:spPr>
          <a:xfrm>
            <a:off x="6743700" y="2240280"/>
            <a:ext cx="111556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Jun 2022</a:t>
            </a:r>
            <a:endParaRPr lang="en-US" sz="1400" dirty="0"/>
          </a:p>
        </p:txBody>
      </p:sp>
      <p:sp>
        <p:nvSpPr>
          <p:cNvPr id="21" name="Shape 17"/>
          <p:cNvSpPr/>
          <p:nvPr/>
        </p:nvSpPr>
        <p:spPr>
          <a:xfrm>
            <a:off x="7950708" y="2240280"/>
            <a:ext cx="1115568" cy="777240"/>
          </a:xfrm>
          <a:prstGeom prst="roundRect">
            <a:avLst>
              <a:gd name="adj" fmla="val 9412"/>
            </a:avLst>
          </a:prstGeom>
          <a:solidFill>
            <a:srgbClr val="5B3DF5"/>
          </a:solidFill>
          <a:ln w="12700">
            <a:solidFill>
              <a:srgbClr val="5B3DF5"/>
            </a:solidFill>
            <a:prstDash val="solid"/>
          </a:ln>
        </p:spPr>
      </p:sp>
      <p:sp>
        <p:nvSpPr>
          <p:cNvPr id="22" name="Text 18"/>
          <p:cNvSpPr txBox="1"/>
          <p:nvPr/>
        </p:nvSpPr>
        <p:spPr>
          <a:xfrm>
            <a:off x="7950708" y="2240280"/>
            <a:ext cx="111556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Jul 2022</a:t>
            </a:r>
            <a:endParaRPr lang="en-US" sz="1400" dirty="0"/>
          </a:p>
        </p:txBody>
      </p:sp>
      <p:sp>
        <p:nvSpPr>
          <p:cNvPr id="23" name="Shape 19"/>
          <p:cNvSpPr/>
          <p:nvPr/>
        </p:nvSpPr>
        <p:spPr>
          <a:xfrm>
            <a:off x="9157716" y="2240280"/>
            <a:ext cx="1115568" cy="777240"/>
          </a:xfrm>
          <a:prstGeom prst="roundRect">
            <a:avLst>
              <a:gd name="adj" fmla="val 9412"/>
            </a:avLst>
          </a:prstGeom>
          <a:solidFill>
            <a:srgbClr val="5B3DF5"/>
          </a:solidFill>
          <a:ln w="12700">
            <a:solidFill>
              <a:srgbClr val="5B3DF5"/>
            </a:solidFill>
            <a:prstDash val="solid"/>
          </a:ln>
        </p:spPr>
      </p:sp>
      <p:sp>
        <p:nvSpPr>
          <p:cNvPr id="24" name="Text 20"/>
          <p:cNvSpPr txBox="1"/>
          <p:nvPr/>
        </p:nvSpPr>
        <p:spPr>
          <a:xfrm>
            <a:off x="9157716" y="2240280"/>
            <a:ext cx="111556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Aug 2022</a:t>
            </a:r>
            <a:endParaRPr lang="en-US" sz="1400" dirty="0"/>
          </a:p>
        </p:txBody>
      </p:sp>
      <p:sp>
        <p:nvSpPr>
          <p:cNvPr id="25" name="Shape 21"/>
          <p:cNvSpPr/>
          <p:nvPr/>
        </p:nvSpPr>
        <p:spPr>
          <a:xfrm>
            <a:off x="10364724" y="2240280"/>
            <a:ext cx="1115568" cy="777240"/>
          </a:xfrm>
          <a:prstGeom prst="roundRect">
            <a:avLst>
              <a:gd name="adj" fmla="val 9412"/>
            </a:avLst>
          </a:prstGeom>
          <a:solidFill>
            <a:srgbClr val="5B3DF5"/>
          </a:solidFill>
          <a:ln w="12700">
            <a:solidFill>
              <a:srgbClr val="5B3DF5"/>
            </a:solidFill>
            <a:prstDash val="solid"/>
          </a:ln>
        </p:spPr>
      </p:sp>
      <p:sp>
        <p:nvSpPr>
          <p:cNvPr id="26" name="Text 22"/>
          <p:cNvSpPr txBox="1"/>
          <p:nvPr/>
        </p:nvSpPr>
        <p:spPr>
          <a:xfrm>
            <a:off x="10364724" y="2240280"/>
            <a:ext cx="111556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Sep 2022</a:t>
            </a:r>
            <a:endParaRPr lang="en-US" sz="1400" dirty="0"/>
          </a:p>
        </p:txBody>
      </p:sp>
      <p:sp>
        <p:nvSpPr>
          <p:cNvPr id="27" name="Text 23"/>
          <p:cNvSpPr txBox="1"/>
          <p:nvPr/>
        </p:nvSpPr>
        <p:spPr>
          <a:xfrm>
            <a:off x="548640" y="3154680"/>
            <a:ext cx="11091672" cy="274320"/>
          </a:xfrm>
          <a:prstGeom prst="rect">
            <a:avLst/>
          </a:prstGeom>
          <a:noFill/>
          <a:ln/>
        </p:spPr>
        <p:txBody>
          <a:bodyPr wrap="square" lIns="0" tIns="0" rIns="0" bIns="0" rtlCol="0" anchor="t"/>
          <a:lstStyle/>
          <a:p>
            <a:pPr algn="ctr" indent="0" marL="0">
              <a:buNone/>
            </a:pPr>
            <a:r>
              <a:rPr lang="en-US" sz="1200" dirty="0">
                <a:solidFill>
                  <a:srgbClr val="615E78"/>
                </a:solidFill>
                <a:latin typeface="Calibri" pitchFamily="34" charset="0"/>
                <a:ea typeface="Calibri" pitchFamily="34" charset="-122"/>
                <a:cs typeface="Calibri" pitchFamily="34" charset="-120"/>
              </a:rPr>
              <a:t>Matched month pairs, as in the dashboard’s Month Comparison:  Jan ↔ Jun  ·  Feb ↔ Jul  ·  Mar ↔ Aug  ·  Apr ↔ Sep.  The launch month (May) is not in the dataset.</a:t>
            </a:r>
            <a:endParaRPr lang="en-US" sz="1200" dirty="0"/>
          </a:p>
        </p:txBody>
      </p:sp>
      <p:sp>
        <p:nvSpPr>
          <p:cNvPr id="28" name="Shape 24"/>
          <p:cNvSpPr/>
          <p:nvPr/>
        </p:nvSpPr>
        <p:spPr>
          <a:xfrm>
            <a:off x="548640" y="3840480"/>
            <a:ext cx="3547872" cy="1783080"/>
          </a:xfrm>
          <a:prstGeom prst="roundRect">
            <a:avLst>
              <a:gd name="adj" fmla="val 4103"/>
            </a:avLst>
          </a:prstGeom>
          <a:solidFill>
            <a:srgbClr val="F5F4FA"/>
          </a:solidFill>
          <a:ln w="12700">
            <a:solidFill>
              <a:srgbClr val="F5F4FA"/>
            </a:solidFill>
            <a:prstDash val="solid"/>
          </a:ln>
        </p:spPr>
      </p:sp>
      <p:sp>
        <p:nvSpPr>
          <p:cNvPr id="29" name="Shape 25"/>
          <p:cNvSpPr/>
          <p:nvPr/>
        </p:nvSpPr>
        <p:spPr>
          <a:xfrm>
            <a:off x="822960" y="4114800"/>
            <a:ext cx="548640" cy="548640"/>
          </a:xfrm>
          <a:prstGeom prst="ellipse">
            <a:avLst/>
          </a:prstGeom>
          <a:solidFill>
            <a:srgbClr val="EEEAFE"/>
          </a:solidFill>
          <a:ln w="12700">
            <a:solidFill>
              <a:srgbClr val="EEEAFE"/>
            </a:solidFill>
            <a:prstDash val="solid"/>
          </a:ln>
        </p:spPr>
      </p:sp>
      <p:pic>
        <p:nvPicPr>
          <p:cNvPr id="30" name="Image 2" descr="preencoded.png">    </p:cNvPr>
          <p:cNvPicPr>
            <a:picLocks noChangeAspect="1"/>
          </p:cNvPicPr>
          <p:nvPr/>
        </p:nvPicPr>
        <p:blipFill>
          <a:blip r:embed="rId3"/>
          <a:stretch>
            <a:fillRect/>
          </a:stretch>
        </p:blipFill>
        <p:spPr>
          <a:xfrm>
            <a:off x="960120" y="4251960"/>
            <a:ext cx="274320" cy="274320"/>
          </a:xfrm>
          <a:prstGeom prst="rect">
            <a:avLst/>
          </a:prstGeom>
        </p:spPr>
      </p:pic>
      <p:sp>
        <p:nvSpPr>
          <p:cNvPr id="31" name="Text 26"/>
          <p:cNvSpPr txBox="1"/>
          <p:nvPr/>
        </p:nvSpPr>
        <p:spPr>
          <a:xfrm>
            <a:off x="1554480" y="4114800"/>
            <a:ext cx="2359152" cy="548640"/>
          </a:xfrm>
          <a:prstGeom prst="rect">
            <a:avLst/>
          </a:prstGeom>
          <a:noFill/>
          <a:ln/>
        </p:spPr>
        <p:txBody>
          <a:bodyPr wrap="square" lIns="0" tIns="0" rIns="0" bIns="0" rtlCol="0" anchor="ctr"/>
          <a:lstStyle/>
          <a:p>
            <a:pPr indent="0" marL="0">
              <a:buNone/>
            </a:pPr>
            <a:r>
              <a:rPr lang="en-US" sz="1600" b="1" dirty="0">
                <a:solidFill>
                  <a:srgbClr val="1B1838"/>
                </a:solidFill>
                <a:latin typeface="Calibri" pitchFamily="34" charset="0"/>
                <a:ea typeface="Calibri" pitchFamily="34" charset="-122"/>
                <a:cs typeface="Calibri" pitchFamily="34" charset="-120"/>
              </a:rPr>
              <a:t>Company KPIs</a:t>
            </a:r>
            <a:endParaRPr lang="en-US" sz="1600" dirty="0"/>
          </a:p>
        </p:txBody>
      </p:sp>
      <p:sp>
        <p:nvSpPr>
          <p:cNvPr id="32" name="Text 27"/>
          <p:cNvSpPr txBox="1"/>
          <p:nvPr/>
        </p:nvSpPr>
        <p:spPr>
          <a:xfrm>
            <a:off x="822960" y="4773168"/>
            <a:ext cx="2999232" cy="731520"/>
          </a:xfrm>
          <a:prstGeom prst="rect">
            <a:avLst/>
          </a:prstGeom>
          <a:noFill/>
          <a:ln/>
        </p:spPr>
        <p:txBody>
          <a:bodyPr wrap="square" lIns="0" tIns="0" rIns="0" bIns="0" rtlCol="0" anchor="t"/>
          <a:lstStyle/>
          <a:p>
            <a:pPr indent="0" marL="0">
              <a:buNone/>
            </a:pPr>
            <a:r>
              <a:rPr lang="en-US" sz="1250" dirty="0">
                <a:solidFill>
                  <a:srgbClr val="615E78"/>
                </a:solidFill>
                <a:latin typeface="Calibri" pitchFamily="34" charset="0"/>
                <a:ea typeface="Calibri" pitchFamily="34" charset="-122"/>
                <a:cs typeface="Calibri" pitchFamily="34" charset="-120"/>
              </a:rPr>
              <a:t>Revenue, ARPU, active users and unsubscribed users for WaveCon across 15 cities, month by month.</a:t>
            </a:r>
            <a:endParaRPr lang="en-US" sz="1250" dirty="0"/>
          </a:p>
        </p:txBody>
      </p:sp>
      <p:sp>
        <p:nvSpPr>
          <p:cNvPr id="33" name="Shape 28"/>
          <p:cNvSpPr/>
          <p:nvPr/>
        </p:nvSpPr>
        <p:spPr>
          <a:xfrm>
            <a:off x="4320540" y="3840480"/>
            <a:ext cx="3547872" cy="1783080"/>
          </a:xfrm>
          <a:prstGeom prst="roundRect">
            <a:avLst>
              <a:gd name="adj" fmla="val 4103"/>
            </a:avLst>
          </a:prstGeom>
          <a:solidFill>
            <a:srgbClr val="F5F4FA"/>
          </a:solidFill>
          <a:ln w="12700">
            <a:solidFill>
              <a:srgbClr val="F5F4FA"/>
            </a:solidFill>
            <a:prstDash val="solid"/>
          </a:ln>
        </p:spPr>
      </p:sp>
      <p:sp>
        <p:nvSpPr>
          <p:cNvPr id="34" name="Shape 29"/>
          <p:cNvSpPr/>
          <p:nvPr/>
        </p:nvSpPr>
        <p:spPr>
          <a:xfrm>
            <a:off x="4594860" y="4114800"/>
            <a:ext cx="548640" cy="548640"/>
          </a:xfrm>
          <a:prstGeom prst="ellipse">
            <a:avLst/>
          </a:prstGeom>
          <a:solidFill>
            <a:srgbClr val="EEEAFE"/>
          </a:solidFill>
          <a:ln w="12700">
            <a:solidFill>
              <a:srgbClr val="EEEAFE"/>
            </a:solidFill>
            <a:prstDash val="solid"/>
          </a:ln>
        </p:spPr>
      </p:sp>
      <p:pic>
        <p:nvPicPr>
          <p:cNvPr id="35" name="Image 3" descr="preencoded.png">    </p:cNvPr>
          <p:cNvPicPr>
            <a:picLocks noChangeAspect="1"/>
          </p:cNvPicPr>
          <p:nvPr/>
        </p:nvPicPr>
        <p:blipFill>
          <a:blip r:embed="rId4"/>
          <a:stretch>
            <a:fillRect/>
          </a:stretch>
        </p:blipFill>
        <p:spPr>
          <a:xfrm>
            <a:off x="4732020" y="4251960"/>
            <a:ext cx="274320" cy="274320"/>
          </a:xfrm>
          <a:prstGeom prst="rect">
            <a:avLst/>
          </a:prstGeom>
        </p:spPr>
      </p:pic>
      <p:sp>
        <p:nvSpPr>
          <p:cNvPr id="36" name="Text 30"/>
          <p:cNvSpPr txBox="1"/>
          <p:nvPr/>
        </p:nvSpPr>
        <p:spPr>
          <a:xfrm>
            <a:off x="5326380" y="4114800"/>
            <a:ext cx="2359152" cy="548640"/>
          </a:xfrm>
          <a:prstGeom prst="rect">
            <a:avLst/>
          </a:prstGeom>
          <a:noFill/>
          <a:ln/>
        </p:spPr>
        <p:txBody>
          <a:bodyPr wrap="square" lIns="0" tIns="0" rIns="0" bIns="0" rtlCol="0" anchor="ctr"/>
          <a:lstStyle/>
          <a:p>
            <a:pPr indent="0" marL="0">
              <a:buNone/>
            </a:pPr>
            <a:r>
              <a:rPr lang="en-US" sz="1600" b="1" dirty="0">
                <a:solidFill>
                  <a:srgbClr val="1B1838"/>
                </a:solidFill>
                <a:latin typeface="Calibri" pitchFamily="34" charset="0"/>
                <a:ea typeface="Calibri" pitchFamily="34" charset="-122"/>
                <a:cs typeface="Calibri" pitchFamily="34" charset="-120"/>
              </a:rPr>
              <a:t>Market</a:t>
            </a:r>
            <a:endParaRPr lang="en-US" sz="1600" dirty="0"/>
          </a:p>
        </p:txBody>
      </p:sp>
      <p:sp>
        <p:nvSpPr>
          <p:cNvPr id="37" name="Text 31"/>
          <p:cNvSpPr txBox="1"/>
          <p:nvPr/>
        </p:nvSpPr>
        <p:spPr>
          <a:xfrm>
            <a:off x="4594860" y="4773168"/>
            <a:ext cx="2999232" cy="731520"/>
          </a:xfrm>
          <a:prstGeom prst="rect">
            <a:avLst/>
          </a:prstGeom>
          <a:noFill/>
          <a:ln/>
        </p:spPr>
        <p:txBody>
          <a:bodyPr wrap="square" lIns="0" tIns="0" rIns="0" bIns="0" rtlCol="0" anchor="t"/>
          <a:lstStyle/>
          <a:p>
            <a:pPr indent="0" marL="0">
              <a:buNone/>
            </a:pPr>
            <a:r>
              <a:rPr lang="en-US" sz="1250" dirty="0">
                <a:solidFill>
                  <a:srgbClr val="615E78"/>
                </a:solidFill>
                <a:latin typeface="Calibri" pitchFamily="34" charset="0"/>
                <a:ea typeface="Calibri" pitchFamily="34" charset="-122"/>
                <a:cs typeface="Calibri" pitchFamily="34" charset="-120"/>
              </a:rPr>
              <a:t>Total market value and market share for WaveCon, its rivals PIO, Britel and Dadafone, and smaller operators.</a:t>
            </a:r>
            <a:endParaRPr lang="en-US" sz="1250" dirty="0"/>
          </a:p>
        </p:txBody>
      </p:sp>
      <p:sp>
        <p:nvSpPr>
          <p:cNvPr id="38" name="Shape 32"/>
          <p:cNvSpPr/>
          <p:nvPr/>
        </p:nvSpPr>
        <p:spPr>
          <a:xfrm>
            <a:off x="8092440" y="3840480"/>
            <a:ext cx="3547872" cy="1783080"/>
          </a:xfrm>
          <a:prstGeom prst="roundRect">
            <a:avLst>
              <a:gd name="adj" fmla="val 4103"/>
            </a:avLst>
          </a:prstGeom>
          <a:solidFill>
            <a:srgbClr val="F5F4FA"/>
          </a:solidFill>
          <a:ln w="12700">
            <a:solidFill>
              <a:srgbClr val="F5F4FA"/>
            </a:solidFill>
            <a:prstDash val="solid"/>
          </a:ln>
        </p:spPr>
      </p:sp>
      <p:sp>
        <p:nvSpPr>
          <p:cNvPr id="39" name="Shape 33"/>
          <p:cNvSpPr/>
          <p:nvPr/>
        </p:nvSpPr>
        <p:spPr>
          <a:xfrm>
            <a:off x="8366760" y="4114800"/>
            <a:ext cx="548640" cy="548640"/>
          </a:xfrm>
          <a:prstGeom prst="ellipse">
            <a:avLst/>
          </a:prstGeom>
          <a:solidFill>
            <a:srgbClr val="EEEAFE"/>
          </a:solidFill>
          <a:ln w="12700">
            <a:solidFill>
              <a:srgbClr val="EEEAFE"/>
            </a:solidFill>
            <a:prstDash val="solid"/>
          </a:ln>
        </p:spPr>
      </p:sp>
      <p:pic>
        <p:nvPicPr>
          <p:cNvPr id="40" name="Image 4" descr="preencoded.png">    </p:cNvPr>
          <p:cNvPicPr>
            <a:picLocks noChangeAspect="1"/>
          </p:cNvPicPr>
          <p:nvPr/>
        </p:nvPicPr>
        <p:blipFill>
          <a:blip r:embed="rId5"/>
          <a:stretch>
            <a:fillRect/>
          </a:stretch>
        </p:blipFill>
        <p:spPr>
          <a:xfrm>
            <a:off x="8503920" y="4251960"/>
            <a:ext cx="274320" cy="274320"/>
          </a:xfrm>
          <a:prstGeom prst="rect">
            <a:avLst/>
          </a:prstGeom>
        </p:spPr>
      </p:pic>
      <p:sp>
        <p:nvSpPr>
          <p:cNvPr id="41" name="Text 34"/>
          <p:cNvSpPr txBox="1"/>
          <p:nvPr/>
        </p:nvSpPr>
        <p:spPr>
          <a:xfrm>
            <a:off x="9098280" y="4114800"/>
            <a:ext cx="2359152" cy="548640"/>
          </a:xfrm>
          <a:prstGeom prst="rect">
            <a:avLst/>
          </a:prstGeom>
          <a:noFill/>
          <a:ln/>
        </p:spPr>
        <p:txBody>
          <a:bodyPr wrap="square" lIns="0" tIns="0" rIns="0" bIns="0" rtlCol="0" anchor="ctr"/>
          <a:lstStyle/>
          <a:p>
            <a:pPr indent="0" marL="0">
              <a:buNone/>
            </a:pPr>
            <a:r>
              <a:rPr lang="en-US" sz="1600" b="1" dirty="0">
                <a:solidFill>
                  <a:srgbClr val="1B1838"/>
                </a:solidFill>
                <a:latin typeface="Calibri" pitchFamily="34" charset="0"/>
                <a:ea typeface="Calibri" pitchFamily="34" charset="-122"/>
                <a:cs typeface="Calibri" pitchFamily="34" charset="-120"/>
              </a:rPr>
              <a:t>Plans</a:t>
            </a:r>
            <a:endParaRPr lang="en-US" sz="1600" dirty="0"/>
          </a:p>
        </p:txBody>
      </p:sp>
      <p:sp>
        <p:nvSpPr>
          <p:cNvPr id="42" name="Text 35"/>
          <p:cNvSpPr txBox="1"/>
          <p:nvPr/>
        </p:nvSpPr>
        <p:spPr>
          <a:xfrm>
            <a:off x="8366760" y="4773168"/>
            <a:ext cx="2999232" cy="731520"/>
          </a:xfrm>
          <a:prstGeom prst="rect">
            <a:avLst/>
          </a:prstGeom>
          <a:noFill/>
          <a:ln/>
        </p:spPr>
        <p:txBody>
          <a:bodyPr wrap="square" lIns="0" tIns="0" rIns="0" bIns="0" rtlCol="0" anchor="t"/>
          <a:lstStyle/>
          <a:p>
            <a:pPr indent="0" marL="0">
              <a:buNone/>
            </a:pPr>
            <a:r>
              <a:rPr lang="en-US" sz="1250" dirty="0">
                <a:solidFill>
                  <a:srgbClr val="615E78"/>
                </a:solidFill>
                <a:latin typeface="Calibri" pitchFamily="34" charset="0"/>
                <a:ea typeface="Calibri" pitchFamily="34" charset="-122"/>
                <a:cs typeface="Calibri" pitchFamily="34" charset="-120"/>
              </a:rPr>
              <a:t>Revenue from 13 prepaid plans by city and month, including 3 retired and 3 newly launched plans.</a:t>
            </a:r>
            <a:endParaRPr lang="en-US" sz="1250" dirty="0"/>
          </a:p>
        </p:txBody>
      </p:sp>
      <p:sp>
        <p:nvSpPr>
          <p:cNvPr id="43" name="Text 36"/>
          <p:cNvSpPr txBox="1"/>
          <p:nvPr/>
        </p:nvSpPr>
        <p:spPr>
          <a:xfrm>
            <a:off x="548640" y="5806440"/>
            <a:ext cx="11091672" cy="411480"/>
          </a:xfrm>
          <a:prstGeom prst="rect">
            <a:avLst/>
          </a:prstGeom>
          <a:noFill/>
          <a:ln/>
        </p:spPr>
        <p:txBody>
          <a:bodyPr wrap="square" lIns="0" tIns="0" rIns="0" bIns="0" rtlCol="0" anchor="t"/>
          <a:lstStyle/>
          <a:p>
            <a:pPr indent="0" marL="0">
              <a:buNone/>
            </a:pPr>
            <a:r>
              <a:rPr lang="en-US" sz="1050" i="1" dirty="0">
                <a:solidFill>
                  <a:srgbClr val="615E78"/>
                </a:solidFill>
                <a:latin typeface="Calibri" pitchFamily="34" charset="0"/>
                <a:ea typeface="Calibri" pitchFamily="34" charset="-122"/>
                <a:cs typeface="Calibri" pitchFamily="34" charset="-120"/>
              </a:rPr>
              <a:t>Notes: ARPU is the average of city-month ARPU, which is how the dashboard calculates it. Plan revenue only covers the tracked plans, so it does not add up exactly to total company revenue.</a:t>
            </a:r>
            <a:endParaRPr lang="en-US" sz="1050" dirty="0"/>
          </a:p>
        </p:txBody>
      </p:sp>
      <p:sp>
        <p:nvSpPr>
          <p:cNvPr id="44" name="Text 37"/>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(fact_wavecon_metrics, fact_market_share, fact_plan_revenue, dim_date, dim_plan, dim_cities)</a:t>
            </a:r>
            <a:endParaRPr lang="en-US" sz="900" dirty="0"/>
          </a:p>
        </p:txBody>
      </p:sp>
      <p:sp>
        <p:nvSpPr>
          <p:cNvPr id="45" name="Text 38"/>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sp>
        <p:nvSpPr>
          <p:cNvPr id="3" name="Text 1"/>
          <p:cNvSpPr txBox="1"/>
          <p:nvPr/>
        </p:nvSpPr>
        <p:spPr>
          <a:xfrm>
            <a:off x="548640" y="457200"/>
            <a:ext cx="658368"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Q1</a:t>
            </a:r>
            <a:endParaRPr lang="en-US" sz="1700" dirty="0"/>
          </a:p>
        </p:txBody>
      </p:sp>
      <p:sp>
        <p:nvSpPr>
          <p:cNvPr id="4" name="Text 2"/>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Q1 · REVENUE IMPACT</a:t>
            </a:r>
            <a:endParaRPr lang="en-US" sz="1200" dirty="0"/>
          </a:p>
        </p:txBody>
      </p:sp>
      <p:sp>
        <p:nvSpPr>
          <p:cNvPr id="5" name="Text 3"/>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Revenue went flat after launch: 5G gave the top line no lift</a:t>
            </a:r>
            <a:endParaRPr lang="en-US" sz="2500" dirty="0"/>
          </a:p>
        </p:txBody>
      </p:sp>
      <p:sp>
        <p:nvSpPr>
          <p:cNvPr id="6" name="Shape 4"/>
          <p:cNvSpPr/>
          <p:nvPr/>
        </p:nvSpPr>
        <p:spPr>
          <a:xfrm>
            <a:off x="548640" y="1737360"/>
            <a:ext cx="3566160" cy="4434840"/>
          </a:xfrm>
          <a:prstGeom prst="roundRect">
            <a:avLst>
              <a:gd name="adj" fmla="val 2051"/>
            </a:avLst>
          </a:prstGeom>
          <a:solidFill>
            <a:srgbClr val="F5F4FA"/>
          </a:solidFill>
          <a:ln w="12700">
            <a:solidFill>
              <a:srgbClr val="F5F4FA"/>
            </a:solidFill>
            <a:prstDash val="solid"/>
          </a:ln>
        </p:spPr>
      </p:sp>
      <p:sp>
        <p:nvSpPr>
          <p:cNvPr id="7" name="Text 5"/>
          <p:cNvSpPr txBox="1"/>
          <p:nvPr/>
        </p:nvSpPr>
        <p:spPr>
          <a:xfrm>
            <a:off x="822960" y="1965960"/>
            <a:ext cx="3017520" cy="274320"/>
          </a:xfrm>
          <a:prstGeom prst="rect">
            <a:avLst/>
          </a:prstGeom>
          <a:noFill/>
          <a:ln/>
        </p:spPr>
        <p:txBody>
          <a:bodyPr wrap="square" lIns="0" tIns="0" rIns="0" bIns="0" rtlCol="0" anchor="t"/>
          <a:lstStyle/>
          <a:p>
            <a:pPr indent="0" marL="0">
              <a:buNone/>
            </a:pPr>
            <a:r>
              <a:rPr lang="en-US" sz="1300" b="1" dirty="0">
                <a:solidFill>
                  <a:srgbClr val="615E78"/>
                </a:solidFill>
                <a:latin typeface="Calibri" pitchFamily="34" charset="0"/>
                <a:ea typeface="Calibri" pitchFamily="34" charset="-122"/>
                <a:cs typeface="Calibri" pitchFamily="34" charset="-120"/>
              </a:rPr>
              <a:t>Total revenue change</a:t>
            </a:r>
            <a:endParaRPr lang="en-US" sz="1300" dirty="0"/>
          </a:p>
        </p:txBody>
      </p:sp>
      <p:sp>
        <p:nvSpPr>
          <p:cNvPr id="8" name="Text 6"/>
          <p:cNvSpPr txBox="1"/>
          <p:nvPr/>
        </p:nvSpPr>
        <p:spPr>
          <a:xfrm>
            <a:off x="822960" y="2240280"/>
            <a:ext cx="3017520" cy="960120"/>
          </a:xfrm>
          <a:prstGeom prst="rect">
            <a:avLst/>
          </a:prstGeom>
          <a:noFill/>
          <a:ln/>
        </p:spPr>
        <p:txBody>
          <a:bodyPr wrap="square" lIns="0" tIns="0" rIns="0" bIns="0" rtlCol="0" anchor="t"/>
          <a:lstStyle/>
          <a:p>
            <a:pPr indent="0" marL="0">
              <a:buNone/>
            </a:pPr>
            <a:r>
              <a:rPr lang="en-US" sz="6400" b="1" dirty="0">
                <a:solidFill>
                  <a:srgbClr val="E5484D"/>
                </a:solidFill>
                <a:latin typeface="Calibri" pitchFamily="34" charset="0"/>
                <a:ea typeface="Calibri" pitchFamily="34" charset="-122"/>
                <a:cs typeface="Calibri" pitchFamily="34" charset="-120"/>
              </a:rPr>
              <a:t>−0.5%</a:t>
            </a:r>
            <a:endParaRPr lang="en-US" sz="6400" dirty="0"/>
          </a:p>
        </p:txBody>
      </p:sp>
      <p:sp>
        <p:nvSpPr>
          <p:cNvPr id="9" name="Text 7"/>
          <p:cNvSpPr txBox="1"/>
          <p:nvPr/>
        </p:nvSpPr>
        <p:spPr>
          <a:xfrm>
            <a:off x="822960" y="3200400"/>
            <a:ext cx="3017520" cy="274320"/>
          </a:xfrm>
          <a:prstGeom prst="rect">
            <a:avLst/>
          </a:prstGeom>
          <a:noFill/>
          <a:ln/>
        </p:spPr>
        <p:txBody>
          <a:bodyPr wrap="square" lIns="0" tIns="0" rIns="0" bIns="0" rtlCol="0" anchor="t"/>
          <a:lstStyle/>
          <a:p>
            <a:pPr indent="0" marL="0">
              <a:buNone/>
            </a:pPr>
            <a:r>
              <a:rPr lang="en-US" sz="1300" dirty="0">
                <a:solidFill>
                  <a:srgbClr val="1B1838"/>
                </a:solidFill>
                <a:latin typeface="Calibri" pitchFamily="34" charset="0"/>
                <a:ea typeface="Calibri" pitchFamily="34" charset="-122"/>
                <a:cs typeface="Calibri" pitchFamily="34" charset="-120"/>
              </a:rPr>
              <a:t>−₹8.0 Cr over four months</a:t>
            </a:r>
            <a:endParaRPr lang="en-US" sz="1300" dirty="0"/>
          </a:p>
        </p:txBody>
      </p:sp>
      <p:sp>
        <p:nvSpPr>
          <p:cNvPr id="10" name="Shape 8"/>
          <p:cNvSpPr/>
          <p:nvPr/>
        </p:nvSpPr>
        <p:spPr>
          <a:xfrm>
            <a:off x="822960" y="3703320"/>
            <a:ext cx="3017520" cy="0"/>
          </a:xfrm>
          <a:prstGeom prst="line">
            <a:avLst/>
          </a:prstGeom>
          <a:noFill/>
          <a:ln w="12700">
            <a:solidFill>
              <a:srgbClr val="E3E1EB"/>
            </a:solidFill>
            <a:prstDash val="solid"/>
          </a:ln>
        </p:spPr>
      </p:sp>
      <p:sp>
        <p:nvSpPr>
          <p:cNvPr id="11" name="Text 9"/>
          <p:cNvSpPr txBox="1"/>
          <p:nvPr/>
        </p:nvSpPr>
        <p:spPr>
          <a:xfrm>
            <a:off x="822960" y="3776472"/>
            <a:ext cx="1737360" cy="320040"/>
          </a:xfrm>
          <a:prstGeom prst="rect">
            <a:avLst/>
          </a:prstGeom>
          <a:noFill/>
          <a:ln/>
        </p:spPr>
        <p:txBody>
          <a:bodyPr wrap="square" lIns="0" tIns="0" rIns="0" bIns="0" rtlCol="0" anchor="ctr"/>
          <a:lstStyle/>
          <a:p>
            <a:pPr indent="0" marL="0">
              <a:buNone/>
            </a:pPr>
            <a:r>
              <a:rPr lang="en-US" sz="1200" dirty="0">
                <a:solidFill>
                  <a:srgbClr val="615E78"/>
                </a:solidFill>
                <a:latin typeface="Calibri" pitchFamily="34" charset="0"/>
                <a:ea typeface="Calibri" pitchFamily="34" charset="-122"/>
                <a:cs typeface="Calibri" pitchFamily="34" charset="-120"/>
              </a:rPr>
              <a:t>Before 5G (Jan–Apr)</a:t>
            </a:r>
            <a:endParaRPr lang="en-US" sz="1200" dirty="0"/>
          </a:p>
        </p:txBody>
      </p:sp>
      <p:sp>
        <p:nvSpPr>
          <p:cNvPr id="12" name="Text 10"/>
          <p:cNvSpPr txBox="1"/>
          <p:nvPr/>
        </p:nvSpPr>
        <p:spPr>
          <a:xfrm>
            <a:off x="2377440" y="3776472"/>
            <a:ext cx="1463040" cy="320040"/>
          </a:xfrm>
          <a:prstGeom prst="rect">
            <a:avLst/>
          </a:prstGeom>
          <a:noFill/>
          <a:ln/>
        </p:spPr>
        <p:txBody>
          <a:bodyPr wrap="square" lIns="0" tIns="0" rIns="0" bIns="0" rtlCol="0" anchor="ctr"/>
          <a:lstStyle/>
          <a:p>
            <a:pPr algn="r" indent="0" marL="0">
              <a:buNone/>
            </a:pPr>
            <a:r>
              <a:rPr lang="en-US" sz="1250" b="1" dirty="0">
                <a:solidFill>
                  <a:srgbClr val="1B1838"/>
                </a:solidFill>
                <a:latin typeface="Calibri" pitchFamily="34" charset="0"/>
                <a:ea typeface="Calibri" pitchFamily="34" charset="-122"/>
                <a:cs typeface="Calibri" pitchFamily="34" charset="-120"/>
              </a:rPr>
              <a:t>₹1,597.7 Cr</a:t>
            </a:r>
            <a:endParaRPr lang="en-US" sz="1250" dirty="0"/>
          </a:p>
        </p:txBody>
      </p:sp>
      <p:sp>
        <p:nvSpPr>
          <p:cNvPr id="13" name="Shape 11"/>
          <p:cNvSpPr/>
          <p:nvPr/>
        </p:nvSpPr>
        <p:spPr>
          <a:xfrm>
            <a:off x="822960" y="4160520"/>
            <a:ext cx="3017520" cy="0"/>
          </a:xfrm>
          <a:prstGeom prst="line">
            <a:avLst/>
          </a:prstGeom>
          <a:noFill/>
          <a:ln w="12700">
            <a:solidFill>
              <a:srgbClr val="E3E1EB"/>
            </a:solidFill>
            <a:prstDash val="solid"/>
          </a:ln>
        </p:spPr>
      </p:sp>
      <p:sp>
        <p:nvSpPr>
          <p:cNvPr id="14" name="Text 12"/>
          <p:cNvSpPr txBox="1"/>
          <p:nvPr/>
        </p:nvSpPr>
        <p:spPr>
          <a:xfrm>
            <a:off x="822960" y="4233672"/>
            <a:ext cx="1737360" cy="320040"/>
          </a:xfrm>
          <a:prstGeom prst="rect">
            <a:avLst/>
          </a:prstGeom>
          <a:noFill/>
          <a:ln/>
        </p:spPr>
        <p:txBody>
          <a:bodyPr wrap="square" lIns="0" tIns="0" rIns="0" bIns="0" rtlCol="0" anchor="ctr"/>
          <a:lstStyle/>
          <a:p>
            <a:pPr indent="0" marL="0">
              <a:buNone/>
            </a:pPr>
            <a:r>
              <a:rPr lang="en-US" sz="1200" dirty="0">
                <a:solidFill>
                  <a:srgbClr val="615E78"/>
                </a:solidFill>
                <a:latin typeface="Calibri" pitchFamily="34" charset="0"/>
                <a:ea typeface="Calibri" pitchFamily="34" charset="-122"/>
                <a:cs typeface="Calibri" pitchFamily="34" charset="-120"/>
              </a:rPr>
              <a:t>After 5G (Jun–Sep)</a:t>
            </a:r>
            <a:endParaRPr lang="en-US" sz="1200" dirty="0"/>
          </a:p>
        </p:txBody>
      </p:sp>
      <p:sp>
        <p:nvSpPr>
          <p:cNvPr id="15" name="Text 13"/>
          <p:cNvSpPr txBox="1"/>
          <p:nvPr/>
        </p:nvSpPr>
        <p:spPr>
          <a:xfrm>
            <a:off x="2377440" y="4233672"/>
            <a:ext cx="1463040" cy="320040"/>
          </a:xfrm>
          <a:prstGeom prst="rect">
            <a:avLst/>
          </a:prstGeom>
          <a:noFill/>
          <a:ln/>
        </p:spPr>
        <p:txBody>
          <a:bodyPr wrap="square" lIns="0" tIns="0" rIns="0" bIns="0" rtlCol="0" anchor="ctr"/>
          <a:lstStyle/>
          <a:p>
            <a:pPr algn="r" indent="0" marL="0">
              <a:buNone/>
            </a:pPr>
            <a:r>
              <a:rPr lang="en-US" sz="1250" b="1" dirty="0">
                <a:solidFill>
                  <a:srgbClr val="1B1838"/>
                </a:solidFill>
                <a:latin typeface="Calibri" pitchFamily="34" charset="0"/>
                <a:ea typeface="Calibri" pitchFamily="34" charset="-122"/>
                <a:cs typeface="Calibri" pitchFamily="34" charset="-120"/>
              </a:rPr>
              <a:t>₹1,589.7 Cr</a:t>
            </a:r>
            <a:endParaRPr lang="en-US" sz="1250" dirty="0"/>
          </a:p>
        </p:txBody>
      </p:sp>
      <p:sp>
        <p:nvSpPr>
          <p:cNvPr id="16" name="Shape 14"/>
          <p:cNvSpPr/>
          <p:nvPr/>
        </p:nvSpPr>
        <p:spPr>
          <a:xfrm>
            <a:off x="822960" y="4617720"/>
            <a:ext cx="3017520" cy="0"/>
          </a:xfrm>
          <a:prstGeom prst="line">
            <a:avLst/>
          </a:prstGeom>
          <a:noFill/>
          <a:ln w="12700">
            <a:solidFill>
              <a:srgbClr val="E3E1EB"/>
            </a:solidFill>
            <a:prstDash val="solid"/>
          </a:ln>
        </p:spPr>
      </p:sp>
      <p:sp>
        <p:nvSpPr>
          <p:cNvPr id="17" name="Text 15"/>
          <p:cNvSpPr txBox="1"/>
          <p:nvPr/>
        </p:nvSpPr>
        <p:spPr>
          <a:xfrm>
            <a:off x="822960" y="4690872"/>
            <a:ext cx="1737360" cy="320040"/>
          </a:xfrm>
          <a:prstGeom prst="rect">
            <a:avLst/>
          </a:prstGeom>
          <a:noFill/>
          <a:ln/>
        </p:spPr>
        <p:txBody>
          <a:bodyPr wrap="square" lIns="0" tIns="0" rIns="0" bIns="0" rtlCol="0" anchor="ctr"/>
          <a:lstStyle/>
          <a:p>
            <a:pPr indent="0" marL="0">
              <a:buNone/>
            </a:pPr>
            <a:r>
              <a:rPr lang="en-US" sz="1200" dirty="0">
                <a:solidFill>
                  <a:srgbClr val="615E78"/>
                </a:solidFill>
                <a:latin typeface="Calibri" pitchFamily="34" charset="0"/>
                <a:ea typeface="Calibri" pitchFamily="34" charset="-122"/>
                <a:cs typeface="Calibri" pitchFamily="34" charset="-120"/>
              </a:rPr>
              <a:t>Avg. monthly revenue</a:t>
            </a:r>
            <a:endParaRPr lang="en-US" sz="1200" dirty="0"/>
          </a:p>
        </p:txBody>
      </p:sp>
      <p:sp>
        <p:nvSpPr>
          <p:cNvPr id="18" name="Text 16"/>
          <p:cNvSpPr txBox="1"/>
          <p:nvPr/>
        </p:nvSpPr>
        <p:spPr>
          <a:xfrm>
            <a:off x="2377440" y="4690872"/>
            <a:ext cx="1463040" cy="320040"/>
          </a:xfrm>
          <a:prstGeom prst="rect">
            <a:avLst/>
          </a:prstGeom>
          <a:noFill/>
          <a:ln/>
        </p:spPr>
        <p:txBody>
          <a:bodyPr wrap="square" lIns="0" tIns="0" rIns="0" bIns="0" rtlCol="0" anchor="ctr"/>
          <a:lstStyle/>
          <a:p>
            <a:pPr algn="r" indent="0" marL="0">
              <a:buNone/>
            </a:pPr>
            <a:r>
              <a:rPr lang="en-US" sz="1250" b="1" dirty="0">
                <a:solidFill>
                  <a:srgbClr val="1B1838"/>
                </a:solidFill>
                <a:latin typeface="Calibri" pitchFamily="34" charset="0"/>
                <a:ea typeface="Calibri" pitchFamily="34" charset="-122"/>
                <a:cs typeface="Calibri" pitchFamily="34" charset="-120"/>
              </a:rPr>
              <a:t>₹399 → ₹397 Cr</a:t>
            </a:r>
            <a:endParaRPr lang="en-US" sz="1250" dirty="0"/>
          </a:p>
        </p:txBody>
      </p:sp>
      <p:sp>
        <p:nvSpPr>
          <p:cNvPr id="19" name="Text 17"/>
          <p:cNvSpPr txBox="1"/>
          <p:nvPr/>
        </p:nvSpPr>
        <p:spPr>
          <a:xfrm>
            <a:off x="822960" y="5166360"/>
            <a:ext cx="3063240" cy="822960"/>
          </a:xfrm>
          <a:prstGeom prst="rect">
            <a:avLst/>
          </a:prstGeom>
          <a:noFill/>
          <a:ln/>
        </p:spPr>
        <p:txBody>
          <a:bodyPr wrap="square" lIns="0" tIns="0" rIns="0" bIns="0" rtlCol="0" anchor="t"/>
          <a:lstStyle/>
          <a:p>
            <a:pPr indent="0" marL="0">
              <a:buNone/>
            </a:pPr>
            <a:r>
              <a:rPr lang="en-US" sz="1200" b="1" dirty="0">
                <a:solidFill>
                  <a:srgbClr val="1B1838"/>
                </a:solidFill>
                <a:latin typeface="Calibri" pitchFamily="34" charset="0"/>
                <a:ea typeface="Calibri" pitchFamily="34" charset="-122"/>
                <a:cs typeface="Calibri" pitchFamily="34" charset="-120"/>
              </a:rPr>
              <a:t>6 of 15 cities declined</a:t>
            </a:r>
            <a:endParaRPr lang="en-US" sz="1200" dirty="0"/>
          </a:p>
          <a:p>
            <a:pPr indent="0" marL="0">
              <a:buNone/>
            </a:pPr>
            <a:r>
              <a:rPr lang="en-US" sz="1200" dirty="0">
                <a:solidFill>
                  <a:srgbClr val="615E78"/>
                </a:solidFill>
                <a:latin typeface="Calibri" pitchFamily="34" charset="0"/>
                <a:ea typeface="Calibri" pitchFamily="34" charset="-122"/>
                <a:cs typeface="Calibri" pitchFamily="34" charset="-120"/>
              </a:rPr>
              <a:t>Delhi −2.8% · Chennai −2.6% · Ahmedabad −2.0%</a:t>
            </a:r>
            <a:endParaRPr lang="en-US" sz="1200" dirty="0"/>
          </a:p>
        </p:txBody>
      </p:sp>
      <p:sp>
        <p:nvSpPr>
          <p:cNvPr id="20" name="Text 18"/>
          <p:cNvSpPr txBox="1"/>
          <p:nvPr/>
        </p:nvSpPr>
        <p:spPr>
          <a:xfrm>
            <a:off x="4480560" y="1737360"/>
            <a:ext cx="713232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Monthly revenue, ₹ Cr (matched month pairs)</a:t>
            </a:r>
            <a:endParaRPr lang="en-US" sz="1300" dirty="0"/>
          </a:p>
        </p:txBody>
      </p:sp>
      <p:graphicFrame>
        <p:nvGraphicFramePr>
          <p:cNvPr id="21" name="Chart 0" descr=""/>
          <p:cNvGraphicFramePr/>
          <p:nvPr/>
        </p:nvGraphicFramePr>
        <p:xfrm>
          <a:off x="4389120" y="2011680"/>
          <a:ext cx="7269480" cy="35661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4480560" y="5715000"/>
            <a:ext cx="7132320" cy="365760"/>
          </a:xfrm>
          <a:prstGeom prst="rect">
            <a:avLst/>
          </a:prstGeom>
          <a:noFill/>
          <a:ln/>
        </p:spPr>
        <p:txBody>
          <a:bodyPr wrap="square" lIns="0" tIns="0" rIns="0" bIns="0" rtlCol="0" anchor="t"/>
          <a:lstStyle/>
          <a:p>
            <a:pPr algn="ctr" indent="0" marL="0">
              <a:buNone/>
            </a:pPr>
            <a:r>
              <a:rPr lang="en-US" sz="1200" dirty="0">
                <a:solidFill>
                  <a:srgbClr val="615E78"/>
                </a:solidFill>
                <a:latin typeface="Calibri" pitchFamily="34" charset="0"/>
                <a:ea typeface="Calibri" pitchFamily="34" charset="-122"/>
                <a:cs typeface="Calibri" pitchFamily="34" charset="-120"/>
              </a:rPr>
              <a:t>Change by month pair:  </a:t>
            </a:r>
            <a:pPr algn="ctr" indent="0" marL="0">
              <a:buNone/>
            </a:pPr>
            <a:r>
              <a:rPr lang="en-US" sz="1200" dirty="0">
                <a:solidFill>
                  <a:srgbClr val="615E78"/>
                </a:solidFill>
                <a:latin typeface="Calibri" pitchFamily="34" charset="0"/>
                <a:ea typeface="Calibri" pitchFamily="34" charset="-122"/>
                <a:cs typeface="Calibri" pitchFamily="34" charset="-120"/>
              </a:rPr>
              <a:t>Jan / Jun </a:t>
            </a:r>
            <a:pPr algn="ctr" indent="0" marL="0">
              <a:buNone/>
            </a:pPr>
            <a:r>
              <a:rPr lang="en-US" sz="1200" b="1" dirty="0">
                <a:solidFill>
                  <a:srgbClr val="0B6E51"/>
                </a:solidFill>
                <a:latin typeface="Calibri" pitchFamily="34" charset="0"/>
                <a:ea typeface="Calibri" pitchFamily="34" charset="-122"/>
                <a:cs typeface="Calibri" pitchFamily="34" charset="-120"/>
              </a:rPr>
              <a:t>+0.9%</a:t>
            </a:r>
            <a:pPr algn="ctr" indent="0" marL="0">
              <a:buNone/>
            </a:pPr>
            <a:r>
              <a:rPr lang="en-US" sz="1200" dirty="0">
                <a:solidFill>
                  <a:srgbClr val="615E78"/>
                </a:solidFill>
                <a:latin typeface="Calibri" pitchFamily="34" charset="0"/>
                <a:ea typeface="Calibri" pitchFamily="34" charset="-122"/>
                <a:cs typeface="Calibri" pitchFamily="34" charset="-120"/>
              </a:rPr>
              <a:t>   ·   </a:t>
            </a:r>
            <a:pPr algn="ctr" indent="0" marL="0">
              <a:buNone/>
            </a:pPr>
            <a:r>
              <a:rPr lang="en-US" sz="1200" dirty="0">
                <a:solidFill>
                  <a:srgbClr val="615E78"/>
                </a:solidFill>
                <a:latin typeface="Calibri" pitchFamily="34" charset="0"/>
                <a:ea typeface="Calibri" pitchFamily="34" charset="-122"/>
                <a:cs typeface="Calibri" pitchFamily="34" charset="-120"/>
              </a:rPr>
              <a:t>Feb / Jul </a:t>
            </a:r>
            <a:pPr algn="ctr" indent="0" marL="0">
              <a:buNone/>
            </a:pPr>
            <a:r>
              <a:rPr lang="en-US" sz="1200" b="1" dirty="0">
                <a:solidFill>
                  <a:srgbClr val="A3262B"/>
                </a:solidFill>
                <a:latin typeface="Calibri" pitchFamily="34" charset="0"/>
                <a:ea typeface="Calibri" pitchFamily="34" charset="-122"/>
                <a:cs typeface="Calibri" pitchFamily="34" charset="-120"/>
              </a:rPr>
              <a:t>−3.0%</a:t>
            </a:r>
            <a:pPr algn="ctr" indent="0" marL="0">
              <a:buNone/>
            </a:pPr>
            <a:r>
              <a:rPr lang="en-US" sz="1200" dirty="0">
                <a:solidFill>
                  <a:srgbClr val="615E78"/>
                </a:solidFill>
                <a:latin typeface="Calibri" pitchFamily="34" charset="0"/>
                <a:ea typeface="Calibri" pitchFamily="34" charset="-122"/>
                <a:cs typeface="Calibri" pitchFamily="34" charset="-120"/>
              </a:rPr>
              <a:t>   ·   </a:t>
            </a:r>
            <a:pPr algn="ctr" indent="0" marL="0">
              <a:buNone/>
            </a:pPr>
            <a:r>
              <a:rPr lang="en-US" sz="1200" dirty="0">
                <a:solidFill>
                  <a:srgbClr val="615E78"/>
                </a:solidFill>
                <a:latin typeface="Calibri" pitchFamily="34" charset="0"/>
                <a:ea typeface="Calibri" pitchFamily="34" charset="-122"/>
                <a:cs typeface="Calibri" pitchFamily="34" charset="-120"/>
              </a:rPr>
              <a:t>Mar / Aug </a:t>
            </a:r>
            <a:pPr algn="ctr" indent="0" marL="0">
              <a:buNone/>
            </a:pPr>
            <a:r>
              <a:rPr lang="en-US" sz="1200" b="1" dirty="0">
                <a:solidFill>
                  <a:srgbClr val="0B6E51"/>
                </a:solidFill>
                <a:latin typeface="Calibri" pitchFamily="34" charset="0"/>
                <a:ea typeface="Calibri" pitchFamily="34" charset="-122"/>
                <a:cs typeface="Calibri" pitchFamily="34" charset="-120"/>
              </a:rPr>
              <a:t>+2.1%</a:t>
            </a:r>
            <a:pPr algn="ctr" indent="0" marL="0">
              <a:buNone/>
            </a:pPr>
            <a:r>
              <a:rPr lang="en-US" sz="1200" dirty="0">
                <a:solidFill>
                  <a:srgbClr val="615E78"/>
                </a:solidFill>
                <a:latin typeface="Calibri" pitchFamily="34" charset="0"/>
                <a:ea typeface="Calibri" pitchFamily="34" charset="-122"/>
                <a:cs typeface="Calibri" pitchFamily="34" charset="-120"/>
              </a:rPr>
              <a:t>   ·   </a:t>
            </a:r>
            <a:pPr algn="ctr" indent="0" marL="0">
              <a:buNone/>
            </a:pPr>
            <a:r>
              <a:rPr lang="en-US" sz="1200" dirty="0">
                <a:solidFill>
                  <a:srgbClr val="615E78"/>
                </a:solidFill>
                <a:latin typeface="Calibri" pitchFamily="34" charset="0"/>
                <a:ea typeface="Calibri" pitchFamily="34" charset="-122"/>
                <a:cs typeface="Calibri" pitchFamily="34" charset="-120"/>
              </a:rPr>
              <a:t>Apr / Sep </a:t>
            </a:r>
            <a:pPr algn="ctr" indent="0" marL="0">
              <a:buNone/>
            </a:pPr>
            <a:r>
              <a:rPr lang="en-US" sz="1200" b="1" dirty="0">
                <a:solidFill>
                  <a:srgbClr val="A3262B"/>
                </a:solidFill>
                <a:latin typeface="Calibri" pitchFamily="34" charset="0"/>
                <a:ea typeface="Calibri" pitchFamily="34" charset="-122"/>
                <a:cs typeface="Calibri" pitchFamily="34" charset="-120"/>
              </a:rPr>
              <a:t>−1.7%</a:t>
            </a:r>
            <a:endParaRPr lang="en-US" sz="1200" dirty="0"/>
          </a:p>
        </p:txBody>
      </p:sp>
      <p:sp>
        <p:nvSpPr>
          <p:cNvPr id="23" name="Text 20"/>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24" name="Text 21"/>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sp>
        <p:nvSpPr>
          <p:cNvPr id="3" name="Text 1"/>
          <p:cNvSpPr txBox="1"/>
          <p:nvPr/>
        </p:nvSpPr>
        <p:spPr>
          <a:xfrm>
            <a:off x="548640" y="457200"/>
            <a:ext cx="658368"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Q1</a:t>
            </a:r>
            <a:endParaRPr lang="en-US" sz="1700" dirty="0"/>
          </a:p>
        </p:txBody>
      </p:sp>
      <p:sp>
        <p:nvSpPr>
          <p:cNvPr id="4" name="Text 2"/>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Q1 · REVENUE IN CONTEXT</a:t>
            </a:r>
            <a:endParaRPr lang="en-US" sz="1200" dirty="0"/>
          </a:p>
        </p:txBody>
      </p:sp>
      <p:sp>
        <p:nvSpPr>
          <p:cNvPr id="5" name="Text 3"/>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Flat is a loss: the market grew 6.8% and every rival grew about 8.5%</a:t>
            </a:r>
            <a:endParaRPr lang="en-US" sz="2500" dirty="0"/>
          </a:p>
        </p:txBody>
      </p:sp>
      <p:sp>
        <p:nvSpPr>
          <p:cNvPr id="6" name="Text 4"/>
          <p:cNvSpPr txBox="1"/>
          <p:nvPr/>
        </p:nvSpPr>
        <p:spPr>
          <a:xfrm>
            <a:off x="548640" y="1737360"/>
            <a:ext cx="658368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Revenue growth after the 5G launch, by operator</a:t>
            </a:r>
            <a:endParaRPr lang="en-US" sz="1300" dirty="0"/>
          </a:p>
        </p:txBody>
      </p:sp>
      <p:sp>
        <p:nvSpPr>
          <p:cNvPr id="7" name="Text 5"/>
          <p:cNvSpPr txBox="1"/>
          <p:nvPr/>
        </p:nvSpPr>
        <p:spPr>
          <a:xfrm>
            <a:off x="548640" y="2011680"/>
            <a:ext cx="658368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Operator revenue = city market value × market share</a:t>
            </a:r>
            <a:endParaRPr lang="en-US" sz="1050" dirty="0"/>
          </a:p>
        </p:txBody>
      </p:sp>
      <p:graphicFrame>
        <p:nvGraphicFramePr>
          <p:cNvPr id="8" name="Chart 0" descr=""/>
          <p:cNvGraphicFramePr/>
          <p:nvPr/>
        </p:nvGraphicFramePr>
        <p:xfrm>
          <a:off x="457200" y="228600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5897880"/>
            <a:ext cx="6583680" cy="320040"/>
          </a:xfrm>
          <a:prstGeom prst="rect">
            <a:avLst/>
          </a:prstGeom>
          <a:noFill/>
          <a:ln/>
        </p:spPr>
        <p:txBody>
          <a:bodyPr wrap="square" lIns="0" tIns="0" rIns="0" bIns="0" rtlCol="0" anchor="t"/>
          <a:lstStyle/>
          <a:p>
            <a:pPr indent="0" marL="0">
              <a:buNone/>
            </a:pPr>
            <a:r>
              <a:rPr lang="en-US" sz="1200" i="1" dirty="0">
                <a:solidFill>
                  <a:srgbClr val="615E78"/>
                </a:solidFill>
                <a:latin typeface="Calibri" pitchFamily="34" charset="0"/>
                <a:ea typeface="Calibri" pitchFamily="34" charset="-122"/>
                <a:cs typeface="Calibri" pitchFamily="34" charset="-120"/>
              </a:rPr>
              <a:t>PIO (+0.60 pp) and Britel (+0.46 pp) took most of the share we lost.</a:t>
            </a:r>
            <a:endParaRPr lang="en-US" sz="1200" dirty="0"/>
          </a:p>
        </p:txBody>
      </p:sp>
      <p:sp>
        <p:nvSpPr>
          <p:cNvPr id="10" name="Shape 7"/>
          <p:cNvSpPr/>
          <p:nvPr/>
        </p:nvSpPr>
        <p:spPr>
          <a:xfrm>
            <a:off x="7589520" y="1737360"/>
            <a:ext cx="4050792" cy="1325880"/>
          </a:xfrm>
          <a:prstGeom prst="roundRect">
            <a:avLst>
              <a:gd name="adj" fmla="val 5517"/>
            </a:avLst>
          </a:prstGeom>
          <a:solidFill>
            <a:srgbClr val="F5F4FA"/>
          </a:solidFill>
          <a:ln w="12700">
            <a:solidFill>
              <a:srgbClr val="F5F4FA"/>
            </a:solidFill>
            <a:prstDash val="solid"/>
          </a:ln>
        </p:spPr>
      </p:sp>
      <p:sp>
        <p:nvSpPr>
          <p:cNvPr id="11" name="Text 8"/>
          <p:cNvSpPr txBox="1"/>
          <p:nvPr/>
        </p:nvSpPr>
        <p:spPr>
          <a:xfrm>
            <a:off x="7863840" y="1920240"/>
            <a:ext cx="3566160" cy="548640"/>
          </a:xfrm>
          <a:prstGeom prst="rect">
            <a:avLst/>
          </a:prstGeom>
          <a:noFill/>
          <a:ln/>
        </p:spPr>
        <p:txBody>
          <a:bodyPr wrap="square" lIns="0" tIns="0" rIns="0" bIns="0" rtlCol="0" anchor="t"/>
          <a:lstStyle/>
          <a:p>
            <a:pPr indent="0" marL="0">
              <a:buNone/>
            </a:pPr>
            <a:r>
              <a:rPr lang="en-US" sz="3000" b="1" dirty="0">
                <a:solidFill>
                  <a:srgbClr val="E5484D"/>
                </a:solidFill>
                <a:latin typeface="Calibri" pitchFamily="34" charset="0"/>
                <a:ea typeface="Calibri" pitchFamily="34" charset="-122"/>
                <a:cs typeface="Calibri" pitchFamily="34" charset="-120"/>
              </a:rPr>
              <a:t>20.2% → 18.9%</a:t>
            </a:r>
            <a:endParaRPr lang="en-US" sz="3000" dirty="0"/>
          </a:p>
        </p:txBody>
      </p:sp>
      <p:sp>
        <p:nvSpPr>
          <p:cNvPr id="12" name="Text 9"/>
          <p:cNvSpPr txBox="1"/>
          <p:nvPr/>
        </p:nvSpPr>
        <p:spPr>
          <a:xfrm>
            <a:off x="7863840" y="2487168"/>
            <a:ext cx="3566160" cy="457200"/>
          </a:xfrm>
          <a:prstGeom prst="rect">
            <a:avLst/>
          </a:prstGeom>
          <a:noFill/>
          <a:ln/>
        </p:spPr>
        <p:txBody>
          <a:bodyPr wrap="square" lIns="0" tIns="0" rIns="0" bIns="0" rtlCol="0" anchor="t"/>
          <a:lstStyle/>
          <a:p>
            <a:pPr indent="0" marL="0">
              <a:buNone/>
            </a:pPr>
            <a:r>
              <a:rPr lang="en-US" sz="1200" dirty="0">
                <a:solidFill>
                  <a:srgbClr val="615E78"/>
                </a:solidFill>
                <a:latin typeface="Calibri" pitchFamily="34" charset="0"/>
                <a:ea typeface="Calibri" pitchFamily="34" charset="-122"/>
                <a:cs typeface="Calibri" pitchFamily="34" charset="-120"/>
              </a:rPr>
              <a:t>WaveCon market share (−1.35 pp)</a:t>
            </a:r>
            <a:endParaRPr lang="en-US" sz="1200" dirty="0"/>
          </a:p>
        </p:txBody>
      </p:sp>
      <p:sp>
        <p:nvSpPr>
          <p:cNvPr id="13" name="Shape 10"/>
          <p:cNvSpPr/>
          <p:nvPr/>
        </p:nvSpPr>
        <p:spPr>
          <a:xfrm>
            <a:off x="7589520" y="3246120"/>
            <a:ext cx="4050792" cy="1325880"/>
          </a:xfrm>
          <a:prstGeom prst="roundRect">
            <a:avLst>
              <a:gd name="adj" fmla="val 5517"/>
            </a:avLst>
          </a:prstGeom>
          <a:solidFill>
            <a:srgbClr val="F5F4FA"/>
          </a:solidFill>
          <a:ln w="12700">
            <a:solidFill>
              <a:srgbClr val="F5F4FA"/>
            </a:solidFill>
            <a:prstDash val="solid"/>
          </a:ln>
        </p:spPr>
      </p:sp>
      <p:sp>
        <p:nvSpPr>
          <p:cNvPr id="14" name="Text 11"/>
          <p:cNvSpPr txBox="1"/>
          <p:nvPr/>
        </p:nvSpPr>
        <p:spPr>
          <a:xfrm>
            <a:off x="7863840" y="3429000"/>
            <a:ext cx="3566160" cy="548640"/>
          </a:xfrm>
          <a:prstGeom prst="rect">
            <a:avLst/>
          </a:prstGeom>
          <a:noFill/>
          <a:ln/>
        </p:spPr>
        <p:txBody>
          <a:bodyPr wrap="square" lIns="0" tIns="0" rIns="0" bIns="0" rtlCol="0" anchor="t"/>
          <a:lstStyle/>
          <a:p>
            <a:pPr indent="0" marL="0">
              <a:buNone/>
            </a:pPr>
            <a:r>
              <a:rPr lang="en-US" sz="3000" b="1" dirty="0">
                <a:solidFill>
                  <a:srgbClr val="E5484D"/>
                </a:solidFill>
                <a:latin typeface="Calibri" pitchFamily="34" charset="0"/>
                <a:ea typeface="Calibri" pitchFamily="34" charset="-122"/>
                <a:cs typeface="Calibri" pitchFamily="34" charset="-120"/>
              </a:rPr>
              <a:t>15 of 15</a:t>
            </a:r>
            <a:endParaRPr lang="en-US" sz="3000" dirty="0"/>
          </a:p>
        </p:txBody>
      </p:sp>
      <p:sp>
        <p:nvSpPr>
          <p:cNvPr id="15" name="Text 12"/>
          <p:cNvSpPr txBox="1"/>
          <p:nvPr/>
        </p:nvSpPr>
        <p:spPr>
          <a:xfrm>
            <a:off x="7863840" y="3995928"/>
            <a:ext cx="3566160" cy="457200"/>
          </a:xfrm>
          <a:prstGeom prst="rect">
            <a:avLst/>
          </a:prstGeom>
          <a:noFill/>
          <a:ln/>
        </p:spPr>
        <p:txBody>
          <a:bodyPr wrap="square" lIns="0" tIns="0" rIns="0" bIns="0" rtlCol="0" anchor="t"/>
          <a:lstStyle/>
          <a:p>
            <a:pPr indent="0" marL="0">
              <a:buNone/>
            </a:pPr>
            <a:r>
              <a:rPr lang="en-US" sz="1200" dirty="0">
                <a:solidFill>
                  <a:srgbClr val="615E78"/>
                </a:solidFill>
                <a:latin typeface="Calibri" pitchFamily="34" charset="0"/>
                <a:ea typeface="Calibri" pitchFamily="34" charset="-122"/>
                <a:cs typeface="Calibri" pitchFamily="34" charset="-120"/>
              </a:rPr>
              <a:t>cities where we lost share (−1.3 to −1.5 pp each)</a:t>
            </a:r>
            <a:endParaRPr lang="en-US" sz="1200" dirty="0"/>
          </a:p>
        </p:txBody>
      </p:sp>
      <p:sp>
        <p:nvSpPr>
          <p:cNvPr id="16" name="Shape 13"/>
          <p:cNvSpPr/>
          <p:nvPr/>
        </p:nvSpPr>
        <p:spPr>
          <a:xfrm>
            <a:off x="7589520" y="4754880"/>
            <a:ext cx="4050792" cy="1325880"/>
          </a:xfrm>
          <a:prstGeom prst="roundRect">
            <a:avLst>
              <a:gd name="adj" fmla="val 5517"/>
            </a:avLst>
          </a:prstGeom>
          <a:solidFill>
            <a:srgbClr val="F5F4FA"/>
          </a:solidFill>
          <a:ln w="12700">
            <a:solidFill>
              <a:srgbClr val="F5F4FA"/>
            </a:solidFill>
            <a:prstDash val="solid"/>
          </a:ln>
        </p:spPr>
      </p:sp>
      <p:sp>
        <p:nvSpPr>
          <p:cNvPr id="17" name="Text 14"/>
          <p:cNvSpPr txBox="1"/>
          <p:nvPr/>
        </p:nvSpPr>
        <p:spPr>
          <a:xfrm>
            <a:off x="7863840" y="4937760"/>
            <a:ext cx="3566160" cy="548640"/>
          </a:xfrm>
          <a:prstGeom prst="rect">
            <a:avLst/>
          </a:prstGeom>
          <a:noFill/>
          <a:ln/>
        </p:spPr>
        <p:txBody>
          <a:bodyPr wrap="square" lIns="0" tIns="0" rIns="0" bIns="0" rtlCol="0" anchor="t"/>
          <a:lstStyle/>
          <a:p>
            <a:pPr indent="0" marL="0">
              <a:buNone/>
            </a:pPr>
            <a:r>
              <a:rPr lang="en-US" sz="3000" b="1" dirty="0">
                <a:solidFill>
                  <a:srgbClr val="5B3DF5"/>
                </a:solidFill>
                <a:latin typeface="Calibri" pitchFamily="34" charset="0"/>
                <a:ea typeface="Calibri" pitchFamily="34" charset="-122"/>
                <a:cs typeface="Calibri" pitchFamily="34" charset="-120"/>
              </a:rPr>
              <a:t>₹116 Cr</a:t>
            </a:r>
            <a:endParaRPr lang="en-US" sz="3000" dirty="0"/>
          </a:p>
        </p:txBody>
      </p:sp>
      <p:sp>
        <p:nvSpPr>
          <p:cNvPr id="18" name="Text 15"/>
          <p:cNvSpPr txBox="1"/>
          <p:nvPr/>
        </p:nvSpPr>
        <p:spPr>
          <a:xfrm>
            <a:off x="7863840" y="5504688"/>
            <a:ext cx="3566160" cy="457200"/>
          </a:xfrm>
          <a:prstGeom prst="rect">
            <a:avLst/>
          </a:prstGeom>
          <a:noFill/>
          <a:ln/>
        </p:spPr>
        <p:txBody>
          <a:bodyPr wrap="square" lIns="0" tIns="0" rIns="0" bIns="0" rtlCol="0" anchor="t"/>
          <a:lstStyle/>
          <a:p>
            <a:pPr indent="0" marL="0">
              <a:buNone/>
            </a:pPr>
            <a:r>
              <a:rPr lang="en-US" sz="1200" dirty="0">
                <a:solidFill>
                  <a:srgbClr val="615E78"/>
                </a:solidFill>
                <a:latin typeface="Calibri" pitchFamily="34" charset="0"/>
                <a:ea typeface="Calibri" pitchFamily="34" charset="-122"/>
                <a:cs typeface="Calibri" pitchFamily="34" charset="-120"/>
              </a:rPr>
              <a:t>revenue we would have added by holding our pre-launch share in each city</a:t>
            </a:r>
            <a:endParaRPr lang="en-US" sz="1200" dirty="0"/>
          </a:p>
        </p:txBody>
      </p:sp>
      <p:sp>
        <p:nvSpPr>
          <p:cNvPr id="19" name="Text 16"/>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20" name="Text 17"/>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sp>
        <p:nvSpPr>
          <p:cNvPr id="3" name="Text 1"/>
          <p:cNvSpPr txBox="1"/>
          <p:nvPr/>
        </p:nvSpPr>
        <p:spPr>
          <a:xfrm>
            <a:off x="548640" y="457200"/>
            <a:ext cx="658368"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Q2</a:t>
            </a:r>
            <a:endParaRPr lang="en-US" sz="1700" dirty="0"/>
          </a:p>
        </p:txBody>
      </p:sp>
      <p:sp>
        <p:nvSpPr>
          <p:cNvPr id="4" name="Text 2"/>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Q2 · KPI SCORECARD</a:t>
            </a:r>
            <a:endParaRPr lang="en-US" sz="1200" dirty="0"/>
          </a:p>
        </p:txBody>
      </p:sp>
      <p:sp>
        <p:nvSpPr>
          <p:cNvPr id="5" name="Text 3"/>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Active users is the KPI that broke; ARPU is what kept revenue up</a:t>
            </a:r>
            <a:endParaRPr lang="en-US" sz="2500" dirty="0"/>
          </a:p>
        </p:txBody>
      </p:sp>
      <p:sp>
        <p:nvSpPr>
          <p:cNvPr id="6" name="Shape 4"/>
          <p:cNvSpPr/>
          <p:nvPr/>
        </p:nvSpPr>
        <p:spPr>
          <a:xfrm>
            <a:off x="548640" y="1737360"/>
            <a:ext cx="2560320" cy="2514600"/>
          </a:xfrm>
          <a:prstGeom prst="roundRect">
            <a:avLst>
              <a:gd name="adj" fmla="val 2909"/>
            </a:avLst>
          </a:prstGeom>
          <a:solidFill>
            <a:srgbClr val="F5F4FA"/>
          </a:solidFill>
          <a:ln w="12700">
            <a:solidFill>
              <a:srgbClr val="F5F4FA"/>
            </a:solidFill>
            <a:prstDash val="solid"/>
          </a:ln>
        </p:spPr>
      </p:sp>
      <p:sp>
        <p:nvSpPr>
          <p:cNvPr id="7" name="Shape 5"/>
          <p:cNvSpPr/>
          <p:nvPr/>
        </p:nvSpPr>
        <p:spPr>
          <a:xfrm>
            <a:off x="777240" y="1965960"/>
            <a:ext cx="502920" cy="50292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900684" y="2089404"/>
            <a:ext cx="256032" cy="256032"/>
          </a:xfrm>
          <a:prstGeom prst="rect">
            <a:avLst/>
          </a:prstGeom>
        </p:spPr>
      </p:pic>
      <p:sp>
        <p:nvSpPr>
          <p:cNvPr id="9" name="Text 6"/>
          <p:cNvSpPr txBox="1"/>
          <p:nvPr/>
        </p:nvSpPr>
        <p:spPr>
          <a:xfrm>
            <a:off x="1417320" y="1965960"/>
            <a:ext cx="1554480" cy="502920"/>
          </a:xfrm>
          <a:prstGeom prst="rect">
            <a:avLst/>
          </a:prstGeom>
          <a:noFill/>
          <a:ln/>
        </p:spPr>
        <p:txBody>
          <a:bodyPr wrap="square" lIns="0" tIns="0" rIns="0" bIns="0" rtlCol="0" anchor="ctr"/>
          <a:lstStyle/>
          <a:p>
            <a:pPr indent="0" marL="0">
              <a:buNone/>
            </a:pPr>
            <a:r>
              <a:rPr lang="en-US" sz="1400" b="1" dirty="0">
                <a:solidFill>
                  <a:srgbClr val="1B1838"/>
                </a:solidFill>
                <a:latin typeface="Calibri" pitchFamily="34" charset="0"/>
                <a:ea typeface="Calibri" pitchFamily="34" charset="-122"/>
                <a:cs typeface="Calibri" pitchFamily="34" charset="-120"/>
              </a:rPr>
              <a:t>Revenue</a:t>
            </a:r>
            <a:endParaRPr lang="en-US" sz="1400" dirty="0"/>
          </a:p>
        </p:txBody>
      </p:sp>
      <p:sp>
        <p:nvSpPr>
          <p:cNvPr id="10" name="Text 7"/>
          <p:cNvSpPr txBox="1"/>
          <p:nvPr/>
        </p:nvSpPr>
        <p:spPr>
          <a:xfrm>
            <a:off x="777240" y="2606040"/>
            <a:ext cx="2103120" cy="731520"/>
          </a:xfrm>
          <a:prstGeom prst="rect">
            <a:avLst/>
          </a:prstGeom>
          <a:noFill/>
          <a:ln/>
        </p:spPr>
        <p:txBody>
          <a:bodyPr wrap="square" lIns="0" tIns="0" rIns="0" bIns="0" rtlCol="0" anchor="t"/>
          <a:lstStyle/>
          <a:p>
            <a:pPr indent="0" marL="0">
              <a:buNone/>
            </a:pPr>
            <a:r>
              <a:rPr lang="en-US" sz="4000" b="1" dirty="0">
                <a:solidFill>
                  <a:srgbClr val="D99100"/>
                </a:solidFill>
                <a:latin typeface="Calibri" pitchFamily="34" charset="0"/>
                <a:ea typeface="Calibri" pitchFamily="34" charset="-122"/>
                <a:cs typeface="Calibri" pitchFamily="34" charset="-120"/>
              </a:rPr>
              <a:t>−0.5%</a:t>
            </a:r>
            <a:endParaRPr lang="en-US" sz="4000" dirty="0"/>
          </a:p>
        </p:txBody>
      </p:sp>
      <p:sp>
        <p:nvSpPr>
          <p:cNvPr id="11" name="Text 8"/>
          <p:cNvSpPr txBox="1"/>
          <p:nvPr/>
        </p:nvSpPr>
        <p:spPr>
          <a:xfrm>
            <a:off x="777240" y="3337560"/>
            <a:ext cx="2103120" cy="320040"/>
          </a:xfrm>
          <a:prstGeom prst="rect">
            <a:avLst/>
          </a:prstGeom>
          <a:noFill/>
          <a:ln/>
        </p:spPr>
        <p:txBody>
          <a:bodyPr wrap="square" lIns="0" tIns="0" rIns="0" bIns="0" rtlCol="0" anchor="t"/>
          <a:lstStyle/>
          <a:p>
            <a:pPr indent="0" marL="0">
              <a:buNone/>
            </a:pPr>
            <a:r>
              <a:rPr lang="en-US" sz="1200" dirty="0">
                <a:solidFill>
                  <a:srgbClr val="615E78"/>
                </a:solidFill>
                <a:latin typeface="Calibri" pitchFamily="34" charset="0"/>
                <a:ea typeface="Calibri" pitchFamily="34" charset="-122"/>
                <a:cs typeface="Calibri" pitchFamily="34" charset="-120"/>
              </a:rPr>
              <a:t>₹1,597.7 Cr → ₹1,589.7 Cr</a:t>
            </a:r>
            <a:endParaRPr lang="en-US" sz="1200" dirty="0"/>
          </a:p>
        </p:txBody>
      </p:sp>
      <p:sp>
        <p:nvSpPr>
          <p:cNvPr id="12" name="Shape 9"/>
          <p:cNvSpPr/>
          <p:nvPr/>
        </p:nvSpPr>
        <p:spPr>
          <a:xfrm>
            <a:off x="777240" y="3749040"/>
            <a:ext cx="1188720" cy="274320"/>
          </a:xfrm>
          <a:prstGeom prst="roundRect">
            <a:avLst>
              <a:gd name="adj" fmla="val 50000"/>
            </a:avLst>
          </a:prstGeom>
          <a:solidFill>
            <a:srgbClr val="FDF2DA"/>
          </a:solidFill>
          <a:ln w="12700">
            <a:solidFill>
              <a:srgbClr val="FDF2DA"/>
            </a:solidFill>
            <a:prstDash val="solid"/>
          </a:ln>
        </p:spPr>
      </p:sp>
      <p:sp>
        <p:nvSpPr>
          <p:cNvPr id="13" name="Text 10"/>
          <p:cNvSpPr txBox="1"/>
          <p:nvPr/>
        </p:nvSpPr>
        <p:spPr>
          <a:xfrm>
            <a:off x="777240" y="3749040"/>
            <a:ext cx="1188720" cy="274320"/>
          </a:xfrm>
          <a:prstGeom prst="rect">
            <a:avLst/>
          </a:prstGeom>
          <a:noFill/>
          <a:ln/>
        </p:spPr>
        <p:txBody>
          <a:bodyPr wrap="square" lIns="0" tIns="0" rIns="0" bIns="0" rtlCol="0" anchor="ctr"/>
          <a:lstStyle/>
          <a:p>
            <a:pPr algn="ctr" indent="0" marL="0">
              <a:buNone/>
            </a:pPr>
            <a:r>
              <a:rPr lang="en-US" sz="1000" b="1" spc="100" kern="0" dirty="0">
                <a:solidFill>
                  <a:srgbClr val="8A5B00"/>
                </a:solidFill>
                <a:latin typeface="Calibri" pitchFamily="34" charset="0"/>
                <a:ea typeface="Calibri" pitchFamily="34" charset="-122"/>
                <a:cs typeface="Calibri" pitchFamily="34" charset="-120"/>
              </a:rPr>
              <a:t>FLAT</a:t>
            </a:r>
            <a:endParaRPr lang="en-US" sz="1000" dirty="0"/>
          </a:p>
        </p:txBody>
      </p:sp>
      <p:sp>
        <p:nvSpPr>
          <p:cNvPr id="14" name="Shape 11"/>
          <p:cNvSpPr/>
          <p:nvPr/>
        </p:nvSpPr>
        <p:spPr>
          <a:xfrm>
            <a:off x="3392424" y="1737360"/>
            <a:ext cx="2560320" cy="2514600"/>
          </a:xfrm>
          <a:prstGeom prst="roundRect">
            <a:avLst>
              <a:gd name="adj" fmla="val 2909"/>
            </a:avLst>
          </a:prstGeom>
          <a:solidFill>
            <a:srgbClr val="F5F4FA"/>
          </a:solidFill>
          <a:ln w="12700">
            <a:solidFill>
              <a:srgbClr val="F5F4FA"/>
            </a:solidFill>
            <a:prstDash val="solid"/>
          </a:ln>
        </p:spPr>
      </p:sp>
      <p:sp>
        <p:nvSpPr>
          <p:cNvPr id="15" name="Shape 12"/>
          <p:cNvSpPr/>
          <p:nvPr/>
        </p:nvSpPr>
        <p:spPr>
          <a:xfrm>
            <a:off x="3621024" y="1965960"/>
            <a:ext cx="502920" cy="502920"/>
          </a:xfrm>
          <a:prstGeom prst="ellipse">
            <a:avLst/>
          </a:prstGeom>
          <a:solidFill>
            <a:srgbClr val="FFFFFF"/>
          </a:solidFill>
          <a:ln w="12700">
            <a:solidFill>
              <a:srgbClr val="FFFFFF"/>
            </a:solidFill>
            <a:prstDash val="solid"/>
          </a:ln>
        </p:spPr>
      </p:sp>
      <p:pic>
        <p:nvPicPr>
          <p:cNvPr id="16" name="Image 1" descr="preencoded.png">    </p:cNvPr>
          <p:cNvPicPr>
            <a:picLocks noChangeAspect="1"/>
          </p:cNvPicPr>
          <p:nvPr/>
        </p:nvPicPr>
        <p:blipFill>
          <a:blip r:embed="rId2"/>
          <a:stretch>
            <a:fillRect/>
          </a:stretch>
        </p:blipFill>
        <p:spPr>
          <a:xfrm>
            <a:off x="3744468" y="2089404"/>
            <a:ext cx="256032" cy="256032"/>
          </a:xfrm>
          <a:prstGeom prst="rect">
            <a:avLst/>
          </a:prstGeom>
        </p:spPr>
      </p:pic>
      <p:sp>
        <p:nvSpPr>
          <p:cNvPr id="17" name="Text 13"/>
          <p:cNvSpPr txBox="1"/>
          <p:nvPr/>
        </p:nvSpPr>
        <p:spPr>
          <a:xfrm>
            <a:off x="4261104" y="1965960"/>
            <a:ext cx="1554480" cy="502920"/>
          </a:xfrm>
          <a:prstGeom prst="rect">
            <a:avLst/>
          </a:prstGeom>
          <a:noFill/>
          <a:ln/>
        </p:spPr>
        <p:txBody>
          <a:bodyPr wrap="square" lIns="0" tIns="0" rIns="0" bIns="0" rtlCol="0" anchor="ctr"/>
          <a:lstStyle/>
          <a:p>
            <a:pPr indent="0" marL="0">
              <a:buNone/>
            </a:pPr>
            <a:r>
              <a:rPr lang="en-US" sz="1400" b="1" dirty="0">
                <a:solidFill>
                  <a:srgbClr val="1B1838"/>
                </a:solidFill>
                <a:latin typeface="Calibri" pitchFamily="34" charset="0"/>
                <a:ea typeface="Calibri" pitchFamily="34" charset="-122"/>
                <a:cs typeface="Calibri" pitchFamily="34" charset="-120"/>
              </a:rPr>
              <a:t>ARPU</a:t>
            </a:r>
            <a:endParaRPr lang="en-US" sz="1400" dirty="0"/>
          </a:p>
        </p:txBody>
      </p:sp>
      <p:sp>
        <p:nvSpPr>
          <p:cNvPr id="18" name="Text 14"/>
          <p:cNvSpPr txBox="1"/>
          <p:nvPr/>
        </p:nvSpPr>
        <p:spPr>
          <a:xfrm>
            <a:off x="3621024" y="2606040"/>
            <a:ext cx="2103120" cy="731520"/>
          </a:xfrm>
          <a:prstGeom prst="rect">
            <a:avLst/>
          </a:prstGeom>
          <a:noFill/>
          <a:ln/>
        </p:spPr>
        <p:txBody>
          <a:bodyPr wrap="square" lIns="0" tIns="0" rIns="0" bIns="0" rtlCol="0" anchor="t"/>
          <a:lstStyle/>
          <a:p>
            <a:pPr indent="0" marL="0">
              <a:buNone/>
            </a:pPr>
            <a:r>
              <a:rPr lang="en-US" sz="4000" b="1" dirty="0">
                <a:solidFill>
                  <a:srgbClr val="12A67A"/>
                </a:solidFill>
                <a:latin typeface="Calibri" pitchFamily="34" charset="0"/>
                <a:ea typeface="Calibri" pitchFamily="34" charset="-122"/>
                <a:cs typeface="Calibri" pitchFamily="34" charset="-120"/>
              </a:rPr>
              <a:t>+11.0%</a:t>
            </a:r>
            <a:endParaRPr lang="en-US" sz="4000" dirty="0"/>
          </a:p>
        </p:txBody>
      </p:sp>
      <p:sp>
        <p:nvSpPr>
          <p:cNvPr id="19" name="Text 15"/>
          <p:cNvSpPr txBox="1"/>
          <p:nvPr/>
        </p:nvSpPr>
        <p:spPr>
          <a:xfrm>
            <a:off x="3621024" y="3337560"/>
            <a:ext cx="2103120" cy="320040"/>
          </a:xfrm>
          <a:prstGeom prst="rect">
            <a:avLst/>
          </a:prstGeom>
          <a:noFill/>
          <a:ln/>
        </p:spPr>
        <p:txBody>
          <a:bodyPr wrap="square" lIns="0" tIns="0" rIns="0" bIns="0" rtlCol="0" anchor="t"/>
          <a:lstStyle/>
          <a:p>
            <a:pPr indent="0" marL="0">
              <a:buNone/>
            </a:pPr>
            <a:r>
              <a:rPr lang="en-US" sz="1200" dirty="0">
                <a:solidFill>
                  <a:srgbClr val="615E78"/>
                </a:solidFill>
                <a:latin typeface="Calibri" pitchFamily="34" charset="0"/>
                <a:ea typeface="Calibri" pitchFamily="34" charset="-122"/>
                <a:cs typeface="Calibri" pitchFamily="34" charset="-120"/>
              </a:rPr>
              <a:t>₹190 → ₹211 per user</a:t>
            </a:r>
            <a:endParaRPr lang="en-US" sz="1200" dirty="0"/>
          </a:p>
        </p:txBody>
      </p:sp>
      <p:sp>
        <p:nvSpPr>
          <p:cNvPr id="20" name="Shape 16"/>
          <p:cNvSpPr/>
          <p:nvPr/>
        </p:nvSpPr>
        <p:spPr>
          <a:xfrm>
            <a:off x="3621024" y="3749040"/>
            <a:ext cx="1188720" cy="274320"/>
          </a:xfrm>
          <a:prstGeom prst="roundRect">
            <a:avLst>
              <a:gd name="adj" fmla="val 50000"/>
            </a:avLst>
          </a:prstGeom>
          <a:solidFill>
            <a:srgbClr val="E2F5EE"/>
          </a:solidFill>
          <a:ln w="12700">
            <a:solidFill>
              <a:srgbClr val="E2F5EE"/>
            </a:solidFill>
            <a:prstDash val="solid"/>
          </a:ln>
        </p:spPr>
      </p:sp>
      <p:sp>
        <p:nvSpPr>
          <p:cNvPr id="21" name="Text 17"/>
          <p:cNvSpPr txBox="1"/>
          <p:nvPr/>
        </p:nvSpPr>
        <p:spPr>
          <a:xfrm>
            <a:off x="3621024" y="3749040"/>
            <a:ext cx="1188720" cy="274320"/>
          </a:xfrm>
          <a:prstGeom prst="rect">
            <a:avLst/>
          </a:prstGeom>
          <a:noFill/>
          <a:ln/>
        </p:spPr>
        <p:txBody>
          <a:bodyPr wrap="square" lIns="0" tIns="0" rIns="0" bIns="0" rtlCol="0" anchor="ctr"/>
          <a:lstStyle/>
          <a:p>
            <a:pPr algn="ctr" indent="0" marL="0">
              <a:buNone/>
            </a:pPr>
            <a:r>
              <a:rPr lang="en-US" sz="1000" b="1" spc="100" kern="0" dirty="0">
                <a:solidFill>
                  <a:srgbClr val="0B6E51"/>
                </a:solidFill>
                <a:latin typeface="Calibri" pitchFamily="34" charset="0"/>
                <a:ea typeface="Calibri" pitchFamily="34" charset="-122"/>
                <a:cs typeface="Calibri" pitchFamily="34" charset="-120"/>
              </a:rPr>
              <a:t>IMPROVING</a:t>
            </a:r>
            <a:endParaRPr lang="en-US" sz="1000" dirty="0"/>
          </a:p>
        </p:txBody>
      </p:sp>
      <p:sp>
        <p:nvSpPr>
          <p:cNvPr id="22" name="Shape 18"/>
          <p:cNvSpPr/>
          <p:nvPr/>
        </p:nvSpPr>
        <p:spPr>
          <a:xfrm>
            <a:off x="6236208" y="1737360"/>
            <a:ext cx="2560320" cy="2514600"/>
          </a:xfrm>
          <a:prstGeom prst="roundRect">
            <a:avLst>
              <a:gd name="adj" fmla="val 2909"/>
            </a:avLst>
          </a:prstGeom>
          <a:solidFill>
            <a:srgbClr val="FDE9E9"/>
          </a:solidFill>
          <a:ln w="12700">
            <a:solidFill>
              <a:srgbClr val="FDE9E9"/>
            </a:solidFill>
            <a:prstDash val="solid"/>
          </a:ln>
        </p:spPr>
      </p:sp>
      <p:sp>
        <p:nvSpPr>
          <p:cNvPr id="23" name="Shape 19"/>
          <p:cNvSpPr/>
          <p:nvPr/>
        </p:nvSpPr>
        <p:spPr>
          <a:xfrm>
            <a:off x="6464808" y="1965960"/>
            <a:ext cx="502920" cy="502920"/>
          </a:xfrm>
          <a:prstGeom prst="ellipse">
            <a:avLst/>
          </a:prstGeom>
          <a:solidFill>
            <a:srgbClr val="FFFFFF"/>
          </a:solidFill>
          <a:ln w="12700">
            <a:solidFill>
              <a:srgbClr val="FFFFFF"/>
            </a:solidFill>
            <a:prstDash val="solid"/>
          </a:ln>
        </p:spPr>
      </p:sp>
      <p:pic>
        <p:nvPicPr>
          <p:cNvPr id="24" name="Image 2" descr="preencoded.png">    </p:cNvPr>
          <p:cNvPicPr>
            <a:picLocks noChangeAspect="1"/>
          </p:cNvPicPr>
          <p:nvPr/>
        </p:nvPicPr>
        <p:blipFill>
          <a:blip r:embed="rId3"/>
          <a:stretch>
            <a:fillRect/>
          </a:stretch>
        </p:blipFill>
        <p:spPr>
          <a:xfrm>
            <a:off x="6588252" y="2089404"/>
            <a:ext cx="256032" cy="256032"/>
          </a:xfrm>
          <a:prstGeom prst="rect">
            <a:avLst/>
          </a:prstGeom>
        </p:spPr>
      </p:pic>
      <p:sp>
        <p:nvSpPr>
          <p:cNvPr id="25" name="Text 20"/>
          <p:cNvSpPr txBox="1"/>
          <p:nvPr/>
        </p:nvSpPr>
        <p:spPr>
          <a:xfrm>
            <a:off x="7104888" y="1965960"/>
            <a:ext cx="1554480" cy="502920"/>
          </a:xfrm>
          <a:prstGeom prst="rect">
            <a:avLst/>
          </a:prstGeom>
          <a:noFill/>
          <a:ln/>
        </p:spPr>
        <p:txBody>
          <a:bodyPr wrap="square" lIns="0" tIns="0" rIns="0" bIns="0" rtlCol="0" anchor="ctr"/>
          <a:lstStyle/>
          <a:p>
            <a:pPr indent="0" marL="0">
              <a:buNone/>
            </a:pPr>
            <a:r>
              <a:rPr lang="en-US" sz="1400" b="1" dirty="0">
                <a:solidFill>
                  <a:srgbClr val="1B1838"/>
                </a:solidFill>
                <a:latin typeface="Calibri" pitchFamily="34" charset="0"/>
                <a:ea typeface="Calibri" pitchFamily="34" charset="-122"/>
                <a:cs typeface="Calibri" pitchFamily="34" charset="-120"/>
              </a:rPr>
              <a:t>Active users</a:t>
            </a:r>
            <a:endParaRPr lang="en-US" sz="1400" dirty="0"/>
          </a:p>
        </p:txBody>
      </p:sp>
      <p:sp>
        <p:nvSpPr>
          <p:cNvPr id="26" name="Text 21"/>
          <p:cNvSpPr txBox="1"/>
          <p:nvPr/>
        </p:nvSpPr>
        <p:spPr>
          <a:xfrm>
            <a:off x="6464808" y="2606040"/>
            <a:ext cx="2103120" cy="731520"/>
          </a:xfrm>
          <a:prstGeom prst="rect">
            <a:avLst/>
          </a:prstGeom>
          <a:noFill/>
          <a:ln/>
        </p:spPr>
        <p:txBody>
          <a:bodyPr wrap="square" lIns="0" tIns="0" rIns="0" bIns="0" rtlCol="0" anchor="t"/>
          <a:lstStyle/>
          <a:p>
            <a:pPr indent="0" marL="0">
              <a:buNone/>
            </a:pPr>
            <a:r>
              <a:rPr lang="en-US" sz="4000" b="1" dirty="0">
                <a:solidFill>
                  <a:srgbClr val="E5484D"/>
                </a:solidFill>
                <a:latin typeface="Calibri" pitchFamily="34" charset="0"/>
                <a:ea typeface="Calibri" pitchFamily="34" charset="-122"/>
                <a:cs typeface="Calibri" pitchFamily="34" charset="-120"/>
              </a:rPr>
              <a:t>−8.3%</a:t>
            </a:r>
            <a:endParaRPr lang="en-US" sz="4000" dirty="0"/>
          </a:p>
        </p:txBody>
      </p:sp>
      <p:sp>
        <p:nvSpPr>
          <p:cNvPr id="27" name="Text 22"/>
          <p:cNvSpPr txBox="1"/>
          <p:nvPr/>
        </p:nvSpPr>
        <p:spPr>
          <a:xfrm>
            <a:off x="6464808" y="3337560"/>
            <a:ext cx="2103120" cy="320040"/>
          </a:xfrm>
          <a:prstGeom prst="rect">
            <a:avLst/>
          </a:prstGeom>
          <a:noFill/>
          <a:ln/>
        </p:spPr>
        <p:txBody>
          <a:bodyPr wrap="square" lIns="0" tIns="0" rIns="0" bIns="0" rtlCol="0" anchor="t"/>
          <a:lstStyle/>
          <a:p>
            <a:pPr indent="0" marL="0">
              <a:buNone/>
            </a:pPr>
            <a:r>
              <a:rPr lang="en-US" sz="1200" dirty="0">
                <a:solidFill>
                  <a:srgbClr val="615E78"/>
                </a:solidFill>
                <a:latin typeface="Calibri" pitchFamily="34" charset="0"/>
                <a:ea typeface="Calibri" pitchFamily="34" charset="-122"/>
                <a:cs typeface="Calibri" pitchFamily="34" charset="-120"/>
              </a:rPr>
              <a:t>210.9 L → 193.4 L a month</a:t>
            </a:r>
            <a:endParaRPr lang="en-US" sz="1200" dirty="0"/>
          </a:p>
        </p:txBody>
      </p:sp>
      <p:sp>
        <p:nvSpPr>
          <p:cNvPr id="28" name="Shape 23"/>
          <p:cNvSpPr/>
          <p:nvPr/>
        </p:nvSpPr>
        <p:spPr>
          <a:xfrm>
            <a:off x="6464808" y="3749040"/>
            <a:ext cx="1691640" cy="274320"/>
          </a:xfrm>
          <a:prstGeom prst="roundRect">
            <a:avLst>
              <a:gd name="adj" fmla="val 50000"/>
            </a:avLst>
          </a:prstGeom>
          <a:solidFill>
            <a:srgbClr val="E5484D"/>
          </a:solidFill>
          <a:ln w="12700">
            <a:solidFill>
              <a:srgbClr val="E5484D"/>
            </a:solidFill>
            <a:prstDash val="solid"/>
          </a:ln>
        </p:spPr>
      </p:sp>
      <p:sp>
        <p:nvSpPr>
          <p:cNvPr id="29" name="Text 24"/>
          <p:cNvSpPr txBox="1"/>
          <p:nvPr/>
        </p:nvSpPr>
        <p:spPr>
          <a:xfrm>
            <a:off x="6464808" y="3749040"/>
            <a:ext cx="169164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UNDERPERFORMING</a:t>
            </a:r>
            <a:endParaRPr lang="en-US" sz="1000" dirty="0"/>
          </a:p>
        </p:txBody>
      </p:sp>
      <p:sp>
        <p:nvSpPr>
          <p:cNvPr id="30" name="Shape 25"/>
          <p:cNvSpPr/>
          <p:nvPr/>
        </p:nvSpPr>
        <p:spPr>
          <a:xfrm>
            <a:off x="9079992" y="1737360"/>
            <a:ext cx="2560320" cy="2514600"/>
          </a:xfrm>
          <a:prstGeom prst="roundRect">
            <a:avLst>
              <a:gd name="adj" fmla="val 2909"/>
            </a:avLst>
          </a:prstGeom>
          <a:solidFill>
            <a:srgbClr val="FDE9E9"/>
          </a:solidFill>
          <a:ln w="12700">
            <a:solidFill>
              <a:srgbClr val="FDE9E9"/>
            </a:solidFill>
            <a:prstDash val="solid"/>
          </a:ln>
        </p:spPr>
      </p:sp>
      <p:sp>
        <p:nvSpPr>
          <p:cNvPr id="31" name="Shape 26"/>
          <p:cNvSpPr/>
          <p:nvPr/>
        </p:nvSpPr>
        <p:spPr>
          <a:xfrm>
            <a:off x="9308592" y="1965960"/>
            <a:ext cx="502920" cy="502920"/>
          </a:xfrm>
          <a:prstGeom prst="ellipse">
            <a:avLst/>
          </a:prstGeom>
          <a:solidFill>
            <a:srgbClr val="FFFFFF"/>
          </a:solidFill>
          <a:ln w="12700">
            <a:solidFill>
              <a:srgbClr val="FFFFFF"/>
            </a:solidFill>
            <a:prstDash val="solid"/>
          </a:ln>
        </p:spPr>
      </p:sp>
      <p:pic>
        <p:nvPicPr>
          <p:cNvPr id="32" name="Image 3" descr="preencoded.png">    </p:cNvPr>
          <p:cNvPicPr>
            <a:picLocks noChangeAspect="1"/>
          </p:cNvPicPr>
          <p:nvPr/>
        </p:nvPicPr>
        <p:blipFill>
          <a:blip r:embed="rId4"/>
          <a:stretch>
            <a:fillRect/>
          </a:stretch>
        </p:blipFill>
        <p:spPr>
          <a:xfrm>
            <a:off x="9432036" y="2089404"/>
            <a:ext cx="256032" cy="256032"/>
          </a:xfrm>
          <a:prstGeom prst="rect">
            <a:avLst/>
          </a:prstGeom>
        </p:spPr>
      </p:pic>
      <p:sp>
        <p:nvSpPr>
          <p:cNvPr id="33" name="Text 27"/>
          <p:cNvSpPr txBox="1"/>
          <p:nvPr/>
        </p:nvSpPr>
        <p:spPr>
          <a:xfrm>
            <a:off x="9948672" y="1965960"/>
            <a:ext cx="1554480" cy="502920"/>
          </a:xfrm>
          <a:prstGeom prst="rect">
            <a:avLst/>
          </a:prstGeom>
          <a:noFill/>
          <a:ln/>
        </p:spPr>
        <p:txBody>
          <a:bodyPr wrap="square" lIns="0" tIns="0" rIns="0" bIns="0" rtlCol="0" anchor="ctr"/>
          <a:lstStyle/>
          <a:p>
            <a:pPr indent="0" marL="0">
              <a:buNone/>
            </a:pPr>
            <a:r>
              <a:rPr lang="en-US" sz="1400" b="1" dirty="0">
                <a:solidFill>
                  <a:srgbClr val="1B1838"/>
                </a:solidFill>
                <a:latin typeface="Calibri" pitchFamily="34" charset="0"/>
                <a:ea typeface="Calibri" pitchFamily="34" charset="-122"/>
                <a:cs typeface="Calibri" pitchFamily="34" charset="-120"/>
              </a:rPr>
              <a:t>Unsubscribed users</a:t>
            </a:r>
            <a:endParaRPr lang="en-US" sz="1400" dirty="0"/>
          </a:p>
        </p:txBody>
      </p:sp>
      <p:sp>
        <p:nvSpPr>
          <p:cNvPr id="34" name="Text 28"/>
          <p:cNvSpPr txBox="1"/>
          <p:nvPr/>
        </p:nvSpPr>
        <p:spPr>
          <a:xfrm>
            <a:off x="9308592" y="2606040"/>
            <a:ext cx="2103120" cy="731520"/>
          </a:xfrm>
          <a:prstGeom prst="rect">
            <a:avLst/>
          </a:prstGeom>
          <a:noFill/>
          <a:ln/>
        </p:spPr>
        <p:txBody>
          <a:bodyPr wrap="square" lIns="0" tIns="0" rIns="0" bIns="0" rtlCol="0" anchor="t"/>
          <a:lstStyle/>
          <a:p>
            <a:pPr indent="0" marL="0">
              <a:buNone/>
            </a:pPr>
            <a:r>
              <a:rPr lang="en-US" sz="4000" b="1" dirty="0">
                <a:solidFill>
                  <a:srgbClr val="E5484D"/>
                </a:solidFill>
                <a:latin typeface="Calibri" pitchFamily="34" charset="0"/>
                <a:ea typeface="Calibri" pitchFamily="34" charset="-122"/>
                <a:cs typeface="Calibri" pitchFamily="34" charset="-120"/>
              </a:rPr>
              <a:t>+23.5%</a:t>
            </a:r>
            <a:endParaRPr lang="en-US" sz="4000" dirty="0"/>
          </a:p>
        </p:txBody>
      </p:sp>
      <p:sp>
        <p:nvSpPr>
          <p:cNvPr id="35" name="Text 29"/>
          <p:cNvSpPr txBox="1"/>
          <p:nvPr/>
        </p:nvSpPr>
        <p:spPr>
          <a:xfrm>
            <a:off x="9308592" y="3337560"/>
            <a:ext cx="2103120" cy="320040"/>
          </a:xfrm>
          <a:prstGeom prst="rect">
            <a:avLst/>
          </a:prstGeom>
          <a:noFill/>
          <a:ln/>
        </p:spPr>
        <p:txBody>
          <a:bodyPr wrap="square" lIns="0" tIns="0" rIns="0" bIns="0" rtlCol="0" anchor="t"/>
          <a:lstStyle/>
          <a:p>
            <a:pPr indent="0" marL="0">
              <a:buNone/>
            </a:pPr>
            <a:r>
              <a:rPr lang="en-US" sz="1200" dirty="0">
                <a:solidFill>
                  <a:srgbClr val="615E78"/>
                </a:solidFill>
                <a:latin typeface="Calibri" pitchFamily="34" charset="0"/>
                <a:ea typeface="Calibri" pitchFamily="34" charset="-122"/>
                <a:cs typeface="Calibri" pitchFamily="34" charset="-120"/>
              </a:rPr>
              <a:t>14.1 L → 17.4 L a month</a:t>
            </a:r>
            <a:endParaRPr lang="en-US" sz="1200" dirty="0"/>
          </a:p>
        </p:txBody>
      </p:sp>
      <p:sp>
        <p:nvSpPr>
          <p:cNvPr id="36" name="Shape 30"/>
          <p:cNvSpPr/>
          <p:nvPr/>
        </p:nvSpPr>
        <p:spPr>
          <a:xfrm>
            <a:off x="9308592" y="3749040"/>
            <a:ext cx="1188720" cy="274320"/>
          </a:xfrm>
          <a:prstGeom prst="roundRect">
            <a:avLst>
              <a:gd name="adj" fmla="val 50000"/>
            </a:avLst>
          </a:prstGeom>
          <a:solidFill>
            <a:srgbClr val="F8C6C8"/>
          </a:solidFill>
          <a:ln w="12700">
            <a:solidFill>
              <a:srgbClr val="F8C6C8"/>
            </a:solidFill>
            <a:prstDash val="solid"/>
          </a:ln>
        </p:spPr>
      </p:sp>
      <p:sp>
        <p:nvSpPr>
          <p:cNvPr id="37" name="Text 31"/>
          <p:cNvSpPr txBox="1"/>
          <p:nvPr/>
        </p:nvSpPr>
        <p:spPr>
          <a:xfrm>
            <a:off x="9308592" y="3749040"/>
            <a:ext cx="1188720" cy="274320"/>
          </a:xfrm>
          <a:prstGeom prst="rect">
            <a:avLst/>
          </a:prstGeom>
          <a:noFill/>
          <a:ln/>
        </p:spPr>
        <p:txBody>
          <a:bodyPr wrap="square" lIns="0" tIns="0" rIns="0" bIns="0" rtlCol="0" anchor="ctr"/>
          <a:lstStyle/>
          <a:p>
            <a:pPr algn="ctr" indent="0" marL="0">
              <a:buNone/>
            </a:pPr>
            <a:r>
              <a:rPr lang="en-US" sz="1000" b="1" spc="100" kern="0" dirty="0">
                <a:solidFill>
                  <a:srgbClr val="A3262B"/>
                </a:solidFill>
                <a:latin typeface="Calibri" pitchFamily="34" charset="0"/>
                <a:ea typeface="Calibri" pitchFamily="34" charset="-122"/>
                <a:cs typeface="Calibri" pitchFamily="34" charset="-120"/>
              </a:rPr>
              <a:t>WORSENING</a:t>
            </a:r>
            <a:endParaRPr lang="en-US" sz="1000" dirty="0"/>
          </a:p>
        </p:txBody>
      </p:sp>
      <p:sp>
        <p:nvSpPr>
          <p:cNvPr id="38" name="Shape 32"/>
          <p:cNvSpPr/>
          <p:nvPr/>
        </p:nvSpPr>
        <p:spPr>
          <a:xfrm>
            <a:off x="548640" y="4526280"/>
            <a:ext cx="7223760" cy="1645920"/>
          </a:xfrm>
          <a:prstGeom prst="roundRect">
            <a:avLst>
              <a:gd name="adj" fmla="val 4444"/>
            </a:avLst>
          </a:prstGeom>
          <a:solidFill>
            <a:srgbClr val="120E33"/>
          </a:solidFill>
          <a:ln w="12700">
            <a:solidFill>
              <a:srgbClr val="120E33"/>
            </a:solidFill>
            <a:prstDash val="solid"/>
          </a:ln>
        </p:spPr>
      </p:sp>
      <p:sp>
        <p:nvSpPr>
          <p:cNvPr id="39" name="Text 33"/>
          <p:cNvSpPr txBox="1"/>
          <p:nvPr/>
        </p:nvSpPr>
        <p:spPr>
          <a:xfrm>
            <a:off x="822960" y="4709160"/>
            <a:ext cx="6675120" cy="274320"/>
          </a:xfrm>
          <a:prstGeom prst="rect">
            <a:avLst/>
          </a:prstGeom>
          <a:noFill/>
          <a:ln/>
        </p:spPr>
        <p:txBody>
          <a:bodyPr wrap="square" lIns="0" tIns="0" rIns="0" bIns="0" rtlCol="0" anchor="t"/>
          <a:lstStyle/>
          <a:p>
            <a:pPr indent="0" marL="0">
              <a:buNone/>
            </a:pPr>
            <a:r>
              <a:rPr lang="en-US" sz="1100" b="1" spc="200" kern="0" dirty="0">
                <a:solidFill>
                  <a:srgbClr val="B4A8FF"/>
                </a:solidFill>
                <a:latin typeface="Calibri" pitchFamily="34" charset="0"/>
                <a:ea typeface="Calibri" pitchFamily="34" charset="-122"/>
                <a:cs typeface="Calibri" pitchFamily="34" charset="-120"/>
              </a:rPr>
              <a:t>WHY REVENUE STAYED FLAT</a:t>
            </a:r>
            <a:endParaRPr lang="en-US" sz="1100" dirty="0"/>
          </a:p>
        </p:txBody>
      </p:sp>
      <p:sp>
        <p:nvSpPr>
          <p:cNvPr id="40" name="Text 34"/>
          <p:cNvSpPr txBox="1"/>
          <p:nvPr/>
        </p:nvSpPr>
        <p:spPr>
          <a:xfrm>
            <a:off x="822960" y="5029200"/>
            <a:ext cx="1600200" cy="594360"/>
          </a:xfrm>
          <a:prstGeom prst="rect">
            <a:avLst/>
          </a:prstGeom>
          <a:noFill/>
          <a:ln/>
        </p:spPr>
        <p:txBody>
          <a:bodyPr wrap="square" lIns="0" tIns="0" rIns="0" bIns="0" rtlCol="0" anchor="ctr"/>
          <a:lstStyle/>
          <a:p>
            <a:pPr algn="ctr" indent="0" marL="0">
              <a:buNone/>
            </a:pPr>
            <a:r>
              <a:rPr lang="en-US" sz="3200" b="1" dirty="0">
                <a:solidFill>
                  <a:srgbClr val="7CE0BF"/>
                </a:solidFill>
                <a:latin typeface="Calibri" pitchFamily="34" charset="0"/>
                <a:ea typeface="Calibri" pitchFamily="34" charset="-122"/>
                <a:cs typeface="Calibri" pitchFamily="34" charset="-120"/>
              </a:rPr>
              <a:t>+8.5%</a:t>
            </a:r>
            <a:endParaRPr lang="en-US" sz="3200" dirty="0"/>
          </a:p>
        </p:txBody>
      </p:sp>
      <p:sp>
        <p:nvSpPr>
          <p:cNvPr id="41" name="Text 35"/>
          <p:cNvSpPr txBox="1"/>
          <p:nvPr/>
        </p:nvSpPr>
        <p:spPr>
          <a:xfrm>
            <a:off x="822960" y="5623560"/>
            <a:ext cx="1600200" cy="274320"/>
          </a:xfrm>
          <a:prstGeom prst="rect">
            <a:avLst/>
          </a:prstGeom>
          <a:noFill/>
          <a:ln/>
        </p:spPr>
        <p:txBody>
          <a:bodyPr wrap="square" lIns="0" tIns="0" rIns="0" bIns="0" rtlCol="0" anchor="t"/>
          <a:lstStyle/>
          <a:p>
            <a:pPr algn="ctr" indent="0" marL="0">
              <a:buNone/>
            </a:pPr>
            <a:r>
              <a:rPr lang="en-US" sz="1100" dirty="0">
                <a:solidFill>
                  <a:srgbClr val="CFC8FA"/>
                </a:solidFill>
                <a:latin typeface="Calibri" pitchFamily="34" charset="0"/>
                <a:ea typeface="Calibri" pitchFamily="34" charset="-122"/>
                <a:cs typeface="Calibri" pitchFamily="34" charset="-120"/>
              </a:rPr>
              <a:t>revenue per user</a:t>
            </a:r>
            <a:endParaRPr lang="en-US" sz="1100" dirty="0"/>
          </a:p>
        </p:txBody>
      </p:sp>
      <p:sp>
        <p:nvSpPr>
          <p:cNvPr id="42" name="Text 36"/>
          <p:cNvSpPr txBox="1"/>
          <p:nvPr/>
        </p:nvSpPr>
        <p:spPr>
          <a:xfrm>
            <a:off x="2606040" y="5029200"/>
            <a:ext cx="457200" cy="5943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3" name="Text 37"/>
          <p:cNvSpPr txBox="1"/>
          <p:nvPr/>
        </p:nvSpPr>
        <p:spPr>
          <a:xfrm>
            <a:off x="3246120" y="5029200"/>
            <a:ext cx="1600200" cy="594360"/>
          </a:xfrm>
          <a:prstGeom prst="rect">
            <a:avLst/>
          </a:prstGeom>
          <a:noFill/>
          <a:ln/>
        </p:spPr>
        <p:txBody>
          <a:bodyPr wrap="square" lIns="0" tIns="0" rIns="0" bIns="0" rtlCol="0" anchor="ctr"/>
          <a:lstStyle/>
          <a:p>
            <a:pPr algn="ctr" indent="0" marL="0">
              <a:buNone/>
            </a:pPr>
            <a:r>
              <a:rPr lang="en-US" sz="3200" b="1" dirty="0">
                <a:solidFill>
                  <a:srgbClr val="FF8A8D"/>
                </a:solidFill>
                <a:latin typeface="Calibri" pitchFamily="34" charset="0"/>
                <a:ea typeface="Calibri" pitchFamily="34" charset="-122"/>
                <a:cs typeface="Calibri" pitchFamily="34" charset="-120"/>
              </a:rPr>
              <a:t>−8.3%</a:t>
            </a:r>
            <a:endParaRPr lang="en-US" sz="3200" dirty="0"/>
          </a:p>
        </p:txBody>
      </p:sp>
      <p:sp>
        <p:nvSpPr>
          <p:cNvPr id="44" name="Text 38"/>
          <p:cNvSpPr txBox="1"/>
          <p:nvPr/>
        </p:nvSpPr>
        <p:spPr>
          <a:xfrm>
            <a:off x="3246120" y="5623560"/>
            <a:ext cx="1600200" cy="274320"/>
          </a:xfrm>
          <a:prstGeom prst="rect">
            <a:avLst/>
          </a:prstGeom>
          <a:noFill/>
          <a:ln/>
        </p:spPr>
        <p:txBody>
          <a:bodyPr wrap="square" lIns="0" tIns="0" rIns="0" bIns="0" rtlCol="0" anchor="t"/>
          <a:lstStyle/>
          <a:p>
            <a:pPr algn="ctr" indent="0" marL="0">
              <a:buNone/>
            </a:pPr>
            <a:r>
              <a:rPr lang="en-US" sz="1100" dirty="0">
                <a:solidFill>
                  <a:srgbClr val="CFC8FA"/>
                </a:solidFill>
                <a:latin typeface="Calibri" pitchFamily="34" charset="0"/>
                <a:ea typeface="Calibri" pitchFamily="34" charset="-122"/>
                <a:cs typeface="Calibri" pitchFamily="34" charset="-120"/>
              </a:rPr>
              <a:t>active users</a:t>
            </a:r>
            <a:endParaRPr lang="en-US" sz="1100" dirty="0"/>
          </a:p>
        </p:txBody>
      </p:sp>
      <p:sp>
        <p:nvSpPr>
          <p:cNvPr id="45" name="Text 39"/>
          <p:cNvSpPr txBox="1"/>
          <p:nvPr/>
        </p:nvSpPr>
        <p:spPr>
          <a:xfrm>
            <a:off x="5029200" y="5029200"/>
            <a:ext cx="457200" cy="5943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6" name="Text 40"/>
          <p:cNvSpPr txBox="1"/>
          <p:nvPr/>
        </p:nvSpPr>
        <p:spPr>
          <a:xfrm>
            <a:off x="5669280" y="5029200"/>
            <a:ext cx="1600200" cy="59436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−0.5%</a:t>
            </a:r>
            <a:endParaRPr lang="en-US" sz="3200" dirty="0"/>
          </a:p>
        </p:txBody>
      </p:sp>
      <p:sp>
        <p:nvSpPr>
          <p:cNvPr id="47" name="Text 41"/>
          <p:cNvSpPr txBox="1"/>
          <p:nvPr/>
        </p:nvSpPr>
        <p:spPr>
          <a:xfrm>
            <a:off x="5669280" y="5623560"/>
            <a:ext cx="1600200" cy="274320"/>
          </a:xfrm>
          <a:prstGeom prst="rect">
            <a:avLst/>
          </a:prstGeom>
          <a:noFill/>
          <a:ln/>
        </p:spPr>
        <p:txBody>
          <a:bodyPr wrap="square" lIns="0" tIns="0" rIns="0" bIns="0" rtlCol="0" anchor="t"/>
          <a:lstStyle/>
          <a:p>
            <a:pPr algn="ctr" indent="0" marL="0">
              <a:buNone/>
            </a:pPr>
            <a:r>
              <a:rPr lang="en-US" sz="1100" dirty="0">
                <a:solidFill>
                  <a:srgbClr val="CFC8FA"/>
                </a:solidFill>
                <a:latin typeface="Calibri" pitchFamily="34" charset="0"/>
                <a:ea typeface="Calibri" pitchFamily="34" charset="-122"/>
                <a:cs typeface="Calibri" pitchFamily="34" charset="-120"/>
              </a:rPr>
              <a:t>revenue</a:t>
            </a:r>
            <a:endParaRPr lang="en-US" sz="1100" dirty="0"/>
          </a:p>
        </p:txBody>
      </p:sp>
      <p:sp>
        <p:nvSpPr>
          <p:cNvPr id="48" name="Shape 42"/>
          <p:cNvSpPr/>
          <p:nvPr/>
        </p:nvSpPr>
        <p:spPr>
          <a:xfrm>
            <a:off x="8046720" y="4526280"/>
            <a:ext cx="3593592" cy="1645920"/>
          </a:xfrm>
          <a:prstGeom prst="roundRect">
            <a:avLst>
              <a:gd name="adj" fmla="val 4444"/>
            </a:avLst>
          </a:prstGeom>
          <a:solidFill>
            <a:srgbClr val="FDE9E9"/>
          </a:solidFill>
          <a:ln w="12700">
            <a:solidFill>
              <a:srgbClr val="FDE9E9"/>
            </a:solidFill>
            <a:prstDash val="solid"/>
          </a:ln>
        </p:spPr>
      </p:sp>
      <p:sp>
        <p:nvSpPr>
          <p:cNvPr id="49" name="Text 43"/>
          <p:cNvSpPr txBox="1"/>
          <p:nvPr/>
        </p:nvSpPr>
        <p:spPr>
          <a:xfrm>
            <a:off x="8321040" y="4709160"/>
            <a:ext cx="310896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Unsubscribe rate</a:t>
            </a:r>
            <a:endParaRPr lang="en-US" sz="1300" dirty="0"/>
          </a:p>
        </p:txBody>
      </p:sp>
      <p:sp>
        <p:nvSpPr>
          <p:cNvPr id="50" name="Text 44"/>
          <p:cNvSpPr txBox="1"/>
          <p:nvPr/>
        </p:nvSpPr>
        <p:spPr>
          <a:xfrm>
            <a:off x="8321040" y="4983480"/>
            <a:ext cx="3108960" cy="548640"/>
          </a:xfrm>
          <a:prstGeom prst="rect">
            <a:avLst/>
          </a:prstGeom>
          <a:noFill/>
          <a:ln/>
        </p:spPr>
        <p:txBody>
          <a:bodyPr wrap="square" lIns="0" tIns="0" rIns="0" bIns="0" rtlCol="0" anchor="t"/>
          <a:lstStyle/>
          <a:p>
            <a:pPr indent="0" marL="0">
              <a:buNone/>
            </a:pPr>
            <a:r>
              <a:rPr lang="en-US" sz="3000" b="1" dirty="0">
                <a:solidFill>
                  <a:srgbClr val="E5484D"/>
                </a:solidFill>
                <a:latin typeface="Calibri" pitchFamily="34" charset="0"/>
                <a:ea typeface="Calibri" pitchFamily="34" charset="-122"/>
                <a:cs typeface="Calibri" pitchFamily="34" charset="-120"/>
              </a:rPr>
              <a:t>6.7% → 9.0%</a:t>
            </a:r>
            <a:endParaRPr lang="en-US" sz="3000" dirty="0"/>
          </a:p>
        </p:txBody>
      </p:sp>
      <p:sp>
        <p:nvSpPr>
          <p:cNvPr id="51" name="Text 45"/>
          <p:cNvSpPr txBox="1"/>
          <p:nvPr/>
        </p:nvSpPr>
        <p:spPr>
          <a:xfrm>
            <a:off x="8321040" y="5550408"/>
            <a:ext cx="3108960" cy="45720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of active users unsubscribing, a rise of about a third</a:t>
            </a:r>
            <a:endParaRPr lang="en-US" sz="1150" dirty="0"/>
          </a:p>
        </p:txBody>
      </p:sp>
      <p:sp>
        <p:nvSpPr>
          <p:cNvPr id="52" name="Text 46"/>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Revenue per user here is total revenue ÷ active users (the tile shows the dashboard’s ARPU)  ·  L = lakh; monthly figures are four-month averages</a:t>
            </a:r>
            <a:endParaRPr lang="en-US" sz="900" dirty="0"/>
          </a:p>
        </p:txBody>
      </p:sp>
      <p:sp>
        <p:nvSpPr>
          <p:cNvPr id="53" name="Text 47"/>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sp>
        <p:nvSpPr>
          <p:cNvPr id="3" name="Text 1"/>
          <p:cNvSpPr txBox="1"/>
          <p:nvPr/>
        </p:nvSpPr>
        <p:spPr>
          <a:xfrm>
            <a:off x="548640" y="457200"/>
            <a:ext cx="658368"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Q2</a:t>
            </a:r>
            <a:endParaRPr lang="en-US" sz="1700" dirty="0"/>
          </a:p>
        </p:txBody>
      </p:sp>
      <p:sp>
        <p:nvSpPr>
          <p:cNvPr id="4" name="Text 2"/>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Q2 · CUSTOMER TREND</a:t>
            </a:r>
            <a:endParaRPr lang="en-US" sz="1200" dirty="0"/>
          </a:p>
        </p:txBody>
      </p:sp>
      <p:sp>
        <p:nvSpPr>
          <p:cNvPr id="5" name="Text 3"/>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Users slumped at launch and stayed 8% lower, while churn jumped</a:t>
            </a:r>
            <a:endParaRPr lang="en-US" sz="2500" dirty="0"/>
          </a:p>
        </p:txBody>
      </p:sp>
      <p:sp>
        <p:nvSpPr>
          <p:cNvPr id="6" name="Shape 4"/>
          <p:cNvSpPr/>
          <p:nvPr/>
        </p:nvSpPr>
        <p:spPr>
          <a:xfrm>
            <a:off x="548640" y="1737360"/>
            <a:ext cx="5394960" cy="3977640"/>
          </a:xfrm>
          <a:prstGeom prst="roundRect">
            <a:avLst>
              <a:gd name="adj" fmla="val 1839"/>
            </a:avLst>
          </a:prstGeom>
          <a:solidFill>
            <a:srgbClr val="F5F4FA"/>
          </a:solidFill>
          <a:ln w="12700">
            <a:solidFill>
              <a:srgbClr val="F5F4FA"/>
            </a:solidFill>
            <a:prstDash val="solid"/>
          </a:ln>
        </p:spPr>
      </p:sp>
      <p:sp>
        <p:nvSpPr>
          <p:cNvPr id="7" name="Shape 5"/>
          <p:cNvSpPr/>
          <p:nvPr/>
        </p:nvSpPr>
        <p:spPr>
          <a:xfrm>
            <a:off x="6245352" y="1737360"/>
            <a:ext cx="5394960" cy="3977640"/>
          </a:xfrm>
          <a:prstGeom prst="roundRect">
            <a:avLst>
              <a:gd name="adj" fmla="val 1839"/>
            </a:avLst>
          </a:prstGeom>
          <a:solidFill>
            <a:srgbClr val="F5F4FA"/>
          </a:solidFill>
          <a:ln w="12700">
            <a:solidFill>
              <a:srgbClr val="F5F4FA"/>
            </a:solidFill>
            <a:prstDash val="solid"/>
          </a:ln>
        </p:spPr>
      </p:sp>
      <p:sp>
        <p:nvSpPr>
          <p:cNvPr id="8" name="Text 6"/>
          <p:cNvSpPr txBox="1"/>
          <p:nvPr/>
        </p:nvSpPr>
        <p:spPr>
          <a:xfrm>
            <a:off x="777240" y="1874520"/>
            <a:ext cx="493776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Active users by month (lakh)</a:t>
            </a:r>
            <a:endParaRPr lang="en-US" sz="1300" dirty="0"/>
          </a:p>
        </p:txBody>
      </p:sp>
      <p:sp>
        <p:nvSpPr>
          <p:cNvPr id="9" name="Text 7"/>
          <p:cNvSpPr txBox="1"/>
          <p:nvPr/>
        </p:nvSpPr>
        <p:spPr>
          <a:xfrm>
            <a:off x="777240" y="2148840"/>
            <a:ext cx="4937760" cy="228600"/>
          </a:xfrm>
          <a:prstGeom prst="rect">
            <a:avLst/>
          </a:prstGeom>
          <a:noFill/>
          <a:ln/>
        </p:spPr>
        <p:txBody>
          <a:bodyPr wrap="square" lIns="0" tIns="0" rIns="0" bIns="0" rtlCol="0" anchor="t"/>
          <a:lstStyle/>
          <a:p>
            <a:pPr indent="0" marL="0">
              <a:buNone/>
            </a:pPr>
            <a:r>
              <a:rPr lang="en-US" sz="1050" dirty="0">
                <a:solidFill>
                  <a:srgbClr val="BCB9CB"/>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Before 5G    </a:t>
            </a:r>
            <a:pPr indent="0" marL="0">
              <a:buNone/>
            </a:pPr>
            <a:r>
              <a:rPr lang="en-US" sz="1050" dirty="0">
                <a:solidFill>
                  <a:srgbClr val="5B3DF5"/>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After 5G</a:t>
            </a:r>
            <a:endParaRPr lang="en-US" sz="1050" dirty="0"/>
          </a:p>
        </p:txBody>
      </p:sp>
      <p:graphicFrame>
        <p:nvGraphicFramePr>
          <p:cNvPr id="10" name="Chart 0" descr=""/>
          <p:cNvGraphicFramePr/>
          <p:nvPr/>
        </p:nvGraphicFramePr>
        <p:xfrm>
          <a:off x="640080" y="2423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6473952" y="1874520"/>
            <a:ext cx="493776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Unsubscribe rate by month (% of active users)</a:t>
            </a:r>
            <a:endParaRPr lang="en-US" sz="1300" dirty="0"/>
          </a:p>
        </p:txBody>
      </p:sp>
      <p:sp>
        <p:nvSpPr>
          <p:cNvPr id="12" name="Text 9"/>
          <p:cNvSpPr txBox="1"/>
          <p:nvPr/>
        </p:nvSpPr>
        <p:spPr>
          <a:xfrm>
            <a:off x="6473952" y="2148840"/>
            <a:ext cx="4937760" cy="228600"/>
          </a:xfrm>
          <a:prstGeom prst="rect">
            <a:avLst/>
          </a:prstGeom>
          <a:noFill/>
          <a:ln/>
        </p:spPr>
        <p:txBody>
          <a:bodyPr wrap="square" lIns="0" tIns="0" rIns="0" bIns="0" rtlCol="0" anchor="t"/>
          <a:lstStyle/>
          <a:p>
            <a:pPr indent="0" marL="0">
              <a:buNone/>
            </a:pPr>
            <a:r>
              <a:rPr lang="en-US" sz="1050" dirty="0">
                <a:solidFill>
                  <a:srgbClr val="BCB9CB"/>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Before 5G    </a:t>
            </a:r>
            <a:pPr indent="0" marL="0">
              <a:buNone/>
            </a:pPr>
            <a:r>
              <a:rPr lang="en-US" sz="1050" dirty="0">
                <a:solidFill>
                  <a:srgbClr val="E5484D"/>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After 5G</a:t>
            </a:r>
            <a:endParaRPr lang="en-US" sz="1050" dirty="0"/>
          </a:p>
        </p:txBody>
      </p:sp>
      <p:graphicFrame>
        <p:nvGraphicFramePr>
          <p:cNvPr id="13" name="Chart 1" descr=""/>
          <p:cNvGraphicFramePr/>
          <p:nvPr/>
        </p:nvGraphicFramePr>
        <p:xfrm>
          <a:off x="6336792" y="2423160"/>
          <a:ext cx="5212080" cy="320040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548640" y="5806440"/>
            <a:ext cx="11091672" cy="502920"/>
          </a:xfrm>
          <a:prstGeom prst="rect">
            <a:avLst/>
          </a:prstGeom>
          <a:noFill/>
          <a:ln/>
        </p:spPr>
        <p:txBody>
          <a:bodyPr wrap="square" lIns="0" tIns="0" rIns="0" bIns="0" rtlCol="0" anchor="t"/>
          <a:lstStyle/>
          <a:p>
            <a:pPr indent="0" marL="0">
              <a:buNone/>
            </a:pPr>
            <a:r>
              <a:rPr lang="en-US" sz="1200" b="1" dirty="0">
                <a:solidFill>
                  <a:srgbClr val="1B1838"/>
                </a:solidFill>
                <a:latin typeface="Calibri" pitchFamily="34" charset="0"/>
                <a:ea typeface="Calibri" pitchFamily="34" charset="-122"/>
                <a:cs typeface="Calibri" pitchFamily="34" charset="-120"/>
              </a:rPr>
              <a:t>Read-across: </a:t>
            </a:r>
            <a:pPr indent="0" marL="0">
              <a:buNone/>
            </a:pPr>
            <a:r>
              <a:rPr lang="en-US" sz="1200" dirty="0">
                <a:solidFill>
                  <a:srgbClr val="1B1838"/>
                </a:solidFill>
                <a:latin typeface="Calibri" pitchFamily="34" charset="0"/>
                <a:ea typeface="Calibri" pitchFamily="34" charset="-122"/>
                <a:cs typeface="Calibri" pitchFamily="34" charset="-120"/>
              </a:rPr>
              <a:t>June, the first month after launch, was the lowest month for users (169.9 L, −19.4% vs. April). Churn was already rising before launch (6.1% → 7.3%) and then jumped to about 9%. The launch made an existing problem worse.</a:t>
            </a:r>
            <a:endParaRPr lang="en-US" sz="1200" dirty="0"/>
          </a:p>
        </p:txBody>
      </p:sp>
      <p:sp>
        <p:nvSpPr>
          <p:cNvPr id="15" name="Text 11"/>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16" name="Text 12"/>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pic>
        <p:nvPicPr>
          <p:cNvPr id="3" name="Image 0" descr="preencoded.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Q2 · CITY LENS</a:t>
            </a:r>
            <a:endParaRPr lang="en-US" sz="1200" dirty="0"/>
          </a:p>
        </p:txBody>
      </p:sp>
      <p:sp>
        <p:nvSpPr>
          <p:cNvPr id="5" name="Text 2"/>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12 of 15 cities lost users, 14 saw more churn, and all 15 lost share</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828800"/>
                <a:gridCol w="1947672"/>
                <a:gridCol w="1463040"/>
                <a:gridCol w="1463040"/>
                <a:gridCol w="1463040"/>
                <a:gridCol w="1463040"/>
                <a:gridCol w="1463040"/>
              </a:tblGrid>
              <a:tr h="26060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City</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0E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Revenue, Jan–Sep (₹ Cr)</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0E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Revenue Δ</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0E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ARPU Δ</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0E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Active users Δ</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0E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Unsubscribed Δ</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0E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Market share Δ</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0E33"/>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Mumbai</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489.5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615E78"/>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+17.4%</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−14.4%</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−1.33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Delhi</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387.2</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+18.2%</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−17.6%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−1.39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Kolkata</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384.4</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615E78"/>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+27.8%</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−1.27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Bangalore</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338.6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15E78"/>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+19.6%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−13.9%</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+20.7%</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−1.35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Chennai</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296.4</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dirty="0">
                          <a:solidFill>
                            <a:srgbClr val="615E78"/>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+36.9%</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−1.43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Pune</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259.8</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15E78"/>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−12.9%</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+18.1%</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+55.3%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−1.44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Hyderabad</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235.7</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+10.6%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+38.1%</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−1.26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Ahmedabad</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187.1</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+21.8%</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−1.33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Jaipur</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140.9</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615E78"/>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+52.5%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−1.42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Lucknow</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130.8</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+77.9%</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−1.41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Patna</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98.2</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+20.3%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−16.1%</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−1.30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Coimbatore</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91.4</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15E78"/>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−9.3%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+26.5%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−1.32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Chandigarh</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61.2</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615E78"/>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+45.6%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−1.33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Gurgaon</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54.6</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+16.9%</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−13.1%</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+12.1%</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−1.46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r>
              <a:tr h="260604">
                <a:tc>
                  <a:txBody>
                    <a:bodyPr/>
                    <a:lstStyle/>
                    <a:p>
                      <a:pPr indent="0" marL="0">
                        <a:buNone/>
                      </a:pPr>
                      <a:r>
                        <a:rPr lang="en-US" sz="1100" b="1" dirty="0">
                          <a:solidFill>
                            <a:srgbClr val="1B1838"/>
                          </a:solidFill>
                          <a:latin typeface="Calibri" pitchFamily="34" charset="0"/>
                          <a:ea typeface="Calibri" pitchFamily="34" charset="-122"/>
                          <a:cs typeface="Calibri" pitchFamily="34" charset="-120"/>
                        </a:rPr>
                        <a:t>Raipur</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1B1838"/>
                          </a:solidFill>
                          <a:latin typeface="Calibri" pitchFamily="34" charset="0"/>
                          <a:ea typeface="Calibri" pitchFamily="34" charset="-122"/>
                          <a:cs typeface="Calibri" pitchFamily="34" charset="-120"/>
                        </a:rPr>
                        <a:t>31.5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9FD"/>
                    </a:solidFill>
                  </a:tcPr>
                </a:tc>
                <a:tc>
                  <a:txBody>
                    <a:bodyPr/>
                    <a:lstStyle/>
                    <a:p>
                      <a:pPr algn="ctr" indent="0" marL="0">
                        <a:buNone/>
                      </a:pPr>
                      <a:r>
                        <a:rPr lang="en-US" sz="1100" dirty="0">
                          <a:solidFill>
                            <a:srgbClr val="0B6E51"/>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5EE"/>
                    </a:solidFill>
                  </a:tcPr>
                </a:tc>
                <a:tc>
                  <a:txBody>
                    <a:bodyPr/>
                    <a:lstStyle/>
                    <a:p>
                      <a:pPr algn="ctr" indent="0" marL="0">
                        <a:buNone/>
                      </a:pPr>
                      <a:r>
                        <a:rPr lang="en-US" sz="1100" b="1" dirty="0">
                          <a:solidFill>
                            <a:srgbClr val="0B6E51"/>
                          </a:solidFill>
                          <a:latin typeface="Calibri" pitchFamily="34" charset="0"/>
                          <a:ea typeface="Calibri" pitchFamily="34" charset="-122"/>
                          <a:cs typeface="Calibri" pitchFamily="34" charset="-120"/>
                        </a:rPr>
                        <a:t>+22.3%</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E8D7"/>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−16.7%</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b="1" dirty="0">
                          <a:solidFill>
                            <a:srgbClr val="A3262B"/>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C6C8"/>
                    </a:solidFill>
                  </a:tcPr>
                </a:tc>
                <a:tc>
                  <a:txBody>
                    <a:bodyPr/>
                    <a:lstStyle/>
                    <a:p>
                      <a:pPr algn="ctr" indent="0" marL="0">
                        <a:buNone/>
                      </a:pPr>
                      <a:r>
                        <a:rPr lang="en-US" sz="1100" dirty="0">
                          <a:solidFill>
                            <a:srgbClr val="A3262B"/>
                          </a:solidFill>
                          <a:latin typeface="Calibri" pitchFamily="34" charset="0"/>
                          <a:ea typeface="Calibri" pitchFamily="34" charset="-122"/>
                          <a:cs typeface="Calibri" pitchFamily="34" charset="-120"/>
                        </a:rPr>
                        <a:t>−1.28 pp</a:t>
                      </a:r>
                      <a:endParaRPr lang="en-US" sz="1100" dirty="0">
                        <a:latin typeface="Calibri" charset="0"/>
                        <a:ea typeface="Calibri" charset="0"/>
                        <a:cs typeface="Calibri" charset="0"/>
                      </a:endParaRPr>
                    </a:p>
                  </a:txBody>
                  <a:tcPr marL="91440" marR="9144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E9E9"/>
                    </a:solidFill>
                  </a:tcPr>
                </a:tc>
              </a:tr>
            </a:tbl>
          </a:graphicData>
        </a:graphic>
      </p:graphicFrame>
      <p:sp>
        <p:nvSpPr>
          <p:cNvPr id="7" name="Text 3"/>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050" dirty="0">
                <a:solidFill>
                  <a:srgbClr val="BDE8D7"/>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favourable   </a:t>
            </a:r>
            <a:pPr indent="0" marL="0">
              <a:buNone/>
            </a:pPr>
            <a:r>
              <a:rPr lang="en-US" sz="1050" dirty="0">
                <a:solidFill>
                  <a:srgbClr val="F8C6C8"/>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unfavourable   </a:t>
            </a:r>
            <a:pPr indent="0" marL="0">
              <a:buNone/>
            </a:pPr>
            <a:r>
              <a:rPr lang="en-US" sz="1050" dirty="0">
                <a:solidFill>
                  <a:srgbClr val="615E78"/>
                </a:solidFill>
                <a:latin typeface="Calibri" pitchFamily="34" charset="0"/>
                <a:ea typeface="Calibri" pitchFamily="34" charset="-122"/>
                <a:cs typeface="Calibri" pitchFamily="34" charset="-120"/>
              </a:rPr>
              <a:t>Darker shade and bold = move of 10% or more (1.4 pp or more for share). Sorted by revenue.</a:t>
            </a:r>
            <a:endParaRPr lang="en-US" sz="1050" dirty="0"/>
          </a:p>
        </p:txBody>
      </p:sp>
      <p:sp>
        <p:nvSpPr>
          <p:cNvPr id="8" name="Text 4"/>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9" name="Text 5"/>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sp>
        <p:nvSpPr>
          <p:cNvPr id="3" name="Text 1"/>
          <p:cNvSpPr txBox="1"/>
          <p:nvPr/>
        </p:nvSpPr>
        <p:spPr>
          <a:xfrm>
            <a:off x="548640" y="457200"/>
            <a:ext cx="658368"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Q3</a:t>
            </a:r>
            <a:endParaRPr lang="en-US" sz="1700" dirty="0"/>
          </a:p>
        </p:txBody>
      </p:sp>
      <p:sp>
        <p:nvSpPr>
          <p:cNvPr id="4" name="Text 2"/>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Q3 · PLANS THAT ARE WORKING</a:t>
            </a:r>
            <a:endParaRPr lang="en-US" sz="1200" dirty="0"/>
          </a:p>
        </p:txBody>
      </p:sp>
      <p:sp>
        <p:nvSpPr>
          <p:cNvPr id="5" name="Text 3"/>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Five plans earn 77% of plan revenue, led by p1 and the new 5G packs</a:t>
            </a:r>
            <a:endParaRPr lang="en-US" sz="2500" dirty="0"/>
          </a:p>
        </p:txBody>
      </p:sp>
      <p:sp>
        <p:nvSpPr>
          <p:cNvPr id="6" name="Text 4"/>
          <p:cNvSpPr txBox="1"/>
          <p:nvPr/>
        </p:nvSpPr>
        <p:spPr>
          <a:xfrm>
            <a:off x="548640" y="1737360"/>
            <a:ext cx="621792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Plan revenue after the 5G launch (Jun–Sep), ₹ Cr</a:t>
            </a:r>
            <a:endParaRPr lang="en-US" sz="1300" dirty="0"/>
          </a:p>
        </p:txBody>
      </p:sp>
      <p:sp>
        <p:nvSpPr>
          <p:cNvPr id="7" name="Text 5"/>
          <p:cNvSpPr txBox="1"/>
          <p:nvPr/>
        </p:nvSpPr>
        <p:spPr>
          <a:xfrm>
            <a:off x="548640" y="2011680"/>
            <a:ext cx="6217920" cy="228600"/>
          </a:xfrm>
          <a:prstGeom prst="rect">
            <a:avLst/>
          </a:prstGeom>
          <a:noFill/>
          <a:ln/>
        </p:spPr>
        <p:txBody>
          <a:bodyPr wrap="square" lIns="0" tIns="0" rIns="0" bIns="0" rtlCol="0" anchor="t"/>
          <a:lstStyle/>
          <a:p>
            <a:pPr indent="0" marL="0">
              <a:buNone/>
            </a:pPr>
            <a:r>
              <a:rPr lang="en-US" sz="1050" dirty="0">
                <a:solidFill>
                  <a:srgbClr val="5B3DF5"/>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Top 5    </a:t>
            </a:r>
            <a:pPr indent="0" marL="0">
              <a:buNone/>
            </a:pPr>
            <a:r>
              <a:rPr lang="en-US" sz="1050" dirty="0">
                <a:solidFill>
                  <a:srgbClr val="BCB9CB"/>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Other plans    </a:t>
            </a:r>
            <a:pPr indent="0" marL="0">
              <a:buNone/>
            </a:pPr>
            <a:r>
              <a:rPr lang="en-US" sz="1050" dirty="0">
                <a:solidFill>
                  <a:srgbClr val="615E78"/>
                </a:solidFill>
                <a:latin typeface="Calibri" pitchFamily="34" charset="0"/>
                <a:ea typeface="Calibri" pitchFamily="34" charset="-122"/>
                <a:cs typeface="Calibri" pitchFamily="34" charset="-120"/>
              </a:rPr>
              <a:t>* launched with 5G</a:t>
            </a:r>
            <a:endParaRPr lang="en-US" sz="1050" dirty="0"/>
          </a:p>
        </p:txBody>
      </p:sp>
      <p:graphicFrame>
        <p:nvGraphicFramePr>
          <p:cNvPr id="8" name="Chart 0" descr=""/>
          <p:cNvGraphicFramePr/>
          <p:nvPr/>
        </p:nvGraphicFramePr>
        <p:xfrm>
          <a:off x="411480" y="2240280"/>
          <a:ext cx="6400800" cy="40233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086600" y="1737360"/>
            <a:ext cx="4553712" cy="1353312"/>
          </a:xfrm>
          <a:prstGeom prst="roundRect">
            <a:avLst>
              <a:gd name="adj" fmla="val 5405"/>
            </a:avLst>
          </a:prstGeom>
          <a:solidFill>
            <a:srgbClr val="F5F4FA"/>
          </a:solidFill>
          <a:ln w="12700">
            <a:solidFill>
              <a:srgbClr val="F5F4FA"/>
            </a:solidFill>
            <a:prstDash val="solid"/>
          </a:ln>
        </p:spPr>
      </p:sp>
      <p:sp>
        <p:nvSpPr>
          <p:cNvPr id="10" name="Shape 7"/>
          <p:cNvSpPr/>
          <p:nvPr/>
        </p:nvSpPr>
        <p:spPr>
          <a:xfrm>
            <a:off x="7287768" y="1965960"/>
            <a:ext cx="502920" cy="502920"/>
          </a:xfrm>
          <a:prstGeom prst="ellipse">
            <a:avLst/>
          </a:prstGeom>
          <a:solidFill>
            <a:srgbClr val="12A67A"/>
          </a:solidFill>
          <a:ln w="12700">
            <a:solidFill>
              <a:srgbClr val="12A67A"/>
            </a:solidFill>
            <a:prstDash val="solid"/>
          </a:ln>
        </p:spPr>
      </p:sp>
      <p:pic>
        <p:nvPicPr>
          <p:cNvPr id="11" name="Image 0" descr="preencoded.png">    </p:cNvPr>
          <p:cNvPicPr>
            <a:picLocks noChangeAspect="1"/>
          </p:cNvPicPr>
          <p:nvPr/>
        </p:nvPicPr>
        <p:blipFill>
          <a:blip r:embed="rId2"/>
          <a:stretch>
            <a:fillRect/>
          </a:stretch>
        </p:blipFill>
        <p:spPr>
          <a:xfrm>
            <a:off x="7415784" y="2093976"/>
            <a:ext cx="246888" cy="246888"/>
          </a:xfrm>
          <a:prstGeom prst="rect">
            <a:avLst/>
          </a:prstGeom>
        </p:spPr>
      </p:pic>
      <p:sp>
        <p:nvSpPr>
          <p:cNvPr id="12" name="Text 8"/>
          <p:cNvSpPr txBox="1"/>
          <p:nvPr/>
        </p:nvSpPr>
        <p:spPr>
          <a:xfrm>
            <a:off x="7955280" y="1920240"/>
            <a:ext cx="3520440" cy="320040"/>
          </a:xfrm>
          <a:prstGeom prst="rect">
            <a:avLst/>
          </a:prstGeom>
          <a:noFill/>
          <a:ln/>
        </p:spPr>
        <p:txBody>
          <a:bodyPr wrap="square" lIns="0" tIns="0" rIns="0" bIns="0" rtlCol="0" anchor="t"/>
          <a:lstStyle/>
          <a:p>
            <a:pPr indent="0" marL="0">
              <a:buNone/>
            </a:pPr>
            <a:r>
              <a:rPr lang="en-US" sz="1400" b="1" dirty="0">
                <a:solidFill>
                  <a:srgbClr val="1B1838"/>
                </a:solidFill>
                <a:latin typeface="Calibri" pitchFamily="34" charset="0"/>
                <a:ea typeface="Calibri" pitchFamily="34" charset="-122"/>
                <a:cs typeface="Calibri" pitchFamily="34" charset="-120"/>
              </a:rPr>
              <a:t>p1 is the growth engine</a:t>
            </a:r>
            <a:endParaRPr lang="en-US" sz="1400" dirty="0"/>
          </a:p>
        </p:txBody>
      </p:sp>
      <p:sp>
        <p:nvSpPr>
          <p:cNvPr id="13" name="Text 9"/>
          <p:cNvSpPr txBox="1"/>
          <p:nvPr/>
        </p:nvSpPr>
        <p:spPr>
          <a:xfrm>
            <a:off x="7955280" y="2249424"/>
            <a:ext cx="3520440" cy="77724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Smart Recharge (2 GB/day, 3 months) grew 31.7% (+₹57.4 Cr) and rose in all 15 cities (+16% to +53%).</a:t>
            </a:r>
            <a:endParaRPr lang="en-US" sz="1150" dirty="0"/>
          </a:p>
        </p:txBody>
      </p:sp>
      <p:sp>
        <p:nvSpPr>
          <p:cNvPr id="14" name="Shape 10"/>
          <p:cNvSpPr/>
          <p:nvPr/>
        </p:nvSpPr>
        <p:spPr>
          <a:xfrm>
            <a:off x="7086600" y="3246120"/>
            <a:ext cx="4553712" cy="1353312"/>
          </a:xfrm>
          <a:prstGeom prst="roundRect">
            <a:avLst>
              <a:gd name="adj" fmla="val 5405"/>
            </a:avLst>
          </a:prstGeom>
          <a:solidFill>
            <a:srgbClr val="F5F4FA"/>
          </a:solidFill>
          <a:ln w="12700">
            <a:solidFill>
              <a:srgbClr val="F5F4FA"/>
            </a:solidFill>
            <a:prstDash val="solid"/>
          </a:ln>
        </p:spPr>
      </p:sp>
      <p:sp>
        <p:nvSpPr>
          <p:cNvPr id="15" name="Shape 11"/>
          <p:cNvSpPr/>
          <p:nvPr/>
        </p:nvSpPr>
        <p:spPr>
          <a:xfrm>
            <a:off x="7287768" y="3474720"/>
            <a:ext cx="502920" cy="502920"/>
          </a:xfrm>
          <a:prstGeom prst="ellipse">
            <a:avLst/>
          </a:prstGeom>
          <a:solidFill>
            <a:srgbClr val="5B3DF5"/>
          </a:solidFill>
          <a:ln w="12700">
            <a:solidFill>
              <a:srgbClr val="5B3DF5"/>
            </a:solidFill>
            <a:prstDash val="solid"/>
          </a:ln>
        </p:spPr>
      </p:sp>
      <p:pic>
        <p:nvPicPr>
          <p:cNvPr id="16" name="Image 1" descr="preencoded.png">    </p:cNvPr>
          <p:cNvPicPr>
            <a:picLocks noChangeAspect="1"/>
          </p:cNvPicPr>
          <p:nvPr/>
        </p:nvPicPr>
        <p:blipFill>
          <a:blip r:embed="rId3"/>
          <a:stretch>
            <a:fillRect/>
          </a:stretch>
        </p:blipFill>
        <p:spPr>
          <a:xfrm>
            <a:off x="7415784" y="3602736"/>
            <a:ext cx="246888" cy="246888"/>
          </a:xfrm>
          <a:prstGeom prst="rect">
            <a:avLst/>
          </a:prstGeom>
        </p:spPr>
      </p:pic>
      <p:sp>
        <p:nvSpPr>
          <p:cNvPr id="17" name="Text 12"/>
          <p:cNvSpPr txBox="1"/>
          <p:nvPr/>
        </p:nvSpPr>
        <p:spPr>
          <a:xfrm>
            <a:off x="7955280" y="3429000"/>
            <a:ext cx="3520440" cy="320040"/>
          </a:xfrm>
          <a:prstGeom prst="rect">
            <a:avLst/>
          </a:prstGeom>
          <a:noFill/>
          <a:ln/>
        </p:spPr>
        <p:txBody>
          <a:bodyPr wrap="square" lIns="0" tIns="0" rIns="0" bIns="0" rtlCol="0" anchor="t"/>
          <a:lstStyle/>
          <a:p>
            <a:pPr indent="0" marL="0">
              <a:buNone/>
            </a:pPr>
            <a:r>
              <a:rPr lang="en-US" sz="1400" b="1" dirty="0">
                <a:solidFill>
                  <a:srgbClr val="1B1838"/>
                </a:solidFill>
                <a:latin typeface="Calibri" pitchFamily="34" charset="0"/>
                <a:ea typeface="Calibri" pitchFamily="34" charset="-122"/>
                <a:cs typeface="Calibri" pitchFamily="34" charset="-120"/>
              </a:rPr>
              <a:t>New 5G packs took off at once</a:t>
            </a:r>
            <a:endParaRPr lang="en-US" sz="1400" dirty="0"/>
          </a:p>
        </p:txBody>
      </p:sp>
      <p:sp>
        <p:nvSpPr>
          <p:cNvPr id="18" name="Text 13"/>
          <p:cNvSpPr txBox="1"/>
          <p:nvPr/>
        </p:nvSpPr>
        <p:spPr>
          <a:xfrm>
            <a:off x="7955280" y="3758184"/>
            <a:ext cx="3520440" cy="77724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p11 Ultra Fast Mega (3 GB/day) and p12 Ultra Duo (1.8 GB/day) earned ₹302.1 Cr in four months, 28% of plan revenue.</a:t>
            </a:r>
            <a:endParaRPr lang="en-US" sz="1150" dirty="0"/>
          </a:p>
        </p:txBody>
      </p:sp>
      <p:sp>
        <p:nvSpPr>
          <p:cNvPr id="19" name="Shape 14"/>
          <p:cNvSpPr/>
          <p:nvPr/>
        </p:nvSpPr>
        <p:spPr>
          <a:xfrm>
            <a:off x="7086600" y="4754880"/>
            <a:ext cx="4553712" cy="1353312"/>
          </a:xfrm>
          <a:prstGeom prst="roundRect">
            <a:avLst>
              <a:gd name="adj" fmla="val 5405"/>
            </a:avLst>
          </a:prstGeom>
          <a:solidFill>
            <a:srgbClr val="F5F4FA"/>
          </a:solidFill>
          <a:ln w="12700">
            <a:solidFill>
              <a:srgbClr val="F5F4FA"/>
            </a:solidFill>
            <a:prstDash val="solid"/>
          </a:ln>
        </p:spPr>
      </p:sp>
      <p:sp>
        <p:nvSpPr>
          <p:cNvPr id="20" name="Shape 15"/>
          <p:cNvSpPr/>
          <p:nvPr/>
        </p:nvSpPr>
        <p:spPr>
          <a:xfrm>
            <a:off x="7287768" y="4983480"/>
            <a:ext cx="502920" cy="502920"/>
          </a:xfrm>
          <a:prstGeom prst="ellipse">
            <a:avLst/>
          </a:prstGeom>
          <a:solidFill>
            <a:srgbClr val="1E1950"/>
          </a:solidFill>
          <a:ln w="12700">
            <a:solidFill>
              <a:srgbClr val="1E1950"/>
            </a:solidFill>
            <a:prstDash val="solid"/>
          </a:ln>
        </p:spPr>
      </p:sp>
      <p:pic>
        <p:nvPicPr>
          <p:cNvPr id="21" name="Image 2" descr="preencoded.png">    </p:cNvPr>
          <p:cNvPicPr>
            <a:picLocks noChangeAspect="1"/>
          </p:cNvPicPr>
          <p:nvPr/>
        </p:nvPicPr>
        <p:blipFill>
          <a:blip r:embed="rId4"/>
          <a:stretch>
            <a:fillRect/>
          </a:stretch>
        </p:blipFill>
        <p:spPr>
          <a:xfrm>
            <a:off x="7415784" y="5111496"/>
            <a:ext cx="246888" cy="246888"/>
          </a:xfrm>
          <a:prstGeom prst="rect">
            <a:avLst/>
          </a:prstGeom>
        </p:spPr>
      </p:pic>
      <p:sp>
        <p:nvSpPr>
          <p:cNvPr id="22" name="Text 16"/>
          <p:cNvSpPr txBox="1"/>
          <p:nvPr/>
        </p:nvSpPr>
        <p:spPr>
          <a:xfrm>
            <a:off x="7955280" y="4937760"/>
            <a:ext cx="3520440" cy="320040"/>
          </a:xfrm>
          <a:prstGeom prst="rect">
            <a:avLst/>
          </a:prstGeom>
          <a:noFill/>
          <a:ln/>
        </p:spPr>
        <p:txBody>
          <a:bodyPr wrap="square" lIns="0" tIns="0" rIns="0" bIns="0" rtlCol="0" anchor="t"/>
          <a:lstStyle/>
          <a:p>
            <a:pPr indent="0" marL="0">
              <a:buNone/>
            </a:pPr>
            <a:r>
              <a:rPr lang="en-US" sz="1400" b="1" dirty="0">
                <a:solidFill>
                  <a:srgbClr val="1B1838"/>
                </a:solidFill>
                <a:latin typeface="Calibri" pitchFamily="34" charset="0"/>
                <a:ea typeface="Calibri" pitchFamily="34" charset="-122"/>
                <a:cs typeface="Calibri" pitchFamily="34" charset="-120"/>
              </a:rPr>
              <a:t>p2 and p3 are a stable core</a:t>
            </a:r>
            <a:endParaRPr lang="en-US" sz="1400" dirty="0"/>
          </a:p>
        </p:txBody>
      </p:sp>
      <p:sp>
        <p:nvSpPr>
          <p:cNvPr id="23" name="Text 17"/>
          <p:cNvSpPr txBox="1"/>
          <p:nvPr/>
        </p:nvSpPr>
        <p:spPr>
          <a:xfrm>
            <a:off x="7955280" y="5266944"/>
            <a:ext cx="3520440" cy="77724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Super Saviour (flat) and Elite Saver (−1.8%) held steady at ₹278 Cr combined.</a:t>
            </a:r>
            <a:endParaRPr lang="en-US" sz="1150" dirty="0"/>
          </a:p>
        </p:txBody>
      </p:sp>
      <p:sp>
        <p:nvSpPr>
          <p:cNvPr id="24" name="Text 18"/>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25" name="Text 19"/>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sp>
        <p:nvSpPr>
          <p:cNvPr id="3" name="Text 1"/>
          <p:cNvSpPr txBox="1"/>
          <p:nvPr/>
        </p:nvSpPr>
        <p:spPr>
          <a:xfrm>
            <a:off x="548640" y="457200"/>
            <a:ext cx="658368"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Q3</a:t>
            </a:r>
            <a:endParaRPr lang="en-US" sz="1700" dirty="0"/>
          </a:p>
        </p:txBody>
      </p:sp>
      <p:sp>
        <p:nvSpPr>
          <p:cNvPr id="4" name="Text 2"/>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Q3 · PLANS THAT ARE NOT WORKING</a:t>
            </a:r>
            <a:endParaRPr lang="en-US" sz="1200" dirty="0"/>
          </a:p>
        </p:txBody>
      </p:sp>
      <p:sp>
        <p:nvSpPr>
          <p:cNvPr id="5" name="Text 3"/>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The less data a plan offers, the harder it fell after the 5G launch</a:t>
            </a:r>
            <a:endParaRPr lang="en-US" sz="2500" dirty="0"/>
          </a:p>
        </p:txBody>
      </p:sp>
      <p:sp>
        <p:nvSpPr>
          <p:cNvPr id="6" name="Text 4"/>
          <p:cNvSpPr txBox="1"/>
          <p:nvPr/>
        </p:nvSpPr>
        <p:spPr>
          <a:xfrm>
            <a:off x="548640" y="1737360"/>
            <a:ext cx="658368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Revenue change after launch, plans ordered by data allowance</a:t>
            </a:r>
            <a:endParaRPr lang="en-US" sz="1300" dirty="0"/>
          </a:p>
        </p:txBody>
      </p:sp>
      <p:sp>
        <p:nvSpPr>
          <p:cNvPr id="7" name="Text 5"/>
          <p:cNvSpPr txBox="1"/>
          <p:nvPr/>
        </p:nvSpPr>
        <p:spPr>
          <a:xfrm>
            <a:off x="548640" y="2011680"/>
            <a:ext cx="6583680" cy="228600"/>
          </a:xfrm>
          <a:prstGeom prst="rect">
            <a:avLst/>
          </a:prstGeom>
          <a:noFill/>
          <a:ln/>
        </p:spPr>
        <p:txBody>
          <a:bodyPr wrap="square" lIns="0" tIns="0" rIns="0" bIns="0" rtlCol="0" anchor="t"/>
          <a:lstStyle/>
          <a:p>
            <a:pPr indent="0" marL="0">
              <a:buNone/>
            </a:pPr>
            <a:r>
              <a:rPr lang="en-US" sz="1050" dirty="0">
                <a:solidFill>
                  <a:srgbClr val="12A67A"/>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growing    </a:t>
            </a:r>
            <a:pPr indent="0" marL="0">
              <a:buNone/>
            </a:pPr>
            <a:r>
              <a:rPr lang="en-US" sz="1050" dirty="0">
                <a:solidFill>
                  <a:srgbClr val="BCB9CB"/>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flat (within ±2%)    </a:t>
            </a:r>
            <a:pPr indent="0" marL="0">
              <a:buNone/>
            </a:pPr>
            <a:r>
              <a:rPr lang="en-US" sz="1050" dirty="0">
                <a:solidFill>
                  <a:srgbClr val="E5484D"/>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declining</a:t>
            </a:r>
            <a:endParaRPr lang="en-US" sz="1050" dirty="0"/>
          </a:p>
        </p:txBody>
      </p:sp>
      <p:graphicFrame>
        <p:nvGraphicFramePr>
          <p:cNvPr id="8" name="Chart 0" descr=""/>
          <p:cNvGraphicFramePr/>
          <p:nvPr/>
        </p:nvGraphicFramePr>
        <p:xfrm>
          <a:off x="411480" y="2240280"/>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7360920" y="1737360"/>
            <a:ext cx="4206240" cy="320040"/>
          </a:xfrm>
          <a:prstGeom prst="rect">
            <a:avLst/>
          </a:prstGeom>
          <a:noFill/>
          <a:ln/>
        </p:spPr>
        <p:txBody>
          <a:bodyPr wrap="square" lIns="0" tIns="0" rIns="0" bIns="0" rtlCol="0" anchor="t"/>
          <a:lstStyle/>
          <a:p>
            <a:pPr indent="0" marL="0">
              <a:buNone/>
            </a:pPr>
            <a:r>
              <a:rPr lang="en-US" sz="1500" b="1" dirty="0">
                <a:solidFill>
                  <a:srgbClr val="1B1838"/>
                </a:solidFill>
                <a:latin typeface="Calibri" pitchFamily="34" charset="0"/>
                <a:ea typeface="Calibri" pitchFamily="34" charset="-122"/>
                <a:cs typeface="Calibri" pitchFamily="34" charset="-120"/>
              </a:rPr>
              <a:t>Underperformers</a:t>
            </a:r>
            <a:endParaRPr lang="en-US" sz="1500" dirty="0"/>
          </a:p>
        </p:txBody>
      </p:sp>
      <p:sp>
        <p:nvSpPr>
          <p:cNvPr id="10" name="Shape 7"/>
          <p:cNvSpPr/>
          <p:nvPr/>
        </p:nvSpPr>
        <p:spPr>
          <a:xfrm>
            <a:off x="7360920" y="2148840"/>
            <a:ext cx="4279392" cy="676656"/>
          </a:xfrm>
          <a:prstGeom prst="roundRect">
            <a:avLst>
              <a:gd name="adj" fmla="val 10811"/>
            </a:avLst>
          </a:prstGeom>
          <a:solidFill>
            <a:srgbClr val="FDE9E9"/>
          </a:solidFill>
          <a:ln w="12700">
            <a:solidFill>
              <a:srgbClr val="FDE9E9"/>
            </a:solidFill>
            <a:prstDash val="solid"/>
          </a:ln>
        </p:spPr>
      </p:sp>
      <p:sp>
        <p:nvSpPr>
          <p:cNvPr id="11" name="Text 8"/>
          <p:cNvSpPr txBox="1"/>
          <p:nvPr/>
        </p:nvSpPr>
        <p:spPr>
          <a:xfrm>
            <a:off x="7543800" y="2148840"/>
            <a:ext cx="502920" cy="676656"/>
          </a:xfrm>
          <a:prstGeom prst="rect">
            <a:avLst/>
          </a:prstGeom>
          <a:noFill/>
          <a:ln/>
        </p:spPr>
        <p:txBody>
          <a:bodyPr wrap="square" lIns="0" tIns="0" rIns="0" bIns="0" rtlCol="0" anchor="ctr"/>
          <a:lstStyle/>
          <a:p>
            <a:pPr indent="0" marL="0">
              <a:buNone/>
            </a:pPr>
            <a:r>
              <a:rPr lang="en-US" sz="1500" b="1" dirty="0">
                <a:solidFill>
                  <a:srgbClr val="A3262B"/>
                </a:solidFill>
                <a:latin typeface="Calibri" pitchFamily="34" charset="0"/>
                <a:ea typeface="Calibri" pitchFamily="34" charset="-122"/>
                <a:cs typeface="Calibri" pitchFamily="34" charset="-120"/>
              </a:rPr>
              <a:t>p7</a:t>
            </a:r>
            <a:endParaRPr lang="en-US" sz="1500" dirty="0"/>
          </a:p>
        </p:txBody>
      </p:sp>
      <p:sp>
        <p:nvSpPr>
          <p:cNvPr id="12" name="Text 9"/>
          <p:cNvSpPr txBox="1"/>
          <p:nvPr/>
        </p:nvSpPr>
        <p:spPr>
          <a:xfrm>
            <a:off x="8046720" y="2221992"/>
            <a:ext cx="2468880" cy="548640"/>
          </a:xfrm>
          <a:prstGeom prst="rect">
            <a:avLst/>
          </a:prstGeom>
          <a:noFill/>
          <a:ln/>
        </p:spPr>
        <p:txBody>
          <a:bodyPr wrap="square" lIns="0" tIns="0" rIns="0" bIns="0" rtlCol="0" anchor="ctr"/>
          <a:lstStyle/>
          <a:p>
            <a:pPr indent="0" marL="0">
              <a:buNone/>
            </a:pPr>
            <a:r>
              <a:rPr lang="en-US" sz="1100" b="1" dirty="0">
                <a:solidFill>
                  <a:srgbClr val="1B1838"/>
                </a:solidFill>
                <a:latin typeface="Calibri" pitchFamily="34" charset="0"/>
                <a:ea typeface="Calibri" pitchFamily="34" charset="-122"/>
                <a:cs typeface="Calibri" pitchFamily="34" charset="-120"/>
              </a:rPr>
              <a:t>25 GB Combo 3G/4G Data Pack</a:t>
            </a:r>
            <a:endParaRPr lang="en-US" sz="1100" dirty="0"/>
          </a:p>
          <a:p>
            <a:pPr indent="0" marL="0">
              <a:buNone/>
            </a:pPr>
            <a:r>
              <a:rPr lang="en-US" sz="1100" dirty="0">
                <a:solidFill>
                  <a:srgbClr val="615E78"/>
                </a:solidFill>
                <a:latin typeface="Calibri" pitchFamily="34" charset="0"/>
                <a:ea typeface="Calibri" pitchFamily="34" charset="-122"/>
                <a:cs typeface="Calibri" pitchFamily="34" charset="-120"/>
              </a:rPr>
              <a:t>₹58.2 Cr → ₹15.6 Cr</a:t>
            </a:r>
            <a:endParaRPr lang="en-US" sz="1100" dirty="0"/>
          </a:p>
        </p:txBody>
      </p:sp>
      <p:sp>
        <p:nvSpPr>
          <p:cNvPr id="13" name="Text 10"/>
          <p:cNvSpPr txBox="1"/>
          <p:nvPr/>
        </p:nvSpPr>
        <p:spPr>
          <a:xfrm>
            <a:off x="10469880" y="2148840"/>
            <a:ext cx="1005840" cy="676656"/>
          </a:xfrm>
          <a:prstGeom prst="rect">
            <a:avLst/>
          </a:prstGeom>
          <a:noFill/>
          <a:ln/>
        </p:spPr>
        <p:txBody>
          <a:bodyPr wrap="square" lIns="0" tIns="0" rIns="0" bIns="0" rtlCol="0" anchor="ctr"/>
          <a:lstStyle/>
          <a:p>
            <a:pPr algn="r" indent="0" marL="0">
              <a:buNone/>
            </a:pPr>
            <a:r>
              <a:rPr lang="en-US" sz="1800" b="1" dirty="0">
                <a:solidFill>
                  <a:srgbClr val="E5484D"/>
                </a:solidFill>
                <a:latin typeface="Calibri" pitchFamily="34" charset="0"/>
                <a:ea typeface="Calibri" pitchFamily="34" charset="-122"/>
                <a:cs typeface="Calibri" pitchFamily="34" charset="-120"/>
              </a:rPr>
              <a:t>−73%</a:t>
            </a:r>
            <a:endParaRPr lang="en-US" sz="1800" dirty="0"/>
          </a:p>
        </p:txBody>
      </p:sp>
      <p:sp>
        <p:nvSpPr>
          <p:cNvPr id="14" name="Shape 11"/>
          <p:cNvSpPr/>
          <p:nvPr/>
        </p:nvSpPr>
        <p:spPr>
          <a:xfrm>
            <a:off x="7360920" y="2935224"/>
            <a:ext cx="4279392" cy="676656"/>
          </a:xfrm>
          <a:prstGeom prst="roundRect">
            <a:avLst>
              <a:gd name="adj" fmla="val 10811"/>
            </a:avLst>
          </a:prstGeom>
          <a:solidFill>
            <a:srgbClr val="FDE9E9"/>
          </a:solidFill>
          <a:ln w="12700">
            <a:solidFill>
              <a:srgbClr val="FDE9E9"/>
            </a:solidFill>
            <a:prstDash val="solid"/>
          </a:ln>
        </p:spPr>
      </p:sp>
      <p:sp>
        <p:nvSpPr>
          <p:cNvPr id="15" name="Text 12"/>
          <p:cNvSpPr txBox="1"/>
          <p:nvPr/>
        </p:nvSpPr>
        <p:spPr>
          <a:xfrm>
            <a:off x="7543800" y="2935224"/>
            <a:ext cx="502920" cy="676656"/>
          </a:xfrm>
          <a:prstGeom prst="rect">
            <a:avLst/>
          </a:prstGeom>
          <a:noFill/>
          <a:ln/>
        </p:spPr>
        <p:txBody>
          <a:bodyPr wrap="square" lIns="0" tIns="0" rIns="0" bIns="0" rtlCol="0" anchor="ctr"/>
          <a:lstStyle/>
          <a:p>
            <a:pPr indent="0" marL="0">
              <a:buNone/>
            </a:pPr>
            <a:r>
              <a:rPr lang="en-US" sz="1500" b="1" dirty="0">
                <a:solidFill>
                  <a:srgbClr val="A3262B"/>
                </a:solidFill>
                <a:latin typeface="Calibri" pitchFamily="34" charset="0"/>
                <a:ea typeface="Calibri" pitchFamily="34" charset="-122"/>
                <a:cs typeface="Calibri" pitchFamily="34" charset="-120"/>
              </a:rPr>
              <a:t>p5</a:t>
            </a:r>
            <a:endParaRPr lang="en-US" sz="1500" dirty="0"/>
          </a:p>
        </p:txBody>
      </p:sp>
      <p:sp>
        <p:nvSpPr>
          <p:cNvPr id="16" name="Text 13"/>
          <p:cNvSpPr txBox="1"/>
          <p:nvPr/>
        </p:nvSpPr>
        <p:spPr>
          <a:xfrm>
            <a:off x="8046720" y="3008376"/>
            <a:ext cx="2468880" cy="548640"/>
          </a:xfrm>
          <a:prstGeom prst="rect">
            <a:avLst/>
          </a:prstGeom>
          <a:noFill/>
          <a:ln/>
        </p:spPr>
        <p:txBody>
          <a:bodyPr wrap="square" lIns="0" tIns="0" rIns="0" bIns="0" rtlCol="0" anchor="ctr"/>
          <a:lstStyle/>
          <a:p>
            <a:pPr indent="0" marL="0">
              <a:buNone/>
            </a:pPr>
            <a:r>
              <a:rPr lang="en-US" sz="1100" b="1" dirty="0">
                <a:solidFill>
                  <a:srgbClr val="1B1838"/>
                </a:solidFill>
                <a:latin typeface="Calibri" pitchFamily="34" charset="0"/>
                <a:ea typeface="Calibri" pitchFamily="34" charset="-122"/>
                <a:cs typeface="Calibri" pitchFamily="34" charset="-120"/>
              </a:rPr>
              <a:t>Rs. 99 Full Talktime Combo</a:t>
            </a:r>
            <a:endParaRPr lang="en-US" sz="1100" dirty="0"/>
          </a:p>
          <a:p>
            <a:pPr indent="0" marL="0">
              <a:buNone/>
            </a:pPr>
            <a:r>
              <a:rPr lang="en-US" sz="1100" dirty="0">
                <a:solidFill>
                  <a:srgbClr val="615E78"/>
                </a:solidFill>
                <a:latin typeface="Calibri" pitchFamily="34" charset="0"/>
                <a:ea typeface="Calibri" pitchFamily="34" charset="-122"/>
                <a:cs typeface="Calibri" pitchFamily="34" charset="-120"/>
              </a:rPr>
              <a:t>₹100.5 Cr → ₹65.2 Cr</a:t>
            </a:r>
            <a:endParaRPr lang="en-US" sz="1100" dirty="0"/>
          </a:p>
        </p:txBody>
      </p:sp>
      <p:sp>
        <p:nvSpPr>
          <p:cNvPr id="17" name="Text 14"/>
          <p:cNvSpPr txBox="1"/>
          <p:nvPr/>
        </p:nvSpPr>
        <p:spPr>
          <a:xfrm>
            <a:off x="10469880" y="2935224"/>
            <a:ext cx="1005840" cy="676656"/>
          </a:xfrm>
          <a:prstGeom prst="rect">
            <a:avLst/>
          </a:prstGeom>
          <a:noFill/>
          <a:ln/>
        </p:spPr>
        <p:txBody>
          <a:bodyPr wrap="square" lIns="0" tIns="0" rIns="0" bIns="0" rtlCol="0" anchor="ctr"/>
          <a:lstStyle/>
          <a:p>
            <a:pPr algn="r" indent="0" marL="0">
              <a:buNone/>
            </a:pPr>
            <a:r>
              <a:rPr lang="en-US" sz="1800" b="1" dirty="0">
                <a:solidFill>
                  <a:srgbClr val="E5484D"/>
                </a:solidFill>
                <a:latin typeface="Calibri" pitchFamily="34" charset="0"/>
                <a:ea typeface="Calibri" pitchFamily="34" charset="-122"/>
                <a:cs typeface="Calibri" pitchFamily="34" charset="-120"/>
              </a:rPr>
              <a:t>−35%</a:t>
            </a:r>
            <a:endParaRPr lang="en-US" sz="1800" dirty="0"/>
          </a:p>
        </p:txBody>
      </p:sp>
      <p:sp>
        <p:nvSpPr>
          <p:cNvPr id="18" name="Shape 15"/>
          <p:cNvSpPr/>
          <p:nvPr/>
        </p:nvSpPr>
        <p:spPr>
          <a:xfrm>
            <a:off x="7360920" y="3721608"/>
            <a:ext cx="4279392" cy="676656"/>
          </a:xfrm>
          <a:prstGeom prst="roundRect">
            <a:avLst>
              <a:gd name="adj" fmla="val 10811"/>
            </a:avLst>
          </a:prstGeom>
          <a:solidFill>
            <a:srgbClr val="FDE9E9"/>
          </a:solidFill>
          <a:ln w="12700">
            <a:solidFill>
              <a:srgbClr val="FDE9E9"/>
            </a:solidFill>
            <a:prstDash val="solid"/>
          </a:ln>
        </p:spPr>
      </p:sp>
      <p:sp>
        <p:nvSpPr>
          <p:cNvPr id="19" name="Text 16"/>
          <p:cNvSpPr txBox="1"/>
          <p:nvPr/>
        </p:nvSpPr>
        <p:spPr>
          <a:xfrm>
            <a:off x="7543800" y="3721608"/>
            <a:ext cx="502920" cy="676656"/>
          </a:xfrm>
          <a:prstGeom prst="rect">
            <a:avLst/>
          </a:prstGeom>
          <a:noFill/>
          <a:ln/>
        </p:spPr>
        <p:txBody>
          <a:bodyPr wrap="square" lIns="0" tIns="0" rIns="0" bIns="0" rtlCol="0" anchor="ctr"/>
          <a:lstStyle/>
          <a:p>
            <a:pPr indent="0" marL="0">
              <a:buNone/>
            </a:pPr>
            <a:r>
              <a:rPr lang="en-US" sz="1500" b="1" dirty="0">
                <a:solidFill>
                  <a:srgbClr val="A3262B"/>
                </a:solidFill>
                <a:latin typeface="Calibri" pitchFamily="34" charset="0"/>
                <a:ea typeface="Calibri" pitchFamily="34" charset="-122"/>
                <a:cs typeface="Calibri" pitchFamily="34" charset="-120"/>
              </a:rPr>
              <a:t>p6</a:t>
            </a:r>
            <a:endParaRPr lang="en-US" sz="1500" dirty="0"/>
          </a:p>
        </p:txBody>
      </p:sp>
      <p:sp>
        <p:nvSpPr>
          <p:cNvPr id="20" name="Text 17"/>
          <p:cNvSpPr txBox="1"/>
          <p:nvPr/>
        </p:nvSpPr>
        <p:spPr>
          <a:xfrm>
            <a:off x="8046720" y="3794760"/>
            <a:ext cx="2468880" cy="548640"/>
          </a:xfrm>
          <a:prstGeom prst="rect">
            <a:avLst/>
          </a:prstGeom>
          <a:noFill/>
          <a:ln/>
        </p:spPr>
        <p:txBody>
          <a:bodyPr wrap="square" lIns="0" tIns="0" rIns="0" bIns="0" rtlCol="0" anchor="ctr"/>
          <a:lstStyle/>
          <a:p>
            <a:pPr indent="0" marL="0">
              <a:buNone/>
            </a:pPr>
            <a:r>
              <a:rPr lang="en-US" sz="1100" b="1" dirty="0">
                <a:solidFill>
                  <a:srgbClr val="1B1838"/>
                </a:solidFill>
                <a:latin typeface="Calibri" pitchFamily="34" charset="0"/>
                <a:ea typeface="Calibri" pitchFamily="34" charset="-122"/>
                <a:cs typeface="Calibri" pitchFamily="34" charset="-120"/>
              </a:rPr>
              <a:t>Xstream 15 GB / 28 days</a:t>
            </a:r>
            <a:endParaRPr lang="en-US" sz="1100" dirty="0"/>
          </a:p>
          <a:p>
            <a:pPr indent="0" marL="0">
              <a:buNone/>
            </a:pPr>
            <a:r>
              <a:rPr lang="en-US" sz="1100" dirty="0">
                <a:solidFill>
                  <a:srgbClr val="615E78"/>
                </a:solidFill>
                <a:latin typeface="Calibri" pitchFamily="34" charset="0"/>
                <a:ea typeface="Calibri" pitchFamily="34" charset="-122"/>
                <a:cs typeface="Calibri" pitchFamily="34" charset="-120"/>
              </a:rPr>
              <a:t>₹74.9 Cr → ₹49.5 Cr</a:t>
            </a:r>
            <a:endParaRPr lang="en-US" sz="1100" dirty="0"/>
          </a:p>
        </p:txBody>
      </p:sp>
      <p:sp>
        <p:nvSpPr>
          <p:cNvPr id="21" name="Text 18"/>
          <p:cNvSpPr txBox="1"/>
          <p:nvPr/>
        </p:nvSpPr>
        <p:spPr>
          <a:xfrm>
            <a:off x="10469880" y="3721608"/>
            <a:ext cx="1005840" cy="676656"/>
          </a:xfrm>
          <a:prstGeom prst="rect">
            <a:avLst/>
          </a:prstGeom>
          <a:noFill/>
          <a:ln/>
        </p:spPr>
        <p:txBody>
          <a:bodyPr wrap="square" lIns="0" tIns="0" rIns="0" bIns="0" rtlCol="0" anchor="ctr"/>
          <a:lstStyle/>
          <a:p>
            <a:pPr algn="r" indent="0" marL="0">
              <a:buNone/>
            </a:pPr>
            <a:r>
              <a:rPr lang="en-US" sz="1800" b="1" dirty="0">
                <a:solidFill>
                  <a:srgbClr val="E5484D"/>
                </a:solidFill>
                <a:latin typeface="Calibri" pitchFamily="34" charset="0"/>
                <a:ea typeface="Calibri" pitchFamily="34" charset="-122"/>
                <a:cs typeface="Calibri" pitchFamily="34" charset="-120"/>
              </a:rPr>
              <a:t>−34%</a:t>
            </a:r>
            <a:endParaRPr lang="en-US" sz="1800" dirty="0"/>
          </a:p>
        </p:txBody>
      </p:sp>
      <p:sp>
        <p:nvSpPr>
          <p:cNvPr id="22" name="Shape 19"/>
          <p:cNvSpPr/>
          <p:nvPr/>
        </p:nvSpPr>
        <p:spPr>
          <a:xfrm>
            <a:off x="7360920" y="4507992"/>
            <a:ext cx="4279392" cy="676656"/>
          </a:xfrm>
          <a:prstGeom prst="roundRect">
            <a:avLst>
              <a:gd name="adj" fmla="val 10811"/>
            </a:avLst>
          </a:prstGeom>
          <a:solidFill>
            <a:srgbClr val="FDE9E9"/>
          </a:solidFill>
          <a:ln w="12700">
            <a:solidFill>
              <a:srgbClr val="FDE9E9"/>
            </a:solidFill>
            <a:prstDash val="solid"/>
          </a:ln>
        </p:spPr>
      </p:sp>
      <p:sp>
        <p:nvSpPr>
          <p:cNvPr id="23" name="Text 20"/>
          <p:cNvSpPr txBox="1"/>
          <p:nvPr/>
        </p:nvSpPr>
        <p:spPr>
          <a:xfrm>
            <a:off x="7543800" y="4507992"/>
            <a:ext cx="502920" cy="676656"/>
          </a:xfrm>
          <a:prstGeom prst="rect">
            <a:avLst/>
          </a:prstGeom>
          <a:noFill/>
          <a:ln/>
        </p:spPr>
        <p:txBody>
          <a:bodyPr wrap="square" lIns="0" tIns="0" rIns="0" bIns="0" rtlCol="0" anchor="ctr"/>
          <a:lstStyle/>
          <a:p>
            <a:pPr indent="0" marL="0">
              <a:buNone/>
            </a:pPr>
            <a:r>
              <a:rPr lang="en-US" sz="1500" b="1" dirty="0">
                <a:solidFill>
                  <a:srgbClr val="A3262B"/>
                </a:solidFill>
                <a:latin typeface="Calibri" pitchFamily="34" charset="0"/>
                <a:ea typeface="Calibri" pitchFamily="34" charset="-122"/>
                <a:cs typeface="Calibri" pitchFamily="34" charset="-120"/>
              </a:rPr>
              <a:t>p4</a:t>
            </a:r>
            <a:endParaRPr lang="en-US" sz="1500" dirty="0"/>
          </a:p>
        </p:txBody>
      </p:sp>
      <p:sp>
        <p:nvSpPr>
          <p:cNvPr id="24" name="Text 21"/>
          <p:cNvSpPr txBox="1"/>
          <p:nvPr/>
        </p:nvSpPr>
        <p:spPr>
          <a:xfrm>
            <a:off x="8046720" y="4581144"/>
            <a:ext cx="2468880" cy="548640"/>
          </a:xfrm>
          <a:prstGeom prst="rect">
            <a:avLst/>
          </a:prstGeom>
          <a:noFill/>
          <a:ln/>
        </p:spPr>
        <p:txBody>
          <a:bodyPr wrap="square" lIns="0" tIns="0" rIns="0" bIns="0" rtlCol="0" anchor="ctr"/>
          <a:lstStyle/>
          <a:p>
            <a:pPr indent="0" marL="0">
              <a:buNone/>
            </a:pPr>
            <a:r>
              <a:rPr lang="en-US" sz="1100" b="1" dirty="0">
                <a:solidFill>
                  <a:srgbClr val="1B1838"/>
                </a:solidFill>
                <a:latin typeface="Calibri" pitchFamily="34" charset="0"/>
                <a:ea typeface="Calibri" pitchFamily="34" charset="-122"/>
                <a:cs typeface="Calibri" pitchFamily="34" charset="-120"/>
              </a:rPr>
              <a:t>Mini Data Saver 500 MB/day</a:t>
            </a:r>
            <a:endParaRPr lang="en-US" sz="1100" dirty="0"/>
          </a:p>
          <a:p>
            <a:pPr indent="0" marL="0">
              <a:buNone/>
            </a:pPr>
            <a:r>
              <a:rPr lang="en-US" sz="1100" dirty="0">
                <a:solidFill>
                  <a:srgbClr val="615E78"/>
                </a:solidFill>
                <a:latin typeface="Calibri" pitchFamily="34" charset="0"/>
                <a:ea typeface="Calibri" pitchFamily="34" charset="-122"/>
                <a:cs typeface="Calibri" pitchFamily="34" charset="-120"/>
              </a:rPr>
              <a:t>₹107.5 Cr → ₹87.7 Cr</a:t>
            </a:r>
            <a:endParaRPr lang="en-US" sz="1100" dirty="0"/>
          </a:p>
        </p:txBody>
      </p:sp>
      <p:sp>
        <p:nvSpPr>
          <p:cNvPr id="25" name="Text 22"/>
          <p:cNvSpPr txBox="1"/>
          <p:nvPr/>
        </p:nvSpPr>
        <p:spPr>
          <a:xfrm>
            <a:off x="10469880" y="4507992"/>
            <a:ext cx="1005840" cy="676656"/>
          </a:xfrm>
          <a:prstGeom prst="rect">
            <a:avLst/>
          </a:prstGeom>
          <a:noFill/>
          <a:ln/>
        </p:spPr>
        <p:txBody>
          <a:bodyPr wrap="square" lIns="0" tIns="0" rIns="0" bIns="0" rtlCol="0" anchor="ctr"/>
          <a:lstStyle/>
          <a:p>
            <a:pPr algn="r" indent="0" marL="0">
              <a:buNone/>
            </a:pPr>
            <a:r>
              <a:rPr lang="en-US" sz="1800" b="1" dirty="0">
                <a:solidFill>
                  <a:srgbClr val="E5484D"/>
                </a:solidFill>
                <a:latin typeface="Calibri" pitchFamily="34" charset="0"/>
                <a:ea typeface="Calibri" pitchFamily="34" charset="-122"/>
                <a:cs typeface="Calibri" pitchFamily="34" charset="-120"/>
              </a:rPr>
              <a:t>−18%</a:t>
            </a:r>
            <a:endParaRPr lang="en-US" sz="1800" dirty="0"/>
          </a:p>
        </p:txBody>
      </p:sp>
      <p:sp>
        <p:nvSpPr>
          <p:cNvPr id="26" name="Text 23"/>
          <p:cNvSpPr txBox="1"/>
          <p:nvPr/>
        </p:nvSpPr>
        <p:spPr>
          <a:xfrm>
            <a:off x="7360920" y="5349240"/>
            <a:ext cx="4279392" cy="868680"/>
          </a:xfrm>
          <a:prstGeom prst="rect">
            <a:avLst/>
          </a:prstGeom>
          <a:noFill/>
          <a:ln/>
        </p:spPr>
        <p:txBody>
          <a:bodyPr wrap="square" lIns="0" tIns="0" rIns="0" bIns="0" rtlCol="0" anchor="t"/>
          <a:lstStyle/>
          <a:p>
            <a:pPr indent="0" marL="0">
              <a:buNone/>
            </a:pPr>
            <a:r>
              <a:rPr lang="en-US" sz="1150" b="1" dirty="0">
                <a:solidFill>
                  <a:srgbClr val="1B1838"/>
                </a:solidFill>
                <a:latin typeface="Calibri" pitchFamily="34" charset="0"/>
                <a:ea typeface="Calibri" pitchFamily="34" charset="-122"/>
                <a:cs typeface="Calibri" pitchFamily="34" charset="-120"/>
              </a:rPr>
              <a:t>Together these four lost ₹123.3 Cr. </a:t>
            </a:r>
            <a:pPr indent="0" marL="0">
              <a:buNone/>
            </a:pPr>
            <a:r>
              <a:rPr lang="en-US" sz="1150" dirty="0">
                <a:solidFill>
                  <a:srgbClr val="1B1838"/>
                </a:solidFill>
                <a:latin typeface="Calibri" pitchFamily="34" charset="0"/>
                <a:ea typeface="Calibri" pitchFamily="34" charset="-122"/>
                <a:cs typeface="Calibri" pitchFamily="34" charset="-120"/>
              </a:rPr>
              <a:t>The new p13 (750 MB/day) is the weakest 5G launch at ₹31.5 Cr, which fits the pattern: low-data plans are losing appeal.</a:t>
            </a:r>
            <a:endParaRPr lang="en-US" sz="1150" dirty="0"/>
          </a:p>
        </p:txBody>
      </p:sp>
      <p:sp>
        <p:nvSpPr>
          <p:cNvPr id="27" name="Text 24"/>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28" name="Text 25"/>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sp>
        <p:nvSpPr>
          <p:cNvPr id="3" name="Text 1"/>
          <p:cNvSpPr txBox="1"/>
          <p:nvPr/>
        </p:nvSpPr>
        <p:spPr>
          <a:xfrm>
            <a:off x="548640" y="457200"/>
            <a:ext cx="658368"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Q4</a:t>
            </a:r>
            <a:endParaRPr lang="en-US" sz="1700" dirty="0"/>
          </a:p>
        </p:txBody>
      </p:sp>
      <p:sp>
        <p:nvSpPr>
          <p:cNvPr id="4" name="Text 2"/>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Q4 · MOST AFFECTED PLAN</a:t>
            </a:r>
            <a:endParaRPr lang="en-US" sz="1200" dirty="0"/>
          </a:p>
        </p:txBody>
      </p:sp>
      <p:sp>
        <p:nvSpPr>
          <p:cNvPr id="5" name="Text 3"/>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p7 lost 73% of its revenue: retire it and move its users to 5G</a:t>
            </a:r>
            <a:endParaRPr lang="en-US" sz="2500" dirty="0"/>
          </a:p>
        </p:txBody>
      </p:sp>
      <p:sp>
        <p:nvSpPr>
          <p:cNvPr id="6" name="Text 4"/>
          <p:cNvSpPr txBox="1"/>
          <p:nvPr/>
        </p:nvSpPr>
        <p:spPr>
          <a:xfrm>
            <a:off x="548640" y="1737360"/>
            <a:ext cx="603504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p7 monthly revenue, ₹ Cr</a:t>
            </a:r>
            <a:endParaRPr lang="en-US" sz="1300" dirty="0"/>
          </a:p>
        </p:txBody>
      </p:sp>
      <p:sp>
        <p:nvSpPr>
          <p:cNvPr id="7" name="Text 5"/>
          <p:cNvSpPr txBox="1"/>
          <p:nvPr/>
        </p:nvSpPr>
        <p:spPr>
          <a:xfrm>
            <a:off x="548640" y="2011680"/>
            <a:ext cx="6035040" cy="228600"/>
          </a:xfrm>
          <a:prstGeom prst="rect">
            <a:avLst/>
          </a:prstGeom>
          <a:noFill/>
          <a:ln/>
        </p:spPr>
        <p:txBody>
          <a:bodyPr wrap="square" lIns="0" tIns="0" rIns="0" bIns="0" rtlCol="0" anchor="t"/>
          <a:lstStyle/>
          <a:p>
            <a:pPr indent="0" marL="0">
              <a:buNone/>
            </a:pPr>
            <a:r>
              <a:rPr lang="en-US" sz="1050" dirty="0">
                <a:solidFill>
                  <a:srgbClr val="BCB9CB"/>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Before 5G    </a:t>
            </a:r>
            <a:pPr indent="0" marL="0">
              <a:buNone/>
            </a:pPr>
            <a:r>
              <a:rPr lang="en-US" sz="1050" dirty="0">
                <a:solidFill>
                  <a:srgbClr val="E5484D"/>
                </a:solidFill>
                <a:latin typeface="Calibri" pitchFamily="34" charset="0"/>
                <a:ea typeface="Calibri" pitchFamily="34" charset="-122"/>
                <a:cs typeface="Calibri" pitchFamily="34" charset="-120"/>
              </a:rPr>
              <a:t>■ </a:t>
            </a:r>
            <a:pPr indent="0" marL="0">
              <a:buNone/>
            </a:pPr>
            <a:r>
              <a:rPr lang="en-US" sz="1050" dirty="0">
                <a:solidFill>
                  <a:srgbClr val="615E78"/>
                </a:solidFill>
                <a:latin typeface="Calibri" pitchFamily="34" charset="0"/>
                <a:ea typeface="Calibri" pitchFamily="34" charset="-122"/>
                <a:cs typeface="Calibri" pitchFamily="34" charset="-120"/>
              </a:rPr>
              <a:t>After 5G</a:t>
            </a:r>
            <a:endParaRPr lang="en-US" sz="1050" dirty="0"/>
          </a:p>
        </p:txBody>
      </p:sp>
      <p:graphicFrame>
        <p:nvGraphicFramePr>
          <p:cNvPr id="8" name="Chart 0" descr=""/>
          <p:cNvGraphicFramePr/>
          <p:nvPr/>
        </p:nvGraphicFramePr>
        <p:xfrm>
          <a:off x="457200" y="2240280"/>
          <a:ext cx="6217920" cy="26060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48640" y="5029200"/>
            <a:ext cx="1920240" cy="1188720"/>
          </a:xfrm>
          <a:prstGeom prst="roundRect">
            <a:avLst>
              <a:gd name="adj" fmla="val 6154"/>
            </a:avLst>
          </a:prstGeom>
          <a:solidFill>
            <a:srgbClr val="FDE9E9"/>
          </a:solidFill>
          <a:ln w="12700">
            <a:solidFill>
              <a:srgbClr val="FDE9E9"/>
            </a:solidFill>
            <a:prstDash val="solid"/>
          </a:ln>
        </p:spPr>
      </p:sp>
      <p:sp>
        <p:nvSpPr>
          <p:cNvPr id="10" name="Text 7"/>
          <p:cNvSpPr txBox="1"/>
          <p:nvPr/>
        </p:nvSpPr>
        <p:spPr>
          <a:xfrm>
            <a:off x="713232" y="5138928"/>
            <a:ext cx="1645920" cy="548640"/>
          </a:xfrm>
          <a:prstGeom prst="rect">
            <a:avLst/>
          </a:prstGeom>
          <a:noFill/>
          <a:ln/>
        </p:spPr>
        <p:txBody>
          <a:bodyPr wrap="square" lIns="0" tIns="0" rIns="0" bIns="0" rtlCol="0" anchor="ctr"/>
          <a:lstStyle/>
          <a:p>
            <a:pPr indent="0" marL="0">
              <a:buNone/>
            </a:pPr>
            <a:r>
              <a:rPr lang="en-US" sz="1700" b="1" dirty="0">
                <a:solidFill>
                  <a:srgbClr val="A3262B"/>
                </a:solidFill>
                <a:latin typeface="Calibri" pitchFamily="34" charset="0"/>
                <a:ea typeface="Calibri" pitchFamily="34" charset="-122"/>
                <a:cs typeface="Calibri" pitchFamily="34" charset="-120"/>
              </a:rPr>
              <a:t>₹14.6 → ₹3.9 Cr</a:t>
            </a:r>
            <a:endParaRPr lang="en-US" sz="1700" dirty="0"/>
          </a:p>
        </p:txBody>
      </p:sp>
      <p:sp>
        <p:nvSpPr>
          <p:cNvPr id="11" name="Text 8"/>
          <p:cNvSpPr txBox="1"/>
          <p:nvPr/>
        </p:nvSpPr>
        <p:spPr>
          <a:xfrm>
            <a:off x="713232" y="5687568"/>
            <a:ext cx="1645920" cy="457200"/>
          </a:xfrm>
          <a:prstGeom prst="rect">
            <a:avLst/>
          </a:prstGeom>
          <a:noFill/>
          <a:ln/>
        </p:spPr>
        <p:txBody>
          <a:bodyPr wrap="square" lIns="0" tIns="0" rIns="0" bIns="0" rtlCol="0" anchor="t"/>
          <a:lstStyle/>
          <a:p>
            <a:pPr indent="0" marL="0">
              <a:buNone/>
            </a:pPr>
            <a:r>
              <a:rPr lang="en-US" sz="1100" dirty="0">
                <a:solidFill>
                  <a:srgbClr val="615E78"/>
                </a:solidFill>
                <a:latin typeface="Calibri" pitchFamily="34" charset="0"/>
                <a:ea typeface="Calibri" pitchFamily="34" charset="-122"/>
                <a:cs typeface="Calibri" pitchFamily="34" charset="-120"/>
              </a:rPr>
              <a:t>average monthly revenue</a:t>
            </a:r>
            <a:endParaRPr lang="en-US" sz="1100" dirty="0"/>
          </a:p>
        </p:txBody>
      </p:sp>
      <p:sp>
        <p:nvSpPr>
          <p:cNvPr id="12" name="Shape 9"/>
          <p:cNvSpPr/>
          <p:nvPr/>
        </p:nvSpPr>
        <p:spPr>
          <a:xfrm>
            <a:off x="2606040" y="5029200"/>
            <a:ext cx="1920240" cy="1188720"/>
          </a:xfrm>
          <a:prstGeom prst="roundRect">
            <a:avLst>
              <a:gd name="adj" fmla="val 6154"/>
            </a:avLst>
          </a:prstGeom>
          <a:solidFill>
            <a:srgbClr val="FDE9E9"/>
          </a:solidFill>
          <a:ln w="12700">
            <a:solidFill>
              <a:srgbClr val="FDE9E9"/>
            </a:solidFill>
            <a:prstDash val="solid"/>
          </a:ln>
        </p:spPr>
      </p:sp>
      <p:sp>
        <p:nvSpPr>
          <p:cNvPr id="13" name="Text 10"/>
          <p:cNvSpPr txBox="1"/>
          <p:nvPr/>
        </p:nvSpPr>
        <p:spPr>
          <a:xfrm>
            <a:off x="2770632" y="5138928"/>
            <a:ext cx="1645920" cy="548640"/>
          </a:xfrm>
          <a:prstGeom prst="rect">
            <a:avLst/>
          </a:prstGeom>
          <a:noFill/>
          <a:ln/>
        </p:spPr>
        <p:txBody>
          <a:bodyPr wrap="square" lIns="0" tIns="0" rIns="0" bIns="0" rtlCol="0" anchor="ctr"/>
          <a:lstStyle/>
          <a:p>
            <a:pPr indent="0" marL="0">
              <a:buNone/>
            </a:pPr>
            <a:r>
              <a:rPr lang="en-US" sz="1700" b="1" dirty="0">
                <a:solidFill>
                  <a:srgbClr val="A3262B"/>
                </a:solidFill>
                <a:latin typeface="Calibri" pitchFamily="34" charset="0"/>
                <a:ea typeface="Calibri" pitchFamily="34" charset="-122"/>
                <a:cs typeface="Calibri" pitchFamily="34" charset="-120"/>
              </a:rPr>
              <a:t>15 of 15</a:t>
            </a:r>
            <a:endParaRPr lang="en-US" sz="1700" dirty="0"/>
          </a:p>
        </p:txBody>
      </p:sp>
      <p:sp>
        <p:nvSpPr>
          <p:cNvPr id="14" name="Text 11"/>
          <p:cNvSpPr txBox="1"/>
          <p:nvPr/>
        </p:nvSpPr>
        <p:spPr>
          <a:xfrm>
            <a:off x="2770632" y="5687568"/>
            <a:ext cx="1645920" cy="457200"/>
          </a:xfrm>
          <a:prstGeom prst="rect">
            <a:avLst/>
          </a:prstGeom>
          <a:noFill/>
          <a:ln/>
        </p:spPr>
        <p:txBody>
          <a:bodyPr wrap="square" lIns="0" tIns="0" rIns="0" bIns="0" rtlCol="0" anchor="t"/>
          <a:lstStyle/>
          <a:p>
            <a:pPr indent="0" marL="0">
              <a:buNone/>
            </a:pPr>
            <a:r>
              <a:rPr lang="en-US" sz="1100" dirty="0">
                <a:solidFill>
                  <a:srgbClr val="615E78"/>
                </a:solidFill>
                <a:latin typeface="Calibri" pitchFamily="34" charset="0"/>
                <a:ea typeface="Calibri" pitchFamily="34" charset="-122"/>
                <a:cs typeface="Calibri" pitchFamily="34" charset="-120"/>
              </a:rPr>
              <a:t>cities down, by 65–79%</a:t>
            </a:r>
            <a:endParaRPr lang="en-US" sz="1100" dirty="0"/>
          </a:p>
        </p:txBody>
      </p:sp>
      <p:sp>
        <p:nvSpPr>
          <p:cNvPr id="15" name="Shape 12"/>
          <p:cNvSpPr/>
          <p:nvPr/>
        </p:nvSpPr>
        <p:spPr>
          <a:xfrm>
            <a:off x="4663440" y="5029200"/>
            <a:ext cx="1920240" cy="1188720"/>
          </a:xfrm>
          <a:prstGeom prst="roundRect">
            <a:avLst>
              <a:gd name="adj" fmla="val 6154"/>
            </a:avLst>
          </a:prstGeom>
          <a:solidFill>
            <a:srgbClr val="FDE9E9"/>
          </a:solidFill>
          <a:ln w="12700">
            <a:solidFill>
              <a:srgbClr val="FDE9E9"/>
            </a:solidFill>
            <a:prstDash val="solid"/>
          </a:ln>
        </p:spPr>
      </p:sp>
      <p:sp>
        <p:nvSpPr>
          <p:cNvPr id="16" name="Text 13"/>
          <p:cNvSpPr txBox="1"/>
          <p:nvPr/>
        </p:nvSpPr>
        <p:spPr>
          <a:xfrm>
            <a:off x="4828032" y="5138928"/>
            <a:ext cx="1645920" cy="548640"/>
          </a:xfrm>
          <a:prstGeom prst="rect">
            <a:avLst/>
          </a:prstGeom>
          <a:noFill/>
          <a:ln/>
        </p:spPr>
        <p:txBody>
          <a:bodyPr wrap="square" lIns="0" tIns="0" rIns="0" bIns="0" rtlCol="0" anchor="ctr"/>
          <a:lstStyle/>
          <a:p>
            <a:pPr indent="0" marL="0">
              <a:buNone/>
            </a:pPr>
            <a:r>
              <a:rPr lang="en-US" sz="1700" b="1" dirty="0">
                <a:solidFill>
                  <a:srgbClr val="A3262B"/>
                </a:solidFill>
                <a:latin typeface="Calibri" pitchFamily="34" charset="0"/>
                <a:ea typeface="Calibri" pitchFamily="34" charset="-122"/>
                <a:cs typeface="Calibri" pitchFamily="34" charset="-120"/>
              </a:rPr>
              <a:t>6.6% → 1.5%</a:t>
            </a:r>
            <a:endParaRPr lang="en-US" sz="1700" dirty="0"/>
          </a:p>
        </p:txBody>
      </p:sp>
      <p:sp>
        <p:nvSpPr>
          <p:cNvPr id="17" name="Text 14"/>
          <p:cNvSpPr txBox="1"/>
          <p:nvPr/>
        </p:nvSpPr>
        <p:spPr>
          <a:xfrm>
            <a:off x="4828032" y="5687568"/>
            <a:ext cx="1645920" cy="457200"/>
          </a:xfrm>
          <a:prstGeom prst="rect">
            <a:avLst/>
          </a:prstGeom>
          <a:noFill/>
          <a:ln/>
        </p:spPr>
        <p:txBody>
          <a:bodyPr wrap="square" lIns="0" tIns="0" rIns="0" bIns="0" rtlCol="0" anchor="t"/>
          <a:lstStyle/>
          <a:p>
            <a:pPr indent="0" marL="0">
              <a:buNone/>
            </a:pPr>
            <a:r>
              <a:rPr lang="en-US" sz="1100" dirty="0">
                <a:solidFill>
                  <a:srgbClr val="615E78"/>
                </a:solidFill>
                <a:latin typeface="Calibri" pitchFamily="34" charset="0"/>
                <a:ea typeface="Calibri" pitchFamily="34" charset="-122"/>
                <a:cs typeface="Calibri" pitchFamily="34" charset="-120"/>
              </a:rPr>
              <a:t>share of plan revenue</a:t>
            </a:r>
            <a:endParaRPr lang="en-US" sz="1100" dirty="0"/>
          </a:p>
        </p:txBody>
      </p:sp>
      <p:sp>
        <p:nvSpPr>
          <p:cNvPr id="18" name="Shape 15"/>
          <p:cNvSpPr/>
          <p:nvPr/>
        </p:nvSpPr>
        <p:spPr>
          <a:xfrm>
            <a:off x="6995160" y="1737360"/>
            <a:ext cx="4645152" cy="4480560"/>
          </a:xfrm>
          <a:prstGeom prst="roundRect">
            <a:avLst>
              <a:gd name="adj" fmla="val 1633"/>
            </a:avLst>
          </a:prstGeom>
          <a:solidFill>
            <a:srgbClr val="120E33"/>
          </a:solidFill>
          <a:ln w="12700">
            <a:solidFill>
              <a:srgbClr val="120E33"/>
            </a:solidFill>
            <a:prstDash val="solid"/>
          </a:ln>
        </p:spPr>
      </p:sp>
      <p:sp>
        <p:nvSpPr>
          <p:cNvPr id="19" name="Text 16"/>
          <p:cNvSpPr txBox="1"/>
          <p:nvPr/>
        </p:nvSpPr>
        <p:spPr>
          <a:xfrm>
            <a:off x="7269480" y="1965960"/>
            <a:ext cx="4114800" cy="274320"/>
          </a:xfrm>
          <a:prstGeom prst="rect">
            <a:avLst/>
          </a:prstGeom>
          <a:noFill/>
          <a:ln/>
        </p:spPr>
        <p:txBody>
          <a:bodyPr wrap="square" lIns="0" tIns="0" rIns="0" bIns="0" rtlCol="0" anchor="t"/>
          <a:lstStyle/>
          <a:p>
            <a:pPr indent="0" marL="0">
              <a:buNone/>
            </a:pPr>
            <a:r>
              <a:rPr lang="en-US" sz="1100" b="1" spc="200" kern="0" dirty="0">
                <a:solidFill>
                  <a:srgbClr val="B4A8FF"/>
                </a:solidFill>
                <a:latin typeface="Calibri" pitchFamily="34" charset="0"/>
                <a:ea typeface="Calibri" pitchFamily="34" charset="-122"/>
                <a:cs typeface="Calibri" pitchFamily="34" charset="-120"/>
              </a:rPr>
              <a:t>RECOMMENDATION</a:t>
            </a:r>
            <a:endParaRPr lang="en-US" sz="1100" dirty="0"/>
          </a:p>
        </p:txBody>
      </p:sp>
      <p:sp>
        <p:nvSpPr>
          <p:cNvPr id="20" name="Text 17"/>
          <p:cNvSpPr txBox="1"/>
          <p:nvPr/>
        </p:nvSpPr>
        <p:spPr>
          <a:xfrm>
            <a:off x="7269480" y="2240280"/>
            <a:ext cx="4114800" cy="9144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Discontinue p7 in its current form and move its users to a 5G data pack</a:t>
            </a:r>
            <a:endParaRPr lang="en-US" sz="1900" dirty="0"/>
          </a:p>
        </p:txBody>
      </p:sp>
      <p:sp>
        <p:nvSpPr>
          <p:cNvPr id="21" name="Shape 18"/>
          <p:cNvSpPr/>
          <p:nvPr/>
        </p:nvSpPr>
        <p:spPr>
          <a:xfrm>
            <a:off x="7269480" y="3300984"/>
            <a:ext cx="201168" cy="201168"/>
          </a:xfrm>
          <a:prstGeom prst="ellipse">
            <a:avLst/>
          </a:prstGeom>
          <a:solidFill>
            <a:srgbClr val="5B3DF5"/>
          </a:solidFill>
          <a:ln w="12700">
            <a:solidFill>
              <a:srgbClr val="5B3DF5"/>
            </a:solidFill>
            <a:prstDash val="solid"/>
          </a:ln>
        </p:spPr>
      </p:sp>
      <p:sp>
        <p:nvSpPr>
          <p:cNvPr id="22" name="Text 19"/>
          <p:cNvSpPr txBox="1"/>
          <p:nvPr/>
        </p:nvSpPr>
        <p:spPr>
          <a:xfrm>
            <a:off x="7635240" y="3246120"/>
            <a:ext cx="3794760" cy="6583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Obsolete promise  </a:t>
            </a:r>
            <a:pPr indent="0" marL="0">
              <a:buNone/>
            </a:pPr>
            <a:r>
              <a:rPr lang="en-US" sz="1150" dirty="0">
                <a:solidFill>
                  <a:srgbClr val="CFC8FA"/>
                </a:solidFill>
                <a:latin typeface="Calibri" pitchFamily="34" charset="0"/>
                <a:ea typeface="Calibri" pitchFamily="34" charset="-122"/>
                <a:cs typeface="Calibri" pitchFamily="34" charset="-120"/>
              </a:rPr>
              <a:t>It is sold as a 3G/4G pack, which makes little sense on a 5G network.</a:t>
            </a:r>
            <a:endParaRPr lang="en-US" sz="1150" dirty="0"/>
          </a:p>
        </p:txBody>
      </p:sp>
      <p:sp>
        <p:nvSpPr>
          <p:cNvPr id="23" name="Shape 20"/>
          <p:cNvSpPr/>
          <p:nvPr/>
        </p:nvSpPr>
        <p:spPr>
          <a:xfrm>
            <a:off x="7269480" y="4014216"/>
            <a:ext cx="201168" cy="201168"/>
          </a:xfrm>
          <a:prstGeom prst="ellipse">
            <a:avLst/>
          </a:prstGeom>
          <a:solidFill>
            <a:srgbClr val="5B3DF5"/>
          </a:solidFill>
          <a:ln w="12700">
            <a:solidFill>
              <a:srgbClr val="5B3DF5"/>
            </a:solidFill>
            <a:prstDash val="solid"/>
          </a:ln>
        </p:spPr>
      </p:sp>
      <p:sp>
        <p:nvSpPr>
          <p:cNvPr id="24" name="Text 21"/>
          <p:cNvSpPr txBox="1"/>
          <p:nvPr/>
        </p:nvSpPr>
        <p:spPr>
          <a:xfrm>
            <a:off x="7635240" y="3959352"/>
            <a:ext cx="3794760" cy="6583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Product, not market  </a:t>
            </a:r>
            <a:pPr indent="0" marL="0">
              <a:buNone/>
            </a:pPr>
            <a:r>
              <a:rPr lang="en-US" sz="1150" dirty="0">
                <a:solidFill>
                  <a:srgbClr val="CFC8FA"/>
                </a:solidFill>
                <a:latin typeface="Calibri" pitchFamily="34" charset="0"/>
                <a:ea typeface="Calibri" pitchFamily="34" charset="-122"/>
                <a:cs typeface="Calibri" pitchFamily="34" charset="-120"/>
              </a:rPr>
              <a:t>Revenue fell by a similar amount in every city, so the problem is the plan itself, not any local market.</a:t>
            </a:r>
            <a:endParaRPr lang="en-US" sz="1150" dirty="0"/>
          </a:p>
        </p:txBody>
      </p:sp>
      <p:sp>
        <p:nvSpPr>
          <p:cNvPr id="25" name="Shape 22"/>
          <p:cNvSpPr/>
          <p:nvPr/>
        </p:nvSpPr>
        <p:spPr>
          <a:xfrm>
            <a:off x="7269480" y="4727448"/>
            <a:ext cx="201168" cy="201168"/>
          </a:xfrm>
          <a:prstGeom prst="ellipse">
            <a:avLst/>
          </a:prstGeom>
          <a:solidFill>
            <a:srgbClr val="5B3DF5"/>
          </a:solidFill>
          <a:ln w="12700">
            <a:solidFill>
              <a:srgbClr val="5B3DF5"/>
            </a:solidFill>
            <a:prstDash val="solid"/>
          </a:ln>
        </p:spPr>
      </p:sp>
      <p:sp>
        <p:nvSpPr>
          <p:cNvPr id="26" name="Text 23"/>
          <p:cNvSpPr txBox="1"/>
          <p:nvPr/>
        </p:nvSpPr>
        <p:spPr>
          <a:xfrm>
            <a:off x="7635240" y="4672584"/>
            <a:ext cx="3794760" cy="6583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Low exit cost  </a:t>
            </a:r>
            <a:pPr indent="0" marL="0">
              <a:buNone/>
            </a:pPr>
            <a:r>
              <a:rPr lang="en-US" sz="1150" dirty="0">
                <a:solidFill>
                  <a:srgbClr val="CFC8FA"/>
                </a:solidFill>
                <a:latin typeface="Calibri" pitchFamily="34" charset="0"/>
                <a:ea typeface="Calibri" pitchFamily="34" charset="-122"/>
                <a:cs typeface="Calibri" pitchFamily="34" charset="-120"/>
              </a:rPr>
              <a:t>It now earns only ₹3.9 Cr a month, 1.5% of plan revenue.</a:t>
            </a:r>
            <a:endParaRPr lang="en-US" sz="1150" dirty="0"/>
          </a:p>
        </p:txBody>
      </p:sp>
      <p:sp>
        <p:nvSpPr>
          <p:cNvPr id="27" name="Shape 24"/>
          <p:cNvSpPr/>
          <p:nvPr/>
        </p:nvSpPr>
        <p:spPr>
          <a:xfrm>
            <a:off x="7269480" y="5440680"/>
            <a:ext cx="201168" cy="201168"/>
          </a:xfrm>
          <a:prstGeom prst="ellipse">
            <a:avLst/>
          </a:prstGeom>
          <a:solidFill>
            <a:srgbClr val="5B3DF5"/>
          </a:solidFill>
          <a:ln w="12700">
            <a:solidFill>
              <a:srgbClr val="5B3DF5"/>
            </a:solidFill>
            <a:prstDash val="solid"/>
          </a:ln>
        </p:spPr>
      </p:sp>
      <p:sp>
        <p:nvSpPr>
          <p:cNvPr id="28" name="Text 25"/>
          <p:cNvSpPr txBox="1"/>
          <p:nvPr/>
        </p:nvSpPr>
        <p:spPr>
          <a:xfrm>
            <a:off x="7635240" y="5385816"/>
            <a:ext cx="3794760" cy="6583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Keep the customers  </a:t>
            </a:r>
            <a:pPr indent="0" marL="0">
              <a:buNone/>
            </a:pPr>
            <a:r>
              <a:rPr lang="en-US" sz="1150" dirty="0">
                <a:solidFill>
                  <a:srgbClr val="CFC8FA"/>
                </a:solidFill>
                <a:latin typeface="Calibri" pitchFamily="34" charset="0"/>
                <a:ea typeface="Calibri" pitchFamily="34" charset="-122"/>
                <a:cs typeface="Calibri" pitchFamily="34" charset="-120"/>
              </a:rPr>
              <a:t>Offer p7 users an upgrade to a 5G-ready bulk-data pack (e.g., p12 or p13) before switching it off.</a:t>
            </a:r>
            <a:endParaRPr lang="en-US" sz="1150" dirty="0"/>
          </a:p>
        </p:txBody>
      </p:sp>
      <p:sp>
        <p:nvSpPr>
          <p:cNvPr id="29" name="Text 26"/>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30" name="Text 27"/>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sp>
        <p:nvSpPr>
          <p:cNvPr id="3" name="Text 1"/>
          <p:cNvSpPr txBox="1"/>
          <p:nvPr/>
        </p:nvSpPr>
        <p:spPr>
          <a:xfrm>
            <a:off x="548640" y="457200"/>
            <a:ext cx="658368"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Q5</a:t>
            </a:r>
            <a:endParaRPr lang="en-US" sz="1700" dirty="0"/>
          </a:p>
        </p:txBody>
      </p:sp>
      <p:sp>
        <p:nvSpPr>
          <p:cNvPr id="4" name="Text 2"/>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Q5 · DISCONTINUED PLANS</a:t>
            </a:r>
            <a:endParaRPr lang="en-US" sz="1200" dirty="0"/>
          </a:p>
        </p:txBody>
      </p:sp>
      <p:sp>
        <p:nvSpPr>
          <p:cNvPr id="5" name="Text 3"/>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Three weak plans were retired; their 5G replacements earn 4.2× as much</a:t>
            </a:r>
            <a:endParaRPr lang="en-US" sz="2500" dirty="0"/>
          </a:p>
        </p:txBody>
      </p:sp>
      <p:sp>
        <p:nvSpPr>
          <p:cNvPr id="6" name="Text 4"/>
          <p:cNvSpPr txBox="1"/>
          <p:nvPr/>
        </p:nvSpPr>
        <p:spPr>
          <a:xfrm>
            <a:off x="548640" y="1737360"/>
            <a:ext cx="4023360" cy="274320"/>
          </a:xfrm>
          <a:prstGeom prst="rect">
            <a:avLst/>
          </a:prstGeom>
          <a:noFill/>
          <a:ln/>
        </p:spPr>
        <p:txBody>
          <a:bodyPr wrap="square" lIns="0" tIns="0" rIns="0" bIns="0" rtlCol="0" anchor="t"/>
          <a:lstStyle/>
          <a:p>
            <a:pPr indent="0" marL="0">
              <a:buNone/>
            </a:pPr>
            <a:r>
              <a:rPr lang="en-US" sz="1300" b="1" dirty="0">
                <a:solidFill>
                  <a:srgbClr val="1B1838"/>
                </a:solidFill>
                <a:latin typeface="Calibri" pitchFamily="34" charset="0"/>
                <a:ea typeface="Calibri" pitchFamily="34" charset="-122"/>
                <a:cs typeface="Calibri" pitchFamily="34" charset="-120"/>
              </a:rPr>
              <a:t>Retired after the launch (no revenue from June)</a:t>
            </a:r>
            <a:endParaRPr lang="en-US" sz="1300" dirty="0"/>
          </a:p>
        </p:txBody>
      </p:sp>
      <p:sp>
        <p:nvSpPr>
          <p:cNvPr id="7" name="Shape 5"/>
          <p:cNvSpPr/>
          <p:nvPr/>
        </p:nvSpPr>
        <p:spPr>
          <a:xfrm>
            <a:off x="548640" y="2103120"/>
            <a:ext cx="4023360" cy="941832"/>
          </a:xfrm>
          <a:prstGeom prst="roundRect">
            <a:avLst>
              <a:gd name="adj" fmla="val 7767"/>
            </a:avLst>
          </a:prstGeom>
          <a:solidFill>
            <a:srgbClr val="F5F4FA"/>
          </a:solidFill>
          <a:ln w="12700">
            <a:solidFill>
              <a:srgbClr val="F5F4FA"/>
            </a:solidFill>
            <a:prstDash val="solid"/>
          </a:ln>
        </p:spPr>
      </p:sp>
      <p:sp>
        <p:nvSpPr>
          <p:cNvPr id="8" name="Shape 6"/>
          <p:cNvSpPr/>
          <p:nvPr/>
        </p:nvSpPr>
        <p:spPr>
          <a:xfrm>
            <a:off x="731520" y="2304288"/>
            <a:ext cx="548640" cy="548640"/>
          </a:xfrm>
          <a:prstGeom prst="ellipse">
            <a:avLst/>
          </a:prstGeom>
          <a:solidFill>
            <a:srgbClr val="E4E2EC"/>
          </a:solidFill>
          <a:ln w="12700">
            <a:solidFill>
              <a:srgbClr val="E4E2EC"/>
            </a:solidFill>
            <a:prstDash val="solid"/>
          </a:ln>
        </p:spPr>
      </p:sp>
      <p:sp>
        <p:nvSpPr>
          <p:cNvPr id="9" name="Text 7"/>
          <p:cNvSpPr txBox="1"/>
          <p:nvPr/>
        </p:nvSpPr>
        <p:spPr>
          <a:xfrm>
            <a:off x="731520" y="2304288"/>
            <a:ext cx="548640" cy="548640"/>
          </a:xfrm>
          <a:prstGeom prst="rect">
            <a:avLst/>
          </a:prstGeom>
          <a:noFill/>
          <a:ln/>
        </p:spPr>
        <p:txBody>
          <a:bodyPr wrap="square" lIns="0" tIns="0" rIns="0" bIns="0" rtlCol="0" anchor="ctr"/>
          <a:lstStyle/>
          <a:p>
            <a:pPr algn="ctr" indent="0" marL="0">
              <a:buNone/>
            </a:pPr>
            <a:r>
              <a:rPr lang="en-US" sz="1300" b="1" dirty="0">
                <a:solidFill>
                  <a:srgbClr val="1B1838"/>
                </a:solidFill>
                <a:latin typeface="Calibri" pitchFamily="34" charset="0"/>
                <a:ea typeface="Calibri" pitchFamily="34" charset="-122"/>
                <a:cs typeface="Calibri" pitchFamily="34" charset="-120"/>
              </a:rPr>
              <a:t>p8</a:t>
            </a:r>
            <a:endParaRPr lang="en-US" sz="1300" dirty="0"/>
          </a:p>
        </p:txBody>
      </p:sp>
      <p:sp>
        <p:nvSpPr>
          <p:cNvPr id="10" name="Text 8"/>
          <p:cNvSpPr txBox="1"/>
          <p:nvPr/>
        </p:nvSpPr>
        <p:spPr>
          <a:xfrm>
            <a:off x="1463040" y="2240280"/>
            <a:ext cx="1920240" cy="685800"/>
          </a:xfrm>
          <a:prstGeom prst="rect">
            <a:avLst/>
          </a:prstGeom>
          <a:noFill/>
          <a:ln/>
        </p:spPr>
        <p:txBody>
          <a:bodyPr wrap="square" lIns="0" tIns="0" rIns="0" bIns="0" rtlCol="0" anchor="ctr"/>
          <a:lstStyle/>
          <a:p>
            <a:pPr indent="0" marL="0">
              <a:buNone/>
            </a:pPr>
            <a:r>
              <a:rPr lang="en-US" sz="1200" b="1" dirty="0">
                <a:solidFill>
                  <a:srgbClr val="1B1838"/>
                </a:solidFill>
                <a:latin typeface="Calibri" pitchFamily="34" charset="0"/>
                <a:ea typeface="Calibri" pitchFamily="34" charset="-122"/>
                <a:cs typeface="Calibri" pitchFamily="34" charset="-120"/>
              </a:rPr>
              <a:t>Daily Saviour</a:t>
            </a:r>
            <a:endParaRPr lang="en-US" sz="1200" dirty="0"/>
          </a:p>
          <a:p>
            <a:pPr indent="0" marL="0">
              <a:buNone/>
            </a:pPr>
            <a:r>
              <a:rPr lang="en-US" sz="1200" dirty="0">
                <a:solidFill>
                  <a:srgbClr val="615E78"/>
                </a:solidFill>
                <a:latin typeface="Calibri" pitchFamily="34" charset="0"/>
                <a:ea typeface="Calibri" pitchFamily="34" charset="-122"/>
                <a:cs typeface="Calibri" pitchFamily="34" charset="-120"/>
              </a:rPr>
              <a:t>1 GB/day · 1-day validity</a:t>
            </a:r>
            <a:endParaRPr lang="en-US" sz="1200" dirty="0"/>
          </a:p>
        </p:txBody>
      </p:sp>
      <p:sp>
        <p:nvSpPr>
          <p:cNvPr id="11" name="Text 9"/>
          <p:cNvSpPr txBox="1"/>
          <p:nvPr/>
        </p:nvSpPr>
        <p:spPr>
          <a:xfrm>
            <a:off x="3291840" y="2240280"/>
            <a:ext cx="1143000" cy="685800"/>
          </a:xfrm>
          <a:prstGeom prst="rect">
            <a:avLst/>
          </a:prstGeom>
          <a:noFill/>
          <a:ln/>
        </p:spPr>
        <p:txBody>
          <a:bodyPr wrap="square" lIns="0" tIns="0" rIns="0" bIns="0" rtlCol="0" anchor="ctr"/>
          <a:lstStyle/>
          <a:p>
            <a:pPr algn="r" indent="0" marL="0">
              <a:buNone/>
            </a:pPr>
            <a:r>
              <a:rPr lang="en-US" sz="1200" b="1" dirty="0">
                <a:solidFill>
                  <a:srgbClr val="1B1838"/>
                </a:solidFill>
                <a:latin typeface="Calibri" pitchFamily="34" charset="0"/>
                <a:ea typeface="Calibri" pitchFamily="34" charset="-122"/>
                <a:cs typeface="Calibri" pitchFamily="34" charset="-120"/>
              </a:rPr>
              <a:t>₹43.4 Cr</a:t>
            </a:r>
            <a:endParaRPr lang="en-US" sz="1200" dirty="0"/>
          </a:p>
          <a:p>
            <a:pPr algn="r" indent="0" marL="0">
              <a:buNone/>
            </a:pPr>
            <a:r>
              <a:rPr lang="en-US" sz="1200" dirty="0">
                <a:solidFill>
                  <a:srgbClr val="615E78"/>
                </a:solidFill>
                <a:latin typeface="Calibri" pitchFamily="34" charset="0"/>
                <a:ea typeface="Calibri" pitchFamily="34" charset="-122"/>
                <a:cs typeface="Calibri" pitchFamily="34" charset="-120"/>
              </a:rPr>
              <a:t>rank #8 of 10</a:t>
            </a:r>
            <a:endParaRPr lang="en-US" sz="1200" dirty="0"/>
          </a:p>
        </p:txBody>
      </p:sp>
      <p:sp>
        <p:nvSpPr>
          <p:cNvPr id="12" name="Shape 10"/>
          <p:cNvSpPr/>
          <p:nvPr/>
        </p:nvSpPr>
        <p:spPr>
          <a:xfrm>
            <a:off x="548640" y="3182112"/>
            <a:ext cx="4023360" cy="941832"/>
          </a:xfrm>
          <a:prstGeom prst="roundRect">
            <a:avLst>
              <a:gd name="adj" fmla="val 7767"/>
            </a:avLst>
          </a:prstGeom>
          <a:solidFill>
            <a:srgbClr val="F5F4FA"/>
          </a:solidFill>
          <a:ln w="12700">
            <a:solidFill>
              <a:srgbClr val="F5F4FA"/>
            </a:solidFill>
            <a:prstDash val="solid"/>
          </a:ln>
        </p:spPr>
      </p:sp>
      <p:sp>
        <p:nvSpPr>
          <p:cNvPr id="13" name="Shape 11"/>
          <p:cNvSpPr/>
          <p:nvPr/>
        </p:nvSpPr>
        <p:spPr>
          <a:xfrm>
            <a:off x="731520" y="3383280"/>
            <a:ext cx="548640" cy="548640"/>
          </a:xfrm>
          <a:prstGeom prst="ellipse">
            <a:avLst/>
          </a:prstGeom>
          <a:solidFill>
            <a:srgbClr val="E4E2EC"/>
          </a:solidFill>
          <a:ln w="12700">
            <a:solidFill>
              <a:srgbClr val="E4E2EC"/>
            </a:solidFill>
            <a:prstDash val="solid"/>
          </a:ln>
        </p:spPr>
      </p:sp>
      <p:sp>
        <p:nvSpPr>
          <p:cNvPr id="14" name="Text 12"/>
          <p:cNvSpPr txBox="1"/>
          <p:nvPr/>
        </p:nvSpPr>
        <p:spPr>
          <a:xfrm>
            <a:off x="731520" y="3383280"/>
            <a:ext cx="548640" cy="548640"/>
          </a:xfrm>
          <a:prstGeom prst="rect">
            <a:avLst/>
          </a:prstGeom>
          <a:noFill/>
          <a:ln/>
        </p:spPr>
        <p:txBody>
          <a:bodyPr wrap="square" lIns="0" tIns="0" rIns="0" bIns="0" rtlCol="0" anchor="ctr"/>
          <a:lstStyle/>
          <a:p>
            <a:pPr algn="ctr" indent="0" marL="0">
              <a:buNone/>
            </a:pPr>
            <a:r>
              <a:rPr lang="en-US" sz="1300" b="1" dirty="0">
                <a:solidFill>
                  <a:srgbClr val="1B1838"/>
                </a:solidFill>
                <a:latin typeface="Calibri" pitchFamily="34" charset="0"/>
                <a:ea typeface="Calibri" pitchFamily="34" charset="-122"/>
                <a:cs typeface="Calibri" pitchFamily="34" charset="-120"/>
              </a:rPr>
              <a:t>p9</a:t>
            </a:r>
            <a:endParaRPr lang="en-US" sz="1300" dirty="0"/>
          </a:p>
        </p:txBody>
      </p:sp>
      <p:sp>
        <p:nvSpPr>
          <p:cNvPr id="15" name="Text 13"/>
          <p:cNvSpPr txBox="1"/>
          <p:nvPr/>
        </p:nvSpPr>
        <p:spPr>
          <a:xfrm>
            <a:off x="1463040" y="3319272"/>
            <a:ext cx="1920240" cy="685800"/>
          </a:xfrm>
          <a:prstGeom prst="rect">
            <a:avLst/>
          </a:prstGeom>
          <a:noFill/>
          <a:ln/>
        </p:spPr>
        <p:txBody>
          <a:bodyPr wrap="square" lIns="0" tIns="0" rIns="0" bIns="0" rtlCol="0" anchor="ctr"/>
          <a:lstStyle/>
          <a:p>
            <a:pPr indent="0" marL="0">
              <a:buNone/>
            </a:pPr>
            <a:r>
              <a:rPr lang="en-US" sz="1200" b="1" dirty="0">
                <a:solidFill>
                  <a:srgbClr val="1B1838"/>
                </a:solidFill>
                <a:latin typeface="Calibri" pitchFamily="34" charset="0"/>
                <a:ea typeface="Calibri" pitchFamily="34" charset="-122"/>
                <a:cs typeface="Calibri" pitchFamily="34" charset="-120"/>
              </a:rPr>
              <a:t>Combo TopUp</a:t>
            </a:r>
            <a:endParaRPr lang="en-US" sz="1200" dirty="0"/>
          </a:p>
          <a:p>
            <a:pPr indent="0" marL="0">
              <a:buNone/>
            </a:pPr>
            <a:r>
              <a:rPr lang="en-US" sz="1200" dirty="0">
                <a:solidFill>
                  <a:srgbClr val="615E78"/>
                </a:solidFill>
                <a:latin typeface="Calibri" pitchFamily="34" charset="0"/>
                <a:ea typeface="Calibri" pitchFamily="34" charset="-122"/>
                <a:cs typeface="Calibri" pitchFamily="34" charset="-120"/>
              </a:rPr>
              <a:t>₹14.95 talk-time + 300 MB</a:t>
            </a:r>
            <a:endParaRPr lang="en-US" sz="1200" dirty="0"/>
          </a:p>
        </p:txBody>
      </p:sp>
      <p:sp>
        <p:nvSpPr>
          <p:cNvPr id="16" name="Text 14"/>
          <p:cNvSpPr txBox="1"/>
          <p:nvPr/>
        </p:nvSpPr>
        <p:spPr>
          <a:xfrm>
            <a:off x="3291840" y="3319272"/>
            <a:ext cx="1143000" cy="685800"/>
          </a:xfrm>
          <a:prstGeom prst="rect">
            <a:avLst/>
          </a:prstGeom>
          <a:noFill/>
          <a:ln/>
        </p:spPr>
        <p:txBody>
          <a:bodyPr wrap="square" lIns="0" tIns="0" rIns="0" bIns="0" rtlCol="0" anchor="ctr"/>
          <a:lstStyle/>
          <a:p>
            <a:pPr algn="r" indent="0" marL="0">
              <a:buNone/>
            </a:pPr>
            <a:r>
              <a:rPr lang="en-US" sz="1200" b="1" dirty="0">
                <a:solidFill>
                  <a:srgbClr val="1B1838"/>
                </a:solidFill>
                <a:latin typeface="Calibri" pitchFamily="34" charset="0"/>
                <a:ea typeface="Calibri" pitchFamily="34" charset="-122"/>
                <a:cs typeface="Calibri" pitchFamily="34" charset="-120"/>
              </a:rPr>
              <a:t>₹22.7 Cr</a:t>
            </a:r>
            <a:endParaRPr lang="en-US" sz="1200" dirty="0"/>
          </a:p>
          <a:p>
            <a:pPr algn="r" indent="0" marL="0">
              <a:buNone/>
            </a:pPr>
            <a:r>
              <a:rPr lang="en-US" sz="1200" dirty="0">
                <a:solidFill>
                  <a:srgbClr val="615E78"/>
                </a:solidFill>
                <a:latin typeface="Calibri" pitchFamily="34" charset="0"/>
                <a:ea typeface="Calibri" pitchFamily="34" charset="-122"/>
                <a:cs typeface="Calibri" pitchFamily="34" charset="-120"/>
              </a:rPr>
              <a:t>rank #9 of 10</a:t>
            </a:r>
            <a:endParaRPr lang="en-US" sz="1200" dirty="0"/>
          </a:p>
        </p:txBody>
      </p:sp>
      <p:sp>
        <p:nvSpPr>
          <p:cNvPr id="17" name="Shape 15"/>
          <p:cNvSpPr/>
          <p:nvPr/>
        </p:nvSpPr>
        <p:spPr>
          <a:xfrm>
            <a:off x="548640" y="4261104"/>
            <a:ext cx="4023360" cy="941832"/>
          </a:xfrm>
          <a:prstGeom prst="roundRect">
            <a:avLst>
              <a:gd name="adj" fmla="val 7767"/>
            </a:avLst>
          </a:prstGeom>
          <a:solidFill>
            <a:srgbClr val="F5F4FA"/>
          </a:solidFill>
          <a:ln w="12700">
            <a:solidFill>
              <a:srgbClr val="F5F4FA"/>
            </a:solidFill>
            <a:prstDash val="solid"/>
          </a:ln>
        </p:spPr>
      </p:sp>
      <p:sp>
        <p:nvSpPr>
          <p:cNvPr id="18" name="Shape 16"/>
          <p:cNvSpPr/>
          <p:nvPr/>
        </p:nvSpPr>
        <p:spPr>
          <a:xfrm>
            <a:off x="731520" y="4462272"/>
            <a:ext cx="548640" cy="548640"/>
          </a:xfrm>
          <a:prstGeom prst="ellipse">
            <a:avLst/>
          </a:prstGeom>
          <a:solidFill>
            <a:srgbClr val="E4E2EC"/>
          </a:solidFill>
          <a:ln w="12700">
            <a:solidFill>
              <a:srgbClr val="E4E2EC"/>
            </a:solidFill>
            <a:prstDash val="solid"/>
          </a:ln>
        </p:spPr>
      </p:sp>
      <p:sp>
        <p:nvSpPr>
          <p:cNvPr id="19" name="Text 17"/>
          <p:cNvSpPr txBox="1"/>
          <p:nvPr/>
        </p:nvSpPr>
        <p:spPr>
          <a:xfrm>
            <a:off x="731520" y="4462272"/>
            <a:ext cx="548640" cy="548640"/>
          </a:xfrm>
          <a:prstGeom prst="rect">
            <a:avLst/>
          </a:prstGeom>
          <a:noFill/>
          <a:ln/>
        </p:spPr>
        <p:txBody>
          <a:bodyPr wrap="square" lIns="0" tIns="0" rIns="0" bIns="0" rtlCol="0" anchor="ctr"/>
          <a:lstStyle/>
          <a:p>
            <a:pPr algn="ctr" indent="0" marL="0">
              <a:buNone/>
            </a:pPr>
            <a:r>
              <a:rPr lang="en-US" sz="1300" b="1" dirty="0">
                <a:solidFill>
                  <a:srgbClr val="1B1838"/>
                </a:solidFill>
                <a:latin typeface="Calibri" pitchFamily="34" charset="0"/>
                <a:ea typeface="Calibri" pitchFamily="34" charset="-122"/>
                <a:cs typeface="Calibri" pitchFamily="34" charset="-120"/>
              </a:rPr>
              <a:t>p10</a:t>
            </a:r>
            <a:endParaRPr lang="en-US" sz="1300" dirty="0"/>
          </a:p>
        </p:txBody>
      </p:sp>
      <p:sp>
        <p:nvSpPr>
          <p:cNvPr id="20" name="Text 18"/>
          <p:cNvSpPr txBox="1"/>
          <p:nvPr/>
        </p:nvSpPr>
        <p:spPr>
          <a:xfrm>
            <a:off x="1463040" y="4398264"/>
            <a:ext cx="1920240" cy="685800"/>
          </a:xfrm>
          <a:prstGeom prst="rect">
            <a:avLst/>
          </a:prstGeom>
          <a:noFill/>
          <a:ln/>
        </p:spPr>
        <p:txBody>
          <a:bodyPr wrap="square" lIns="0" tIns="0" rIns="0" bIns="0" rtlCol="0" anchor="ctr"/>
          <a:lstStyle/>
          <a:p>
            <a:pPr indent="0" marL="0">
              <a:buNone/>
            </a:pPr>
            <a:r>
              <a:rPr lang="en-US" sz="1200" b="1" dirty="0">
                <a:solidFill>
                  <a:srgbClr val="1B1838"/>
                </a:solidFill>
                <a:latin typeface="Calibri" pitchFamily="34" charset="0"/>
                <a:ea typeface="Calibri" pitchFamily="34" charset="-122"/>
                <a:cs typeface="Calibri" pitchFamily="34" charset="-120"/>
              </a:rPr>
              <a:t>Big Combo Pack</a:t>
            </a:r>
            <a:endParaRPr lang="en-US" sz="1200" dirty="0"/>
          </a:p>
          <a:p>
            <a:pPr indent="0" marL="0">
              <a:buNone/>
            </a:pPr>
            <a:r>
              <a:rPr lang="en-US" sz="1200" dirty="0">
                <a:solidFill>
                  <a:srgbClr val="615E78"/>
                </a:solidFill>
                <a:latin typeface="Calibri" pitchFamily="34" charset="0"/>
                <a:ea typeface="Calibri" pitchFamily="34" charset="-122"/>
                <a:cs typeface="Calibri" pitchFamily="34" charset="-120"/>
              </a:rPr>
              <a:t>6 GB/day · 3-day validity</a:t>
            </a:r>
            <a:endParaRPr lang="en-US" sz="1200" dirty="0"/>
          </a:p>
        </p:txBody>
      </p:sp>
      <p:sp>
        <p:nvSpPr>
          <p:cNvPr id="21" name="Text 19"/>
          <p:cNvSpPr txBox="1"/>
          <p:nvPr/>
        </p:nvSpPr>
        <p:spPr>
          <a:xfrm>
            <a:off x="3291840" y="4398264"/>
            <a:ext cx="1143000" cy="685800"/>
          </a:xfrm>
          <a:prstGeom prst="rect">
            <a:avLst/>
          </a:prstGeom>
          <a:noFill/>
          <a:ln/>
        </p:spPr>
        <p:txBody>
          <a:bodyPr wrap="square" lIns="0" tIns="0" rIns="0" bIns="0" rtlCol="0" anchor="ctr"/>
          <a:lstStyle/>
          <a:p>
            <a:pPr algn="r" indent="0" marL="0">
              <a:buNone/>
            </a:pPr>
            <a:r>
              <a:rPr lang="en-US" sz="1200" b="1" dirty="0">
                <a:solidFill>
                  <a:srgbClr val="1B1838"/>
                </a:solidFill>
                <a:latin typeface="Calibri" pitchFamily="34" charset="0"/>
                <a:ea typeface="Calibri" pitchFamily="34" charset="-122"/>
                <a:cs typeface="Calibri" pitchFamily="34" charset="-120"/>
              </a:rPr>
              <a:t>₹13.1 Cr</a:t>
            </a:r>
            <a:endParaRPr lang="en-US" sz="1200" dirty="0"/>
          </a:p>
          <a:p>
            <a:pPr algn="r" indent="0" marL="0">
              <a:buNone/>
            </a:pPr>
            <a:r>
              <a:rPr lang="en-US" sz="1200" dirty="0">
                <a:solidFill>
                  <a:srgbClr val="615E78"/>
                </a:solidFill>
                <a:latin typeface="Calibri" pitchFamily="34" charset="0"/>
                <a:ea typeface="Calibri" pitchFamily="34" charset="-122"/>
                <a:cs typeface="Calibri" pitchFamily="34" charset="-120"/>
              </a:rPr>
              <a:t>rank #10 of 10</a:t>
            </a:r>
            <a:endParaRPr lang="en-US" sz="1200" dirty="0"/>
          </a:p>
        </p:txBody>
      </p:sp>
      <p:sp>
        <p:nvSpPr>
          <p:cNvPr id="22" name="Text 20"/>
          <p:cNvSpPr txBox="1"/>
          <p:nvPr/>
        </p:nvSpPr>
        <p:spPr>
          <a:xfrm>
            <a:off x="548640" y="5349240"/>
            <a:ext cx="4023360" cy="457200"/>
          </a:xfrm>
          <a:prstGeom prst="rect">
            <a:avLst/>
          </a:prstGeom>
          <a:noFill/>
          <a:ln/>
        </p:spPr>
        <p:txBody>
          <a:bodyPr wrap="square" lIns="0" tIns="0" rIns="0" bIns="0" rtlCol="0" anchor="t"/>
          <a:lstStyle/>
          <a:p>
            <a:pPr indent="0" marL="0">
              <a:buNone/>
            </a:pPr>
            <a:r>
              <a:rPr lang="en-US" sz="1050" i="1" dirty="0">
                <a:solidFill>
                  <a:srgbClr val="615E78"/>
                </a:solidFill>
                <a:latin typeface="Calibri" pitchFamily="34" charset="0"/>
                <a:ea typeface="Calibri" pitchFamily="34" charset="-122"/>
                <a:cs typeface="Calibri" pitchFamily="34" charset="-120"/>
              </a:rPr>
              <a:t>Pre-launch revenue, Jan–Apr 2022. Rank among the 10 plans on sale before launch.</a:t>
            </a:r>
            <a:endParaRPr lang="en-US" sz="1050" dirty="0"/>
          </a:p>
        </p:txBody>
      </p:sp>
      <p:sp>
        <p:nvSpPr>
          <p:cNvPr id="23" name="Shape 21"/>
          <p:cNvSpPr/>
          <p:nvPr/>
        </p:nvSpPr>
        <p:spPr>
          <a:xfrm>
            <a:off x="4892040" y="1737360"/>
            <a:ext cx="6748272" cy="1828800"/>
          </a:xfrm>
          <a:prstGeom prst="roundRect">
            <a:avLst>
              <a:gd name="adj" fmla="val 4000"/>
            </a:avLst>
          </a:prstGeom>
          <a:solidFill>
            <a:srgbClr val="EEEAFE"/>
          </a:solidFill>
          <a:ln w="12700">
            <a:solidFill>
              <a:srgbClr val="EEEAFE"/>
            </a:solidFill>
            <a:prstDash val="solid"/>
          </a:ln>
        </p:spPr>
      </p:sp>
      <p:sp>
        <p:nvSpPr>
          <p:cNvPr id="24" name="Text 22"/>
          <p:cNvSpPr txBox="1"/>
          <p:nvPr/>
        </p:nvSpPr>
        <p:spPr>
          <a:xfrm>
            <a:off x="5166360" y="1920240"/>
            <a:ext cx="2377440" cy="274320"/>
          </a:xfrm>
          <a:prstGeom prst="rect">
            <a:avLst/>
          </a:prstGeom>
          <a:noFill/>
          <a:ln/>
        </p:spPr>
        <p:txBody>
          <a:bodyPr wrap="square" lIns="0" tIns="0" rIns="0" bIns="0" rtlCol="0" anchor="t"/>
          <a:lstStyle/>
          <a:p>
            <a:pPr indent="0" marL="0">
              <a:buNone/>
            </a:pPr>
            <a:r>
              <a:rPr lang="en-US" sz="1200" b="1" dirty="0">
                <a:solidFill>
                  <a:srgbClr val="615E78"/>
                </a:solidFill>
                <a:latin typeface="Calibri" pitchFamily="34" charset="0"/>
                <a:ea typeface="Calibri" pitchFamily="34" charset="-122"/>
                <a:cs typeface="Calibri" pitchFamily="34" charset="-120"/>
              </a:rPr>
              <a:t>Retired plans p8–p10</a:t>
            </a:r>
            <a:endParaRPr lang="en-US" sz="1200" dirty="0"/>
          </a:p>
        </p:txBody>
      </p:sp>
      <p:sp>
        <p:nvSpPr>
          <p:cNvPr id="25" name="Text 23"/>
          <p:cNvSpPr txBox="1"/>
          <p:nvPr/>
        </p:nvSpPr>
        <p:spPr>
          <a:xfrm>
            <a:off x="5166360" y="2194560"/>
            <a:ext cx="2377440" cy="594360"/>
          </a:xfrm>
          <a:prstGeom prst="rect">
            <a:avLst/>
          </a:prstGeom>
          <a:noFill/>
          <a:ln/>
        </p:spPr>
        <p:txBody>
          <a:bodyPr wrap="square" lIns="0" tIns="0" rIns="0" bIns="0" rtlCol="0" anchor="t"/>
          <a:lstStyle/>
          <a:p>
            <a:pPr indent="0" marL="0">
              <a:buNone/>
            </a:pPr>
            <a:r>
              <a:rPr lang="en-US" sz="3000" b="1" dirty="0">
                <a:solidFill>
                  <a:srgbClr val="1B1838"/>
                </a:solidFill>
                <a:latin typeface="Calibri" pitchFamily="34" charset="0"/>
                <a:ea typeface="Calibri" pitchFamily="34" charset="-122"/>
                <a:cs typeface="Calibri" pitchFamily="34" charset="-120"/>
              </a:rPr>
              <a:t>₹79.2 Cr</a:t>
            </a:r>
            <a:endParaRPr lang="en-US" sz="3000" dirty="0"/>
          </a:p>
        </p:txBody>
      </p:sp>
      <p:sp>
        <p:nvSpPr>
          <p:cNvPr id="26" name="Text 24"/>
          <p:cNvSpPr txBox="1"/>
          <p:nvPr/>
        </p:nvSpPr>
        <p:spPr>
          <a:xfrm>
            <a:off x="5166360" y="2788920"/>
            <a:ext cx="2377440" cy="457200"/>
          </a:xfrm>
          <a:prstGeom prst="rect">
            <a:avLst/>
          </a:prstGeom>
          <a:noFill/>
          <a:ln/>
        </p:spPr>
        <p:txBody>
          <a:bodyPr wrap="square" lIns="0" tIns="0" rIns="0" bIns="0" rtlCol="0" anchor="t"/>
          <a:lstStyle/>
          <a:p>
            <a:pPr indent="0" marL="0">
              <a:buNone/>
            </a:pPr>
            <a:r>
              <a:rPr lang="en-US" sz="1100" dirty="0">
                <a:solidFill>
                  <a:srgbClr val="615E78"/>
                </a:solidFill>
                <a:latin typeface="Calibri" pitchFamily="34" charset="0"/>
                <a:ea typeface="Calibri" pitchFamily="34" charset="-122"/>
                <a:cs typeface="Calibri" pitchFamily="34" charset="-120"/>
              </a:rPr>
              <a:t>before launch · 9% of plan revenue</a:t>
            </a:r>
            <a:endParaRPr lang="en-US" sz="1100" dirty="0"/>
          </a:p>
        </p:txBody>
      </p:sp>
      <p:pic>
        <p:nvPicPr>
          <p:cNvPr id="27" name="Image 0" descr="preencoded.png">    </p:cNvPr>
          <p:cNvPicPr>
            <a:picLocks noChangeAspect="1"/>
          </p:cNvPicPr>
          <p:nvPr/>
        </p:nvPicPr>
        <p:blipFill>
          <a:blip r:embed="rId1"/>
          <a:stretch>
            <a:fillRect/>
          </a:stretch>
        </p:blipFill>
        <p:spPr>
          <a:xfrm>
            <a:off x="7635240" y="2286000"/>
            <a:ext cx="411480" cy="411480"/>
          </a:xfrm>
          <a:prstGeom prst="rect">
            <a:avLst/>
          </a:prstGeom>
        </p:spPr>
      </p:pic>
      <p:sp>
        <p:nvSpPr>
          <p:cNvPr id="28" name="Text 25"/>
          <p:cNvSpPr txBox="1"/>
          <p:nvPr/>
        </p:nvSpPr>
        <p:spPr>
          <a:xfrm>
            <a:off x="8183880" y="1920240"/>
            <a:ext cx="2194560" cy="274320"/>
          </a:xfrm>
          <a:prstGeom prst="rect">
            <a:avLst/>
          </a:prstGeom>
          <a:noFill/>
          <a:ln/>
        </p:spPr>
        <p:txBody>
          <a:bodyPr wrap="square" lIns="0" tIns="0" rIns="0" bIns="0" rtlCol="0" anchor="t"/>
          <a:lstStyle/>
          <a:p>
            <a:pPr indent="0" marL="0">
              <a:buNone/>
            </a:pPr>
            <a:r>
              <a:rPr lang="en-US" sz="1200" b="1" dirty="0">
                <a:solidFill>
                  <a:srgbClr val="5B3DF5"/>
                </a:solidFill>
                <a:latin typeface="Calibri" pitchFamily="34" charset="0"/>
                <a:ea typeface="Calibri" pitchFamily="34" charset="-122"/>
                <a:cs typeface="Calibri" pitchFamily="34" charset="-120"/>
              </a:rPr>
              <a:t>New 5G plans p11–p13</a:t>
            </a:r>
            <a:endParaRPr lang="en-US" sz="1200" dirty="0"/>
          </a:p>
        </p:txBody>
      </p:sp>
      <p:sp>
        <p:nvSpPr>
          <p:cNvPr id="29" name="Text 26"/>
          <p:cNvSpPr txBox="1"/>
          <p:nvPr/>
        </p:nvSpPr>
        <p:spPr>
          <a:xfrm>
            <a:off x="8183880" y="2194560"/>
            <a:ext cx="2286000" cy="594360"/>
          </a:xfrm>
          <a:prstGeom prst="rect">
            <a:avLst/>
          </a:prstGeom>
          <a:noFill/>
          <a:ln/>
        </p:spPr>
        <p:txBody>
          <a:bodyPr wrap="square" lIns="0" tIns="0" rIns="0" bIns="0" rtlCol="0" anchor="t"/>
          <a:lstStyle/>
          <a:p>
            <a:pPr indent="0" marL="0">
              <a:buNone/>
            </a:pPr>
            <a:r>
              <a:rPr lang="en-US" sz="3000" b="1" dirty="0">
                <a:solidFill>
                  <a:srgbClr val="5B3DF5"/>
                </a:solidFill>
                <a:latin typeface="Calibri" pitchFamily="34" charset="0"/>
                <a:ea typeface="Calibri" pitchFamily="34" charset="-122"/>
                <a:cs typeface="Calibri" pitchFamily="34" charset="-120"/>
              </a:rPr>
              <a:t>₹333.5 Cr</a:t>
            </a:r>
            <a:endParaRPr lang="en-US" sz="3000" dirty="0"/>
          </a:p>
        </p:txBody>
      </p:sp>
      <p:sp>
        <p:nvSpPr>
          <p:cNvPr id="30" name="Text 27"/>
          <p:cNvSpPr txBox="1"/>
          <p:nvPr/>
        </p:nvSpPr>
        <p:spPr>
          <a:xfrm>
            <a:off x="8183880" y="2788920"/>
            <a:ext cx="2286000" cy="457200"/>
          </a:xfrm>
          <a:prstGeom prst="rect">
            <a:avLst/>
          </a:prstGeom>
          <a:noFill/>
          <a:ln/>
        </p:spPr>
        <p:txBody>
          <a:bodyPr wrap="square" lIns="0" tIns="0" rIns="0" bIns="0" rtlCol="0" anchor="t"/>
          <a:lstStyle/>
          <a:p>
            <a:pPr indent="0" marL="0">
              <a:buNone/>
            </a:pPr>
            <a:r>
              <a:rPr lang="en-US" sz="1100" dirty="0">
                <a:solidFill>
                  <a:srgbClr val="615E78"/>
                </a:solidFill>
                <a:latin typeface="Calibri" pitchFamily="34" charset="0"/>
                <a:ea typeface="Calibri" pitchFamily="34" charset="-122"/>
                <a:cs typeface="Calibri" pitchFamily="34" charset="-120"/>
              </a:rPr>
              <a:t>after launch · 31% of plan revenue</a:t>
            </a:r>
            <a:endParaRPr lang="en-US" sz="1100" dirty="0"/>
          </a:p>
        </p:txBody>
      </p:sp>
      <p:sp>
        <p:nvSpPr>
          <p:cNvPr id="31" name="Shape 28"/>
          <p:cNvSpPr/>
          <p:nvPr/>
        </p:nvSpPr>
        <p:spPr>
          <a:xfrm>
            <a:off x="10515600" y="2011680"/>
            <a:ext cx="914400" cy="914400"/>
          </a:xfrm>
          <a:prstGeom prst="ellipse">
            <a:avLst/>
          </a:prstGeom>
          <a:solidFill>
            <a:srgbClr val="5B3DF5"/>
          </a:solidFill>
          <a:ln w="12700">
            <a:solidFill>
              <a:srgbClr val="5B3DF5"/>
            </a:solidFill>
            <a:prstDash val="solid"/>
          </a:ln>
        </p:spPr>
      </p:sp>
      <p:sp>
        <p:nvSpPr>
          <p:cNvPr id="32" name="Text 29"/>
          <p:cNvSpPr txBox="1"/>
          <p:nvPr/>
        </p:nvSpPr>
        <p:spPr>
          <a:xfrm>
            <a:off x="10515600" y="2011680"/>
            <a:ext cx="9144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4.2×</a:t>
            </a:r>
            <a:endParaRPr lang="en-US" sz="2000" dirty="0"/>
          </a:p>
        </p:txBody>
      </p:sp>
      <p:sp>
        <p:nvSpPr>
          <p:cNvPr id="33" name="Text 30"/>
          <p:cNvSpPr txBox="1"/>
          <p:nvPr/>
        </p:nvSpPr>
        <p:spPr>
          <a:xfrm>
            <a:off x="4892040" y="3794760"/>
            <a:ext cx="6675120" cy="320040"/>
          </a:xfrm>
          <a:prstGeom prst="rect">
            <a:avLst/>
          </a:prstGeom>
          <a:noFill/>
          <a:ln/>
        </p:spPr>
        <p:txBody>
          <a:bodyPr wrap="square" lIns="0" tIns="0" rIns="0" bIns="0" rtlCol="0" anchor="t"/>
          <a:lstStyle/>
          <a:p>
            <a:pPr indent="0" marL="0">
              <a:buNone/>
            </a:pPr>
            <a:r>
              <a:rPr lang="en-US" sz="1500" b="1" dirty="0">
                <a:solidFill>
                  <a:srgbClr val="1B1838"/>
                </a:solidFill>
                <a:latin typeface="Calibri" pitchFamily="34" charset="0"/>
                <a:ea typeface="Calibri" pitchFamily="34" charset="-122"/>
                <a:cs typeface="Calibri" pitchFamily="34" charset="-120"/>
              </a:rPr>
              <a:t>Why they were cut</a:t>
            </a:r>
            <a:endParaRPr lang="en-US" sz="1500" dirty="0"/>
          </a:p>
        </p:txBody>
      </p:sp>
      <p:sp>
        <p:nvSpPr>
          <p:cNvPr id="34" name="Shape 31"/>
          <p:cNvSpPr/>
          <p:nvPr/>
        </p:nvSpPr>
        <p:spPr>
          <a:xfrm>
            <a:off x="4892040" y="4224528"/>
            <a:ext cx="457200" cy="457200"/>
          </a:xfrm>
          <a:prstGeom prst="ellipse">
            <a:avLst/>
          </a:prstGeom>
          <a:solidFill>
            <a:srgbClr val="EEEAFE"/>
          </a:solidFill>
          <a:ln w="12700">
            <a:solidFill>
              <a:srgbClr val="EEEAFE"/>
            </a:solidFill>
            <a:prstDash val="solid"/>
          </a:ln>
        </p:spPr>
      </p:sp>
      <p:pic>
        <p:nvPicPr>
          <p:cNvPr id="35" name="Image 1" descr="preencoded.png">    </p:cNvPr>
          <p:cNvPicPr>
            <a:picLocks noChangeAspect="1"/>
          </p:cNvPicPr>
          <p:nvPr/>
        </p:nvPicPr>
        <p:blipFill>
          <a:blip r:embed="rId2"/>
          <a:stretch>
            <a:fillRect/>
          </a:stretch>
        </p:blipFill>
        <p:spPr>
          <a:xfrm>
            <a:off x="5001768" y="4334256"/>
            <a:ext cx="237744" cy="237744"/>
          </a:xfrm>
          <a:prstGeom prst="rect">
            <a:avLst/>
          </a:prstGeom>
        </p:spPr>
      </p:pic>
      <p:sp>
        <p:nvSpPr>
          <p:cNvPr id="36" name="Text 32"/>
          <p:cNvSpPr txBox="1"/>
          <p:nvPr/>
        </p:nvSpPr>
        <p:spPr>
          <a:xfrm>
            <a:off x="5532120" y="4178808"/>
            <a:ext cx="6080760" cy="603504"/>
          </a:xfrm>
          <a:prstGeom prst="rect">
            <a:avLst/>
          </a:prstGeom>
          <a:noFill/>
          <a:ln/>
        </p:spPr>
        <p:txBody>
          <a:bodyPr wrap="square" lIns="0" tIns="0" rIns="0" bIns="0" rtlCol="0" anchor="ctr"/>
          <a:lstStyle/>
          <a:p>
            <a:pPr indent="0" marL="0">
              <a:buNone/>
            </a:pPr>
            <a:r>
              <a:rPr lang="en-US" sz="1200" b="1" dirty="0">
                <a:solidFill>
                  <a:srgbClr val="1B1838"/>
                </a:solidFill>
                <a:latin typeface="Calibri" pitchFamily="34" charset="0"/>
                <a:ea typeface="Calibri" pitchFamily="34" charset="-122"/>
                <a:cs typeface="Calibri" pitchFamily="34" charset="-120"/>
              </a:rPr>
              <a:t>Bottom three earners:  </a:t>
            </a:r>
            <a:pPr indent="0" marL="0">
              <a:buNone/>
            </a:pPr>
            <a:r>
              <a:rPr lang="en-US" sz="1200" dirty="0">
                <a:solidFill>
                  <a:srgbClr val="615E78"/>
                </a:solidFill>
                <a:latin typeface="Calibri" pitchFamily="34" charset="0"/>
                <a:ea typeface="Calibri" pitchFamily="34" charset="-122"/>
                <a:cs typeface="Calibri" pitchFamily="34" charset="-120"/>
              </a:rPr>
              <a:t>They ranked last among the 10 plans on sale, bringing in just ₹79.2 Cr together.</a:t>
            </a:r>
            <a:endParaRPr lang="en-US" sz="1200" dirty="0"/>
          </a:p>
        </p:txBody>
      </p:sp>
      <p:sp>
        <p:nvSpPr>
          <p:cNvPr id="37" name="Shape 33"/>
          <p:cNvSpPr/>
          <p:nvPr/>
        </p:nvSpPr>
        <p:spPr>
          <a:xfrm>
            <a:off x="4892040" y="4892040"/>
            <a:ext cx="457200" cy="457200"/>
          </a:xfrm>
          <a:prstGeom prst="ellipse">
            <a:avLst/>
          </a:prstGeom>
          <a:solidFill>
            <a:srgbClr val="EEEAFE"/>
          </a:solidFill>
          <a:ln w="12700">
            <a:solidFill>
              <a:srgbClr val="EEEAFE"/>
            </a:solidFill>
            <a:prstDash val="solid"/>
          </a:ln>
        </p:spPr>
      </p:sp>
      <p:pic>
        <p:nvPicPr>
          <p:cNvPr id="38" name="Image 2" descr="preencoded.png">    </p:cNvPr>
          <p:cNvPicPr>
            <a:picLocks noChangeAspect="1"/>
          </p:cNvPicPr>
          <p:nvPr/>
        </p:nvPicPr>
        <p:blipFill>
          <a:blip r:embed="rId3"/>
          <a:stretch>
            <a:fillRect/>
          </a:stretch>
        </p:blipFill>
        <p:spPr>
          <a:xfrm>
            <a:off x="5001768" y="5001768"/>
            <a:ext cx="237744" cy="237744"/>
          </a:xfrm>
          <a:prstGeom prst="rect">
            <a:avLst/>
          </a:prstGeom>
        </p:spPr>
      </p:pic>
      <p:sp>
        <p:nvSpPr>
          <p:cNvPr id="39" name="Text 34"/>
          <p:cNvSpPr txBox="1"/>
          <p:nvPr/>
        </p:nvSpPr>
        <p:spPr>
          <a:xfrm>
            <a:off x="5532120" y="4846320"/>
            <a:ext cx="6080760" cy="603504"/>
          </a:xfrm>
          <a:prstGeom prst="rect">
            <a:avLst/>
          </a:prstGeom>
          <a:noFill/>
          <a:ln/>
        </p:spPr>
        <p:txBody>
          <a:bodyPr wrap="square" lIns="0" tIns="0" rIns="0" bIns="0" rtlCol="0" anchor="ctr"/>
          <a:lstStyle/>
          <a:p>
            <a:pPr indent="0" marL="0">
              <a:buNone/>
            </a:pPr>
            <a:r>
              <a:rPr lang="en-US" sz="1200" b="1" dirty="0">
                <a:solidFill>
                  <a:srgbClr val="1B1838"/>
                </a:solidFill>
                <a:latin typeface="Calibri" pitchFamily="34" charset="0"/>
                <a:ea typeface="Calibri" pitchFamily="34" charset="-122"/>
                <a:cs typeface="Calibri" pitchFamily="34" charset="-120"/>
              </a:rPr>
              <a:t>Short-validity packs:  </a:t>
            </a:r>
            <a:pPr indent="0" marL="0">
              <a:buNone/>
            </a:pPr>
            <a:r>
              <a:rPr lang="en-US" sz="1200" dirty="0">
                <a:solidFill>
                  <a:srgbClr val="615E78"/>
                </a:solidFill>
                <a:latin typeface="Calibri" pitchFamily="34" charset="0"/>
                <a:ea typeface="Calibri" pitchFamily="34" charset="-122"/>
                <a:cs typeface="Calibri" pitchFamily="34" charset="-120"/>
              </a:rPr>
              <a:t>They lasted 1–3 days or were one-off top-ups, so each recharge was worth little and kept customers for a short time.</a:t>
            </a:r>
            <a:endParaRPr lang="en-US" sz="1200" dirty="0"/>
          </a:p>
        </p:txBody>
      </p:sp>
      <p:sp>
        <p:nvSpPr>
          <p:cNvPr id="40" name="Shape 35"/>
          <p:cNvSpPr/>
          <p:nvPr/>
        </p:nvSpPr>
        <p:spPr>
          <a:xfrm>
            <a:off x="4892040" y="5559552"/>
            <a:ext cx="457200" cy="457200"/>
          </a:xfrm>
          <a:prstGeom prst="ellipse">
            <a:avLst/>
          </a:prstGeom>
          <a:solidFill>
            <a:srgbClr val="EEEAFE"/>
          </a:solidFill>
          <a:ln w="12700">
            <a:solidFill>
              <a:srgbClr val="EEEAFE"/>
            </a:solidFill>
            <a:prstDash val="solid"/>
          </a:ln>
        </p:spPr>
      </p:sp>
      <p:pic>
        <p:nvPicPr>
          <p:cNvPr id="41" name="Image 3" descr="preencoded.png">    </p:cNvPr>
          <p:cNvPicPr>
            <a:picLocks noChangeAspect="1"/>
          </p:cNvPicPr>
          <p:nvPr/>
        </p:nvPicPr>
        <p:blipFill>
          <a:blip r:embed="rId4"/>
          <a:stretch>
            <a:fillRect/>
          </a:stretch>
        </p:blipFill>
        <p:spPr>
          <a:xfrm>
            <a:off x="5001768" y="5669280"/>
            <a:ext cx="237744" cy="237744"/>
          </a:xfrm>
          <a:prstGeom prst="rect">
            <a:avLst/>
          </a:prstGeom>
        </p:spPr>
      </p:pic>
      <p:sp>
        <p:nvSpPr>
          <p:cNvPr id="42" name="Text 36"/>
          <p:cNvSpPr txBox="1"/>
          <p:nvPr/>
        </p:nvSpPr>
        <p:spPr>
          <a:xfrm>
            <a:off x="5532120" y="5513832"/>
            <a:ext cx="6080760" cy="603504"/>
          </a:xfrm>
          <a:prstGeom prst="rect">
            <a:avLst/>
          </a:prstGeom>
          <a:noFill/>
          <a:ln/>
        </p:spPr>
        <p:txBody>
          <a:bodyPr wrap="square" lIns="0" tIns="0" rIns="0" bIns="0" rtlCol="0" anchor="ctr"/>
          <a:lstStyle/>
          <a:p>
            <a:pPr indent="0" marL="0">
              <a:buNone/>
            </a:pPr>
            <a:r>
              <a:rPr lang="en-US" sz="1200" b="1" dirty="0">
                <a:solidFill>
                  <a:srgbClr val="1B1838"/>
                </a:solidFill>
                <a:latin typeface="Calibri" pitchFamily="34" charset="0"/>
                <a:ea typeface="Calibri" pitchFamily="34" charset="-122"/>
                <a:cs typeface="Calibri" pitchFamily="34" charset="-120"/>
              </a:rPr>
              <a:t>Space for 5G packs:  </a:t>
            </a:r>
            <a:pPr indent="0" marL="0">
              <a:buNone/>
            </a:pPr>
            <a:r>
              <a:rPr lang="en-US" sz="1200" dirty="0">
                <a:solidFill>
                  <a:srgbClr val="615E78"/>
                </a:solidFill>
                <a:latin typeface="Calibri" pitchFamily="34" charset="0"/>
                <a:ea typeface="Calibri" pitchFamily="34" charset="-122"/>
                <a:cs typeface="Calibri" pitchFamily="34" charset="-120"/>
              </a:rPr>
              <a:t>Replaced by long-validity, high-data plans (p11: 3 GB/day for 80 days, p12: 1.8 GB/day for 55 days) that suit 5G use.</a:t>
            </a:r>
            <a:endParaRPr lang="en-US" sz="1200" dirty="0"/>
          </a:p>
        </p:txBody>
      </p:sp>
      <p:sp>
        <p:nvSpPr>
          <p:cNvPr id="43" name="Text 37"/>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44" name="Text 38"/>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pic>
        <p:nvPicPr>
          <p:cNvPr id="3" name="Image 0" descr="preencoded.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BEYOND THE BRIEF · CITY SPOTLIGHTS</a:t>
            </a:r>
            <a:endParaRPr lang="en-US" sz="1200" dirty="0"/>
          </a:p>
        </p:txBody>
      </p:sp>
      <p:sp>
        <p:nvSpPr>
          <p:cNvPr id="5" name="Text 2"/>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Four cities tell the story, and Mumbai shows what good looks like</a:t>
            </a:r>
            <a:endParaRPr lang="en-US" sz="2500" dirty="0"/>
          </a:p>
        </p:txBody>
      </p:sp>
      <p:sp>
        <p:nvSpPr>
          <p:cNvPr id="6" name="Shape 3"/>
          <p:cNvSpPr/>
          <p:nvPr/>
        </p:nvSpPr>
        <p:spPr>
          <a:xfrm>
            <a:off x="548640" y="1737360"/>
            <a:ext cx="5431536" cy="2103120"/>
          </a:xfrm>
          <a:prstGeom prst="roundRect">
            <a:avLst>
              <a:gd name="adj" fmla="val 3478"/>
            </a:avLst>
          </a:prstGeom>
          <a:solidFill>
            <a:srgbClr val="F5F4FA"/>
          </a:solidFill>
          <a:ln w="12700">
            <a:solidFill>
              <a:srgbClr val="F5F4FA"/>
            </a:solidFill>
            <a:prstDash val="solid"/>
          </a:ln>
        </p:spPr>
      </p:sp>
      <p:sp>
        <p:nvSpPr>
          <p:cNvPr id="7" name="Text 4"/>
          <p:cNvSpPr txBox="1"/>
          <p:nvPr/>
        </p:nvSpPr>
        <p:spPr>
          <a:xfrm>
            <a:off x="822960" y="1920240"/>
            <a:ext cx="2377440" cy="411480"/>
          </a:xfrm>
          <a:prstGeom prst="rect">
            <a:avLst/>
          </a:prstGeom>
          <a:noFill/>
          <a:ln/>
        </p:spPr>
        <p:txBody>
          <a:bodyPr wrap="square" lIns="0" tIns="0" rIns="0" bIns="0" rtlCol="0" anchor="t"/>
          <a:lstStyle/>
          <a:p>
            <a:pPr indent="0" marL="0">
              <a:buNone/>
            </a:pPr>
            <a:r>
              <a:rPr lang="en-US" sz="2000" b="1" dirty="0">
                <a:solidFill>
                  <a:srgbClr val="1B1838"/>
                </a:solidFill>
                <a:latin typeface="Calibri" pitchFamily="34" charset="0"/>
                <a:ea typeface="Calibri" pitchFamily="34" charset="-122"/>
                <a:cs typeface="Calibri" pitchFamily="34" charset="-120"/>
              </a:rPr>
              <a:t>Mumbai</a:t>
            </a:r>
            <a:endParaRPr lang="en-US" sz="2000" dirty="0"/>
          </a:p>
        </p:txBody>
      </p:sp>
      <p:sp>
        <p:nvSpPr>
          <p:cNvPr id="8" name="Shape 5"/>
          <p:cNvSpPr/>
          <p:nvPr/>
        </p:nvSpPr>
        <p:spPr>
          <a:xfrm>
            <a:off x="4197096" y="1975104"/>
            <a:ext cx="1508760" cy="274320"/>
          </a:xfrm>
          <a:prstGeom prst="roundRect">
            <a:avLst>
              <a:gd name="adj" fmla="val 50000"/>
            </a:avLst>
          </a:prstGeom>
          <a:solidFill>
            <a:srgbClr val="E2F5EE"/>
          </a:solidFill>
          <a:ln w="12700">
            <a:solidFill>
              <a:srgbClr val="E2F5EE"/>
            </a:solidFill>
            <a:prstDash val="solid"/>
          </a:ln>
        </p:spPr>
      </p:sp>
      <p:sp>
        <p:nvSpPr>
          <p:cNvPr id="9" name="Text 6"/>
          <p:cNvSpPr txBox="1"/>
          <p:nvPr/>
        </p:nvSpPr>
        <p:spPr>
          <a:xfrm>
            <a:off x="4197096" y="1975104"/>
            <a:ext cx="1508760" cy="274320"/>
          </a:xfrm>
          <a:prstGeom prst="rect">
            <a:avLst/>
          </a:prstGeom>
          <a:noFill/>
          <a:ln/>
        </p:spPr>
        <p:txBody>
          <a:bodyPr wrap="square" lIns="0" tIns="0" rIns="0" bIns="0" rtlCol="0" anchor="ctr"/>
          <a:lstStyle/>
          <a:p>
            <a:pPr algn="ctr" indent="0" marL="0">
              <a:buNone/>
            </a:pPr>
            <a:r>
              <a:rPr lang="en-US" sz="1000" b="1" spc="100" kern="0" dirty="0">
                <a:solidFill>
                  <a:srgbClr val="0B6E51"/>
                </a:solidFill>
                <a:latin typeface="Calibri" pitchFamily="34" charset="0"/>
                <a:ea typeface="Calibri" pitchFamily="34" charset="-122"/>
                <a:cs typeface="Calibri" pitchFamily="34" charset="-120"/>
              </a:rPr>
              <a:t>THE MODEL</a:t>
            </a:r>
            <a:endParaRPr lang="en-US" sz="1000" dirty="0"/>
          </a:p>
        </p:txBody>
      </p:sp>
      <p:sp>
        <p:nvSpPr>
          <p:cNvPr id="10" name="Text 7"/>
          <p:cNvSpPr txBox="1"/>
          <p:nvPr/>
        </p:nvSpPr>
        <p:spPr>
          <a:xfrm>
            <a:off x="822960" y="2395728"/>
            <a:ext cx="1600200" cy="457200"/>
          </a:xfrm>
          <a:prstGeom prst="rect">
            <a:avLst/>
          </a:prstGeom>
          <a:noFill/>
          <a:ln/>
        </p:spPr>
        <p:txBody>
          <a:bodyPr wrap="square" lIns="0" tIns="0" rIns="0" bIns="0" rtlCol="0" anchor="t"/>
          <a:lstStyle/>
          <a:p>
            <a:pPr indent="0" marL="0">
              <a:buNone/>
            </a:pPr>
            <a:r>
              <a:rPr lang="en-US" sz="2200" b="1" dirty="0">
                <a:solidFill>
                  <a:srgbClr val="12A67A"/>
                </a:solidFill>
                <a:latin typeface="Calibri" pitchFamily="34" charset="0"/>
                <a:ea typeface="Calibri" pitchFamily="34" charset="-122"/>
                <a:cs typeface="Calibri" pitchFamily="34" charset="-120"/>
              </a:rPr>
              <a:t>15%</a:t>
            </a:r>
            <a:endParaRPr lang="en-US" sz="2200" dirty="0"/>
          </a:p>
        </p:txBody>
      </p:sp>
      <p:sp>
        <p:nvSpPr>
          <p:cNvPr id="11" name="Text 8"/>
          <p:cNvSpPr txBox="1"/>
          <p:nvPr/>
        </p:nvSpPr>
        <p:spPr>
          <a:xfrm>
            <a:off x="822960" y="283464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Revenue share</a:t>
            </a:r>
            <a:endParaRPr lang="en-US" sz="1050" dirty="0"/>
          </a:p>
        </p:txBody>
      </p:sp>
      <p:sp>
        <p:nvSpPr>
          <p:cNvPr id="12" name="Text 9"/>
          <p:cNvSpPr txBox="1"/>
          <p:nvPr/>
        </p:nvSpPr>
        <p:spPr>
          <a:xfrm>
            <a:off x="2514600" y="2395728"/>
            <a:ext cx="1600200" cy="457200"/>
          </a:xfrm>
          <a:prstGeom prst="rect">
            <a:avLst/>
          </a:prstGeom>
          <a:noFill/>
          <a:ln/>
        </p:spPr>
        <p:txBody>
          <a:bodyPr wrap="square" lIns="0" tIns="0" rIns="0" bIns="0" rtlCol="0" anchor="t"/>
          <a:lstStyle/>
          <a:p>
            <a:pPr indent="0" marL="0">
              <a:buNone/>
            </a:pPr>
            <a:r>
              <a:rPr lang="en-US" sz="2200" b="1" dirty="0">
                <a:solidFill>
                  <a:srgbClr val="12A67A"/>
                </a:solidFill>
                <a:latin typeface="Calibri" pitchFamily="34" charset="0"/>
                <a:ea typeface="Calibri" pitchFamily="34" charset="-122"/>
                <a:cs typeface="Calibri" pitchFamily="34" charset="-120"/>
              </a:rPr>
              <a:t>+17.4%</a:t>
            </a:r>
            <a:endParaRPr lang="en-US" sz="2200" dirty="0"/>
          </a:p>
        </p:txBody>
      </p:sp>
      <p:sp>
        <p:nvSpPr>
          <p:cNvPr id="13" name="Text 10"/>
          <p:cNvSpPr txBox="1"/>
          <p:nvPr/>
        </p:nvSpPr>
        <p:spPr>
          <a:xfrm>
            <a:off x="2514600" y="283464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ARPU</a:t>
            </a:r>
            <a:endParaRPr lang="en-US" sz="1050" dirty="0"/>
          </a:p>
        </p:txBody>
      </p:sp>
      <p:sp>
        <p:nvSpPr>
          <p:cNvPr id="14" name="Text 11"/>
          <p:cNvSpPr txBox="1"/>
          <p:nvPr/>
        </p:nvSpPr>
        <p:spPr>
          <a:xfrm>
            <a:off x="4206240" y="2395728"/>
            <a:ext cx="1600200" cy="457200"/>
          </a:xfrm>
          <a:prstGeom prst="rect">
            <a:avLst/>
          </a:prstGeom>
          <a:noFill/>
          <a:ln/>
        </p:spPr>
        <p:txBody>
          <a:bodyPr wrap="square" lIns="0" tIns="0" rIns="0" bIns="0" rtlCol="0" anchor="t"/>
          <a:lstStyle/>
          <a:p>
            <a:pPr indent="0" marL="0">
              <a:buNone/>
            </a:pPr>
            <a:r>
              <a:rPr lang="en-US" sz="2200" b="1" dirty="0">
                <a:solidFill>
                  <a:srgbClr val="12A67A"/>
                </a:solidFill>
                <a:latin typeface="Calibri" pitchFamily="34" charset="0"/>
                <a:ea typeface="Calibri" pitchFamily="34" charset="-122"/>
                <a:cs typeface="Calibri" pitchFamily="34" charset="-120"/>
              </a:rPr>
              <a:t>−12.6%</a:t>
            </a:r>
            <a:endParaRPr lang="en-US" sz="2200" dirty="0"/>
          </a:p>
        </p:txBody>
      </p:sp>
      <p:sp>
        <p:nvSpPr>
          <p:cNvPr id="15" name="Text 12"/>
          <p:cNvSpPr txBox="1"/>
          <p:nvPr/>
        </p:nvSpPr>
        <p:spPr>
          <a:xfrm>
            <a:off x="4206240" y="283464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Unsubscribed</a:t>
            </a:r>
            <a:endParaRPr lang="en-US" sz="1050" dirty="0"/>
          </a:p>
        </p:txBody>
      </p:sp>
      <p:sp>
        <p:nvSpPr>
          <p:cNvPr id="16" name="Text 13"/>
          <p:cNvSpPr txBox="1"/>
          <p:nvPr/>
        </p:nvSpPr>
        <p:spPr>
          <a:xfrm>
            <a:off x="822960" y="3154680"/>
            <a:ext cx="4882896" cy="594360"/>
          </a:xfrm>
          <a:prstGeom prst="rect">
            <a:avLst/>
          </a:prstGeom>
          <a:noFill/>
          <a:ln/>
        </p:spPr>
        <p:txBody>
          <a:bodyPr wrap="square" lIns="0" tIns="0" rIns="0" bIns="0" rtlCol="0" anchor="t"/>
          <a:lstStyle/>
          <a:p>
            <a:pPr indent="0" marL="0">
              <a:buNone/>
            </a:pPr>
            <a:r>
              <a:rPr lang="en-US" sz="1150" dirty="0">
                <a:solidFill>
                  <a:srgbClr val="1B1838"/>
                </a:solidFill>
                <a:latin typeface="Calibri" pitchFamily="34" charset="0"/>
                <a:ea typeface="Calibri" pitchFamily="34" charset="-122"/>
                <a:cs typeface="Calibri" pitchFamily="34" charset="-120"/>
              </a:rPr>
              <a:t>Our #1 market, and the only city where unsubscribes fell. Copy its retention playbook in other cities.</a:t>
            </a:r>
            <a:endParaRPr lang="en-US" sz="1150" dirty="0"/>
          </a:p>
        </p:txBody>
      </p:sp>
      <p:sp>
        <p:nvSpPr>
          <p:cNvPr id="17" name="Shape 14"/>
          <p:cNvSpPr/>
          <p:nvPr/>
        </p:nvSpPr>
        <p:spPr>
          <a:xfrm>
            <a:off x="6208776" y="1737360"/>
            <a:ext cx="5431536" cy="2103120"/>
          </a:xfrm>
          <a:prstGeom prst="roundRect">
            <a:avLst>
              <a:gd name="adj" fmla="val 3478"/>
            </a:avLst>
          </a:prstGeom>
          <a:solidFill>
            <a:srgbClr val="F5F4FA"/>
          </a:solidFill>
          <a:ln w="12700">
            <a:solidFill>
              <a:srgbClr val="F5F4FA"/>
            </a:solidFill>
            <a:prstDash val="solid"/>
          </a:ln>
        </p:spPr>
      </p:sp>
      <p:sp>
        <p:nvSpPr>
          <p:cNvPr id="18" name="Text 15"/>
          <p:cNvSpPr txBox="1"/>
          <p:nvPr/>
        </p:nvSpPr>
        <p:spPr>
          <a:xfrm>
            <a:off x="6483096" y="1920240"/>
            <a:ext cx="2377440" cy="411480"/>
          </a:xfrm>
          <a:prstGeom prst="rect">
            <a:avLst/>
          </a:prstGeom>
          <a:noFill/>
          <a:ln/>
        </p:spPr>
        <p:txBody>
          <a:bodyPr wrap="square" lIns="0" tIns="0" rIns="0" bIns="0" rtlCol="0" anchor="t"/>
          <a:lstStyle/>
          <a:p>
            <a:pPr indent="0" marL="0">
              <a:buNone/>
            </a:pPr>
            <a:r>
              <a:rPr lang="en-US" sz="2000" b="1" dirty="0">
                <a:solidFill>
                  <a:srgbClr val="1B1838"/>
                </a:solidFill>
                <a:latin typeface="Calibri" pitchFamily="34" charset="0"/>
                <a:ea typeface="Calibri" pitchFamily="34" charset="-122"/>
                <a:cs typeface="Calibri" pitchFamily="34" charset="-120"/>
              </a:rPr>
              <a:t>Delhi</a:t>
            </a:r>
            <a:endParaRPr lang="en-US" sz="2000" dirty="0"/>
          </a:p>
        </p:txBody>
      </p:sp>
      <p:sp>
        <p:nvSpPr>
          <p:cNvPr id="19" name="Shape 16"/>
          <p:cNvSpPr/>
          <p:nvPr/>
        </p:nvSpPr>
        <p:spPr>
          <a:xfrm>
            <a:off x="9857232" y="1975104"/>
            <a:ext cx="1508760" cy="274320"/>
          </a:xfrm>
          <a:prstGeom prst="roundRect">
            <a:avLst>
              <a:gd name="adj" fmla="val 50000"/>
            </a:avLst>
          </a:prstGeom>
          <a:solidFill>
            <a:srgbClr val="FDE9E9"/>
          </a:solidFill>
          <a:ln w="12700">
            <a:solidFill>
              <a:srgbClr val="FDE9E9"/>
            </a:solidFill>
            <a:prstDash val="solid"/>
          </a:ln>
        </p:spPr>
      </p:sp>
      <p:sp>
        <p:nvSpPr>
          <p:cNvPr id="20" name="Text 17"/>
          <p:cNvSpPr txBox="1"/>
          <p:nvPr/>
        </p:nvSpPr>
        <p:spPr>
          <a:xfrm>
            <a:off x="9857232" y="1975104"/>
            <a:ext cx="1508760" cy="274320"/>
          </a:xfrm>
          <a:prstGeom prst="rect">
            <a:avLst/>
          </a:prstGeom>
          <a:noFill/>
          <a:ln/>
        </p:spPr>
        <p:txBody>
          <a:bodyPr wrap="square" lIns="0" tIns="0" rIns="0" bIns="0" rtlCol="0" anchor="ctr"/>
          <a:lstStyle/>
          <a:p>
            <a:pPr algn="ctr" indent="0" marL="0">
              <a:buNone/>
            </a:pPr>
            <a:r>
              <a:rPr lang="en-US" sz="1000" b="1" spc="100" kern="0" dirty="0">
                <a:solidFill>
                  <a:srgbClr val="A3262B"/>
                </a:solidFill>
                <a:latin typeface="Calibri" pitchFamily="34" charset="0"/>
                <a:ea typeface="Calibri" pitchFamily="34" charset="-122"/>
                <a:cs typeface="Calibri" pitchFamily="34" charset="-120"/>
              </a:rPr>
              <a:t>BIGGEST LOSS</a:t>
            </a:r>
            <a:endParaRPr lang="en-US" sz="1000" dirty="0"/>
          </a:p>
        </p:txBody>
      </p:sp>
      <p:sp>
        <p:nvSpPr>
          <p:cNvPr id="21" name="Text 18"/>
          <p:cNvSpPr txBox="1"/>
          <p:nvPr/>
        </p:nvSpPr>
        <p:spPr>
          <a:xfrm>
            <a:off x="6483096" y="2395728"/>
            <a:ext cx="1600200" cy="457200"/>
          </a:xfrm>
          <a:prstGeom prst="rect">
            <a:avLst/>
          </a:prstGeom>
          <a:noFill/>
          <a:ln/>
        </p:spPr>
        <p:txBody>
          <a:bodyPr wrap="square" lIns="0" tIns="0" rIns="0" bIns="0" rtlCol="0" anchor="t"/>
          <a:lstStyle/>
          <a:p>
            <a:pPr indent="0" marL="0">
              <a:buNone/>
            </a:pPr>
            <a:r>
              <a:rPr lang="en-US" sz="2200" b="1" dirty="0">
                <a:solidFill>
                  <a:srgbClr val="E5484D"/>
                </a:solidFill>
                <a:latin typeface="Calibri" pitchFamily="34" charset="0"/>
                <a:ea typeface="Calibri" pitchFamily="34" charset="-122"/>
                <a:cs typeface="Calibri" pitchFamily="34" charset="-120"/>
              </a:rPr>
              <a:t>−2.8%</a:t>
            </a:r>
            <a:endParaRPr lang="en-US" sz="2200" dirty="0"/>
          </a:p>
        </p:txBody>
      </p:sp>
      <p:sp>
        <p:nvSpPr>
          <p:cNvPr id="22" name="Text 19"/>
          <p:cNvSpPr txBox="1"/>
          <p:nvPr/>
        </p:nvSpPr>
        <p:spPr>
          <a:xfrm>
            <a:off x="6483096" y="283464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Revenue</a:t>
            </a:r>
            <a:endParaRPr lang="en-US" sz="1050" dirty="0"/>
          </a:p>
        </p:txBody>
      </p:sp>
      <p:sp>
        <p:nvSpPr>
          <p:cNvPr id="23" name="Text 20"/>
          <p:cNvSpPr txBox="1"/>
          <p:nvPr/>
        </p:nvSpPr>
        <p:spPr>
          <a:xfrm>
            <a:off x="8174736" y="2395728"/>
            <a:ext cx="1600200" cy="457200"/>
          </a:xfrm>
          <a:prstGeom prst="rect">
            <a:avLst/>
          </a:prstGeom>
          <a:noFill/>
          <a:ln/>
        </p:spPr>
        <p:txBody>
          <a:bodyPr wrap="square" lIns="0" tIns="0" rIns="0" bIns="0" rtlCol="0" anchor="t"/>
          <a:lstStyle/>
          <a:p>
            <a:pPr indent="0" marL="0">
              <a:buNone/>
            </a:pPr>
            <a:r>
              <a:rPr lang="en-US" sz="2200" b="1" dirty="0">
                <a:solidFill>
                  <a:srgbClr val="E5484D"/>
                </a:solidFill>
                <a:latin typeface="Calibri" pitchFamily="34" charset="0"/>
                <a:ea typeface="Calibri" pitchFamily="34" charset="-122"/>
                <a:cs typeface="Calibri" pitchFamily="34" charset="-120"/>
              </a:rPr>
              <a:t>−17.6%</a:t>
            </a:r>
            <a:endParaRPr lang="en-US" sz="2200" dirty="0"/>
          </a:p>
        </p:txBody>
      </p:sp>
      <p:sp>
        <p:nvSpPr>
          <p:cNvPr id="24" name="Text 21"/>
          <p:cNvSpPr txBox="1"/>
          <p:nvPr/>
        </p:nvSpPr>
        <p:spPr>
          <a:xfrm>
            <a:off x="8174736" y="283464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Active users</a:t>
            </a:r>
            <a:endParaRPr lang="en-US" sz="1050" dirty="0"/>
          </a:p>
        </p:txBody>
      </p:sp>
      <p:sp>
        <p:nvSpPr>
          <p:cNvPr id="25" name="Text 22"/>
          <p:cNvSpPr txBox="1"/>
          <p:nvPr/>
        </p:nvSpPr>
        <p:spPr>
          <a:xfrm>
            <a:off x="9866376" y="2395728"/>
            <a:ext cx="1600200" cy="457200"/>
          </a:xfrm>
          <a:prstGeom prst="rect">
            <a:avLst/>
          </a:prstGeom>
          <a:noFill/>
          <a:ln/>
        </p:spPr>
        <p:txBody>
          <a:bodyPr wrap="square" lIns="0" tIns="0" rIns="0" bIns="0" rtlCol="0" anchor="t"/>
          <a:lstStyle/>
          <a:p>
            <a:pPr indent="0" marL="0">
              <a:buNone/>
            </a:pPr>
            <a:r>
              <a:rPr lang="en-US" sz="2200" b="1" dirty="0">
                <a:solidFill>
                  <a:srgbClr val="E5484D"/>
                </a:solidFill>
                <a:latin typeface="Calibri" pitchFamily="34" charset="0"/>
                <a:ea typeface="Calibri" pitchFamily="34" charset="-122"/>
                <a:cs typeface="Calibri" pitchFamily="34" charset="-120"/>
              </a:rPr>
              <a:t>4.8 L</a:t>
            </a:r>
            <a:endParaRPr lang="en-US" sz="2200" dirty="0"/>
          </a:p>
        </p:txBody>
      </p:sp>
      <p:sp>
        <p:nvSpPr>
          <p:cNvPr id="26" name="Text 23"/>
          <p:cNvSpPr txBox="1"/>
          <p:nvPr/>
        </p:nvSpPr>
        <p:spPr>
          <a:xfrm>
            <a:off x="9866376" y="283464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Fewer users a month</a:t>
            </a:r>
            <a:endParaRPr lang="en-US" sz="1050" dirty="0"/>
          </a:p>
        </p:txBody>
      </p:sp>
      <p:sp>
        <p:nvSpPr>
          <p:cNvPr id="27" name="Text 24"/>
          <p:cNvSpPr txBox="1"/>
          <p:nvPr/>
        </p:nvSpPr>
        <p:spPr>
          <a:xfrm>
            <a:off x="6483096" y="3154680"/>
            <a:ext cx="4882896" cy="594360"/>
          </a:xfrm>
          <a:prstGeom prst="rect">
            <a:avLst/>
          </a:prstGeom>
          <a:noFill/>
          <a:ln/>
        </p:spPr>
        <p:txBody>
          <a:bodyPr wrap="square" lIns="0" tIns="0" rIns="0" bIns="0" rtlCol="0" anchor="t"/>
          <a:lstStyle/>
          <a:p>
            <a:pPr indent="0" marL="0">
              <a:buNone/>
            </a:pPr>
            <a:r>
              <a:rPr lang="en-US" sz="1150" dirty="0">
                <a:solidFill>
                  <a:srgbClr val="1B1838"/>
                </a:solidFill>
                <a:latin typeface="Calibri" pitchFamily="34" charset="0"/>
                <a:ea typeface="Calibri" pitchFamily="34" charset="-122"/>
                <a:cs typeface="Calibri" pitchFamily="34" charset="-120"/>
              </a:rPr>
              <a:t>Our #2 market had the worst revenue decline and the largest drop in users. Make it the first win-back market.</a:t>
            </a:r>
            <a:endParaRPr lang="en-US" sz="1150" dirty="0"/>
          </a:p>
        </p:txBody>
      </p:sp>
      <p:sp>
        <p:nvSpPr>
          <p:cNvPr id="28" name="Shape 25"/>
          <p:cNvSpPr/>
          <p:nvPr/>
        </p:nvSpPr>
        <p:spPr>
          <a:xfrm>
            <a:off x="548640" y="4069080"/>
            <a:ext cx="5431536" cy="2103120"/>
          </a:xfrm>
          <a:prstGeom prst="roundRect">
            <a:avLst>
              <a:gd name="adj" fmla="val 3478"/>
            </a:avLst>
          </a:prstGeom>
          <a:solidFill>
            <a:srgbClr val="F5F4FA"/>
          </a:solidFill>
          <a:ln w="12700">
            <a:solidFill>
              <a:srgbClr val="F5F4FA"/>
            </a:solidFill>
            <a:prstDash val="solid"/>
          </a:ln>
        </p:spPr>
      </p:sp>
      <p:sp>
        <p:nvSpPr>
          <p:cNvPr id="29" name="Text 26"/>
          <p:cNvSpPr txBox="1"/>
          <p:nvPr/>
        </p:nvSpPr>
        <p:spPr>
          <a:xfrm>
            <a:off x="822960" y="4251960"/>
            <a:ext cx="2377440" cy="411480"/>
          </a:xfrm>
          <a:prstGeom prst="rect">
            <a:avLst/>
          </a:prstGeom>
          <a:noFill/>
          <a:ln/>
        </p:spPr>
        <p:txBody>
          <a:bodyPr wrap="square" lIns="0" tIns="0" rIns="0" bIns="0" rtlCol="0" anchor="t"/>
          <a:lstStyle/>
          <a:p>
            <a:pPr indent="0" marL="0">
              <a:buNone/>
            </a:pPr>
            <a:r>
              <a:rPr lang="en-US" sz="2000" b="1" dirty="0">
                <a:solidFill>
                  <a:srgbClr val="1B1838"/>
                </a:solidFill>
                <a:latin typeface="Calibri" pitchFamily="34" charset="0"/>
                <a:ea typeface="Calibri" pitchFamily="34" charset="-122"/>
                <a:cs typeface="Calibri" pitchFamily="34" charset="-120"/>
              </a:rPr>
              <a:t>Pune</a:t>
            </a:r>
            <a:endParaRPr lang="en-US" sz="2000" dirty="0"/>
          </a:p>
        </p:txBody>
      </p:sp>
      <p:sp>
        <p:nvSpPr>
          <p:cNvPr id="30" name="Shape 27"/>
          <p:cNvSpPr/>
          <p:nvPr/>
        </p:nvSpPr>
        <p:spPr>
          <a:xfrm>
            <a:off x="4197096" y="4306824"/>
            <a:ext cx="1508760" cy="274320"/>
          </a:xfrm>
          <a:prstGeom prst="roundRect">
            <a:avLst>
              <a:gd name="adj" fmla="val 50000"/>
            </a:avLst>
          </a:prstGeom>
          <a:solidFill>
            <a:srgbClr val="FDF2DA"/>
          </a:solidFill>
          <a:ln w="12700">
            <a:solidFill>
              <a:srgbClr val="FDF2DA"/>
            </a:solidFill>
            <a:prstDash val="solid"/>
          </a:ln>
        </p:spPr>
      </p:sp>
      <p:sp>
        <p:nvSpPr>
          <p:cNvPr id="31" name="Text 28"/>
          <p:cNvSpPr txBox="1"/>
          <p:nvPr/>
        </p:nvSpPr>
        <p:spPr>
          <a:xfrm>
            <a:off x="4197096" y="4306824"/>
            <a:ext cx="1508760" cy="274320"/>
          </a:xfrm>
          <a:prstGeom prst="rect">
            <a:avLst/>
          </a:prstGeom>
          <a:noFill/>
          <a:ln/>
        </p:spPr>
        <p:txBody>
          <a:bodyPr wrap="square" lIns="0" tIns="0" rIns="0" bIns="0" rtlCol="0" anchor="ctr"/>
          <a:lstStyle/>
          <a:p>
            <a:pPr algn="ctr" indent="0" marL="0">
              <a:buNone/>
            </a:pPr>
            <a:r>
              <a:rPr lang="en-US" sz="1000" b="1" spc="100" kern="0" dirty="0">
                <a:solidFill>
                  <a:srgbClr val="8A5B00"/>
                </a:solidFill>
                <a:latin typeface="Calibri" pitchFamily="34" charset="0"/>
                <a:ea typeface="Calibri" pitchFamily="34" charset="-122"/>
                <a:cs typeface="Calibri" pitchFamily="34" charset="-120"/>
              </a:rPr>
              <a:t>CHEAP GROWTH</a:t>
            </a:r>
            <a:endParaRPr lang="en-US" sz="1000" dirty="0"/>
          </a:p>
        </p:txBody>
      </p:sp>
      <p:sp>
        <p:nvSpPr>
          <p:cNvPr id="32" name="Text 29"/>
          <p:cNvSpPr txBox="1"/>
          <p:nvPr/>
        </p:nvSpPr>
        <p:spPr>
          <a:xfrm>
            <a:off x="822960" y="4727448"/>
            <a:ext cx="1600200" cy="457200"/>
          </a:xfrm>
          <a:prstGeom prst="rect">
            <a:avLst/>
          </a:prstGeom>
          <a:noFill/>
          <a:ln/>
        </p:spPr>
        <p:txBody>
          <a:bodyPr wrap="square" lIns="0" tIns="0" rIns="0" bIns="0" rtlCol="0" anchor="t"/>
          <a:lstStyle/>
          <a:p>
            <a:pPr indent="0" marL="0">
              <a:buNone/>
            </a:pPr>
            <a:r>
              <a:rPr lang="en-US" sz="2200" b="1" dirty="0">
                <a:solidFill>
                  <a:srgbClr val="D99100"/>
                </a:solidFill>
                <a:latin typeface="Calibri" pitchFamily="34" charset="0"/>
                <a:ea typeface="Calibri" pitchFamily="34" charset="-122"/>
                <a:cs typeface="Calibri" pitchFamily="34" charset="-120"/>
              </a:rPr>
              <a:t>+18.1%</a:t>
            </a:r>
            <a:endParaRPr lang="en-US" sz="2200" dirty="0"/>
          </a:p>
        </p:txBody>
      </p:sp>
      <p:sp>
        <p:nvSpPr>
          <p:cNvPr id="33" name="Text 30"/>
          <p:cNvSpPr txBox="1"/>
          <p:nvPr/>
        </p:nvSpPr>
        <p:spPr>
          <a:xfrm>
            <a:off x="822960" y="516636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Active users</a:t>
            </a:r>
            <a:endParaRPr lang="en-US" sz="1050" dirty="0"/>
          </a:p>
        </p:txBody>
      </p:sp>
      <p:sp>
        <p:nvSpPr>
          <p:cNvPr id="34" name="Text 31"/>
          <p:cNvSpPr txBox="1"/>
          <p:nvPr/>
        </p:nvSpPr>
        <p:spPr>
          <a:xfrm>
            <a:off x="2514600" y="4727448"/>
            <a:ext cx="1600200" cy="457200"/>
          </a:xfrm>
          <a:prstGeom prst="rect">
            <a:avLst/>
          </a:prstGeom>
          <a:noFill/>
          <a:ln/>
        </p:spPr>
        <p:txBody>
          <a:bodyPr wrap="square" lIns="0" tIns="0" rIns="0" bIns="0" rtlCol="0" anchor="t"/>
          <a:lstStyle/>
          <a:p>
            <a:pPr indent="0" marL="0">
              <a:buNone/>
            </a:pPr>
            <a:r>
              <a:rPr lang="en-US" sz="2200" b="1" dirty="0">
                <a:solidFill>
                  <a:srgbClr val="D99100"/>
                </a:solidFill>
                <a:latin typeface="Calibri" pitchFamily="34" charset="0"/>
                <a:ea typeface="Calibri" pitchFamily="34" charset="-122"/>
                <a:cs typeface="Calibri" pitchFamily="34" charset="-120"/>
              </a:rPr>
              <a:t>−12.9%</a:t>
            </a:r>
            <a:endParaRPr lang="en-US" sz="2200" dirty="0"/>
          </a:p>
        </p:txBody>
      </p:sp>
      <p:sp>
        <p:nvSpPr>
          <p:cNvPr id="35" name="Text 32"/>
          <p:cNvSpPr txBox="1"/>
          <p:nvPr/>
        </p:nvSpPr>
        <p:spPr>
          <a:xfrm>
            <a:off x="2514600" y="516636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ARPU</a:t>
            </a:r>
            <a:endParaRPr lang="en-US" sz="1050" dirty="0"/>
          </a:p>
        </p:txBody>
      </p:sp>
      <p:sp>
        <p:nvSpPr>
          <p:cNvPr id="36" name="Text 33"/>
          <p:cNvSpPr txBox="1"/>
          <p:nvPr/>
        </p:nvSpPr>
        <p:spPr>
          <a:xfrm>
            <a:off x="4206240" y="4727448"/>
            <a:ext cx="1600200" cy="457200"/>
          </a:xfrm>
          <a:prstGeom prst="rect">
            <a:avLst/>
          </a:prstGeom>
          <a:noFill/>
          <a:ln/>
        </p:spPr>
        <p:txBody>
          <a:bodyPr wrap="square" lIns="0" tIns="0" rIns="0" bIns="0" rtlCol="0" anchor="t"/>
          <a:lstStyle/>
          <a:p>
            <a:pPr indent="0" marL="0">
              <a:buNone/>
            </a:pPr>
            <a:r>
              <a:rPr lang="en-US" sz="2200" b="1" dirty="0">
                <a:solidFill>
                  <a:srgbClr val="D99100"/>
                </a:solidFill>
                <a:latin typeface="Calibri" pitchFamily="34" charset="0"/>
                <a:ea typeface="Calibri" pitchFamily="34" charset="-122"/>
                <a:cs typeface="Calibri" pitchFamily="34" charset="-120"/>
              </a:rPr>
              <a:t>+55.3%</a:t>
            </a:r>
            <a:endParaRPr lang="en-US" sz="2200" dirty="0"/>
          </a:p>
        </p:txBody>
      </p:sp>
      <p:sp>
        <p:nvSpPr>
          <p:cNvPr id="37" name="Text 34"/>
          <p:cNvSpPr txBox="1"/>
          <p:nvPr/>
        </p:nvSpPr>
        <p:spPr>
          <a:xfrm>
            <a:off x="4206240" y="516636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Unsubscribed</a:t>
            </a:r>
            <a:endParaRPr lang="en-US" sz="1050" dirty="0"/>
          </a:p>
        </p:txBody>
      </p:sp>
      <p:sp>
        <p:nvSpPr>
          <p:cNvPr id="38" name="Text 35"/>
          <p:cNvSpPr txBox="1"/>
          <p:nvPr/>
        </p:nvSpPr>
        <p:spPr>
          <a:xfrm>
            <a:off x="822960" y="5486400"/>
            <a:ext cx="4882896" cy="594360"/>
          </a:xfrm>
          <a:prstGeom prst="rect">
            <a:avLst/>
          </a:prstGeom>
          <a:noFill/>
          <a:ln/>
        </p:spPr>
        <p:txBody>
          <a:bodyPr wrap="square" lIns="0" tIns="0" rIns="0" bIns="0" rtlCol="0" anchor="t"/>
          <a:lstStyle/>
          <a:p>
            <a:pPr indent="0" marL="0">
              <a:buNone/>
            </a:pPr>
            <a:r>
              <a:rPr lang="en-US" sz="1150" dirty="0">
                <a:solidFill>
                  <a:srgbClr val="1B1838"/>
                </a:solidFill>
                <a:latin typeface="Calibri" pitchFamily="34" charset="0"/>
                <a:ea typeface="Calibri" pitchFamily="34" charset="-122"/>
                <a:cs typeface="Calibri" pitchFamily="34" charset="-120"/>
              </a:rPr>
              <a:t>The only big user gain came with the only big ARPU fall and high churn. Check whether discounting is buying low-value users.</a:t>
            </a:r>
            <a:endParaRPr lang="en-US" sz="1150" dirty="0"/>
          </a:p>
        </p:txBody>
      </p:sp>
      <p:sp>
        <p:nvSpPr>
          <p:cNvPr id="39" name="Shape 36"/>
          <p:cNvSpPr/>
          <p:nvPr/>
        </p:nvSpPr>
        <p:spPr>
          <a:xfrm>
            <a:off x="6208776" y="4069080"/>
            <a:ext cx="5431536" cy="2103120"/>
          </a:xfrm>
          <a:prstGeom prst="roundRect">
            <a:avLst>
              <a:gd name="adj" fmla="val 3478"/>
            </a:avLst>
          </a:prstGeom>
          <a:solidFill>
            <a:srgbClr val="F5F4FA"/>
          </a:solidFill>
          <a:ln w="12700">
            <a:solidFill>
              <a:srgbClr val="F5F4FA"/>
            </a:solidFill>
            <a:prstDash val="solid"/>
          </a:ln>
        </p:spPr>
      </p:sp>
      <p:sp>
        <p:nvSpPr>
          <p:cNvPr id="40" name="Text 37"/>
          <p:cNvSpPr txBox="1"/>
          <p:nvPr/>
        </p:nvSpPr>
        <p:spPr>
          <a:xfrm>
            <a:off x="6483096" y="4251960"/>
            <a:ext cx="2377440" cy="411480"/>
          </a:xfrm>
          <a:prstGeom prst="rect">
            <a:avLst/>
          </a:prstGeom>
          <a:noFill/>
          <a:ln/>
        </p:spPr>
        <p:txBody>
          <a:bodyPr wrap="square" lIns="0" tIns="0" rIns="0" bIns="0" rtlCol="0" anchor="t"/>
          <a:lstStyle/>
          <a:p>
            <a:pPr indent="0" marL="0">
              <a:buNone/>
            </a:pPr>
            <a:r>
              <a:rPr lang="en-US" sz="2000" b="1" dirty="0">
                <a:solidFill>
                  <a:srgbClr val="1B1838"/>
                </a:solidFill>
                <a:latin typeface="Calibri" pitchFamily="34" charset="0"/>
                <a:ea typeface="Calibri" pitchFamily="34" charset="-122"/>
                <a:cs typeface="Calibri" pitchFamily="34" charset="-120"/>
              </a:rPr>
              <a:t>Lucknow</a:t>
            </a:r>
            <a:endParaRPr lang="en-US" sz="2000" dirty="0"/>
          </a:p>
        </p:txBody>
      </p:sp>
      <p:sp>
        <p:nvSpPr>
          <p:cNvPr id="41" name="Shape 38"/>
          <p:cNvSpPr/>
          <p:nvPr/>
        </p:nvSpPr>
        <p:spPr>
          <a:xfrm>
            <a:off x="9857232" y="4306824"/>
            <a:ext cx="1508760" cy="274320"/>
          </a:xfrm>
          <a:prstGeom prst="roundRect">
            <a:avLst>
              <a:gd name="adj" fmla="val 50000"/>
            </a:avLst>
          </a:prstGeom>
          <a:solidFill>
            <a:srgbClr val="FDF2DA"/>
          </a:solidFill>
          <a:ln w="12700">
            <a:solidFill>
              <a:srgbClr val="FDF2DA"/>
            </a:solidFill>
            <a:prstDash val="solid"/>
          </a:ln>
        </p:spPr>
      </p:sp>
      <p:sp>
        <p:nvSpPr>
          <p:cNvPr id="42" name="Text 39"/>
          <p:cNvSpPr txBox="1"/>
          <p:nvPr/>
        </p:nvSpPr>
        <p:spPr>
          <a:xfrm>
            <a:off x="9857232" y="4306824"/>
            <a:ext cx="1508760" cy="274320"/>
          </a:xfrm>
          <a:prstGeom prst="rect">
            <a:avLst/>
          </a:prstGeom>
          <a:noFill/>
          <a:ln/>
        </p:spPr>
        <p:txBody>
          <a:bodyPr wrap="square" lIns="0" tIns="0" rIns="0" bIns="0" rtlCol="0" anchor="ctr"/>
          <a:lstStyle/>
          <a:p>
            <a:pPr algn="ctr" indent="0" marL="0">
              <a:buNone/>
            </a:pPr>
            <a:r>
              <a:rPr lang="en-US" sz="1000" b="1" spc="100" kern="0" dirty="0">
                <a:solidFill>
                  <a:srgbClr val="8A5B00"/>
                </a:solidFill>
                <a:latin typeface="Calibri" pitchFamily="34" charset="0"/>
                <a:ea typeface="Calibri" pitchFamily="34" charset="-122"/>
                <a:cs typeface="Calibri" pitchFamily="34" charset="-120"/>
              </a:rPr>
              <a:t>CHURN HOTSPOT</a:t>
            </a:r>
            <a:endParaRPr lang="en-US" sz="1000" dirty="0"/>
          </a:p>
        </p:txBody>
      </p:sp>
      <p:sp>
        <p:nvSpPr>
          <p:cNvPr id="43" name="Text 40"/>
          <p:cNvSpPr txBox="1"/>
          <p:nvPr/>
        </p:nvSpPr>
        <p:spPr>
          <a:xfrm>
            <a:off x="6483096" y="4727448"/>
            <a:ext cx="1600200" cy="457200"/>
          </a:xfrm>
          <a:prstGeom prst="rect">
            <a:avLst/>
          </a:prstGeom>
          <a:noFill/>
          <a:ln/>
        </p:spPr>
        <p:txBody>
          <a:bodyPr wrap="square" lIns="0" tIns="0" rIns="0" bIns="0" rtlCol="0" anchor="t"/>
          <a:lstStyle/>
          <a:p>
            <a:pPr indent="0" marL="0">
              <a:buNone/>
            </a:pPr>
            <a:r>
              <a:rPr lang="en-US" sz="2200" b="1" dirty="0">
                <a:solidFill>
                  <a:srgbClr val="D99100"/>
                </a:solidFill>
                <a:latin typeface="Calibri" pitchFamily="34" charset="0"/>
                <a:ea typeface="Calibri" pitchFamily="34" charset="-122"/>
                <a:cs typeface="Calibri" pitchFamily="34" charset="-120"/>
              </a:rPr>
              <a:t>+1.8%</a:t>
            </a:r>
            <a:endParaRPr lang="en-US" sz="2200" dirty="0"/>
          </a:p>
        </p:txBody>
      </p:sp>
      <p:sp>
        <p:nvSpPr>
          <p:cNvPr id="44" name="Text 41"/>
          <p:cNvSpPr txBox="1"/>
          <p:nvPr/>
        </p:nvSpPr>
        <p:spPr>
          <a:xfrm>
            <a:off x="6483096" y="516636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Revenue</a:t>
            </a:r>
            <a:endParaRPr lang="en-US" sz="1050" dirty="0"/>
          </a:p>
        </p:txBody>
      </p:sp>
      <p:sp>
        <p:nvSpPr>
          <p:cNvPr id="45" name="Text 42"/>
          <p:cNvSpPr txBox="1"/>
          <p:nvPr/>
        </p:nvSpPr>
        <p:spPr>
          <a:xfrm>
            <a:off x="8174736" y="4727448"/>
            <a:ext cx="1600200" cy="457200"/>
          </a:xfrm>
          <a:prstGeom prst="rect">
            <a:avLst/>
          </a:prstGeom>
          <a:noFill/>
          <a:ln/>
        </p:spPr>
        <p:txBody>
          <a:bodyPr wrap="square" lIns="0" tIns="0" rIns="0" bIns="0" rtlCol="0" anchor="t"/>
          <a:lstStyle/>
          <a:p>
            <a:pPr indent="0" marL="0">
              <a:buNone/>
            </a:pPr>
            <a:r>
              <a:rPr lang="en-US" sz="2200" b="1" dirty="0">
                <a:solidFill>
                  <a:srgbClr val="D99100"/>
                </a:solidFill>
                <a:latin typeface="Calibri" pitchFamily="34" charset="0"/>
                <a:ea typeface="Calibri" pitchFamily="34" charset="-122"/>
                <a:cs typeface="Calibri" pitchFamily="34" charset="-120"/>
              </a:rPr>
              <a:t>+2.6%</a:t>
            </a:r>
            <a:endParaRPr lang="en-US" sz="2200" dirty="0"/>
          </a:p>
        </p:txBody>
      </p:sp>
      <p:sp>
        <p:nvSpPr>
          <p:cNvPr id="46" name="Text 43"/>
          <p:cNvSpPr txBox="1"/>
          <p:nvPr/>
        </p:nvSpPr>
        <p:spPr>
          <a:xfrm>
            <a:off x="8174736" y="516636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Active users</a:t>
            </a:r>
            <a:endParaRPr lang="en-US" sz="1050" dirty="0"/>
          </a:p>
        </p:txBody>
      </p:sp>
      <p:sp>
        <p:nvSpPr>
          <p:cNvPr id="47" name="Text 44"/>
          <p:cNvSpPr txBox="1"/>
          <p:nvPr/>
        </p:nvSpPr>
        <p:spPr>
          <a:xfrm>
            <a:off x="9866376" y="4727448"/>
            <a:ext cx="1600200" cy="457200"/>
          </a:xfrm>
          <a:prstGeom prst="rect">
            <a:avLst/>
          </a:prstGeom>
          <a:noFill/>
          <a:ln/>
        </p:spPr>
        <p:txBody>
          <a:bodyPr wrap="square" lIns="0" tIns="0" rIns="0" bIns="0" rtlCol="0" anchor="t"/>
          <a:lstStyle/>
          <a:p>
            <a:pPr indent="0" marL="0">
              <a:buNone/>
            </a:pPr>
            <a:r>
              <a:rPr lang="en-US" sz="2200" b="1" dirty="0">
                <a:solidFill>
                  <a:srgbClr val="D99100"/>
                </a:solidFill>
                <a:latin typeface="Calibri" pitchFamily="34" charset="0"/>
                <a:ea typeface="Calibri" pitchFamily="34" charset="-122"/>
                <a:cs typeface="Calibri" pitchFamily="34" charset="-120"/>
              </a:rPr>
              <a:t>+77.9%</a:t>
            </a:r>
            <a:endParaRPr lang="en-US" sz="2200" dirty="0"/>
          </a:p>
        </p:txBody>
      </p:sp>
      <p:sp>
        <p:nvSpPr>
          <p:cNvPr id="48" name="Text 45"/>
          <p:cNvSpPr txBox="1"/>
          <p:nvPr/>
        </p:nvSpPr>
        <p:spPr>
          <a:xfrm>
            <a:off x="9866376" y="5166360"/>
            <a:ext cx="1600200" cy="228600"/>
          </a:xfrm>
          <a:prstGeom prst="rect">
            <a:avLst/>
          </a:prstGeom>
          <a:noFill/>
          <a:ln/>
        </p:spPr>
        <p:txBody>
          <a:bodyPr wrap="square" lIns="0" tIns="0" rIns="0" bIns="0" rtlCol="0" anchor="t"/>
          <a:lstStyle/>
          <a:p>
            <a:pPr indent="0" marL="0">
              <a:buNone/>
            </a:pPr>
            <a:r>
              <a:rPr lang="en-US" sz="1050" dirty="0">
                <a:solidFill>
                  <a:srgbClr val="615E78"/>
                </a:solidFill>
                <a:latin typeface="Calibri" pitchFamily="34" charset="0"/>
                <a:ea typeface="Calibri" pitchFamily="34" charset="-122"/>
                <a:cs typeface="Calibri" pitchFamily="34" charset="-120"/>
              </a:rPr>
              <a:t>Unsubscribed</a:t>
            </a:r>
            <a:endParaRPr lang="en-US" sz="1050" dirty="0"/>
          </a:p>
        </p:txBody>
      </p:sp>
      <p:sp>
        <p:nvSpPr>
          <p:cNvPr id="49" name="Text 46"/>
          <p:cNvSpPr txBox="1"/>
          <p:nvPr/>
        </p:nvSpPr>
        <p:spPr>
          <a:xfrm>
            <a:off x="6483096" y="5486400"/>
            <a:ext cx="4882896" cy="594360"/>
          </a:xfrm>
          <a:prstGeom prst="rect">
            <a:avLst/>
          </a:prstGeom>
          <a:noFill/>
          <a:ln/>
        </p:spPr>
        <p:txBody>
          <a:bodyPr wrap="square" lIns="0" tIns="0" rIns="0" bIns="0" rtlCol="0" anchor="t"/>
          <a:lstStyle/>
          <a:p>
            <a:pPr indent="0" marL="0">
              <a:buNone/>
            </a:pPr>
            <a:r>
              <a:rPr lang="en-US" sz="1150" dirty="0">
                <a:solidFill>
                  <a:srgbClr val="1B1838"/>
                </a:solidFill>
                <a:latin typeface="Calibri" pitchFamily="34" charset="0"/>
                <a:ea typeface="Calibri" pitchFamily="34" charset="-122"/>
                <a:cs typeface="Calibri" pitchFamily="34" charset="-120"/>
              </a:rPr>
              <a:t>Revenue grew more here than anywhere, but unsubscribes rose 78%, the most of any city. Check network experience here.</a:t>
            </a:r>
            <a:endParaRPr lang="en-US" sz="1150" dirty="0"/>
          </a:p>
        </p:txBody>
      </p:sp>
      <p:sp>
        <p:nvSpPr>
          <p:cNvPr id="50" name="Text 47"/>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51" name="Text 48"/>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5B3DF5"/>
          </a:solidFill>
          <a:ln w="12700">
            <a:solidFill>
              <a:srgbClr val="5B3DF5"/>
            </a:solidFill>
            <a:prstDash val="solid"/>
          </a:ln>
        </p:spPr>
      </p:sp>
      <p:pic>
        <p:nvPicPr>
          <p:cNvPr id="3" name="Image 0" descr="preencoded.png">    </p:cNvPr>
          <p:cNvPicPr>
            <a:picLocks noChangeAspect="1"/>
          </p:cNvPicPr>
          <p:nvPr/>
        </p:nvPicPr>
        <p:blipFill>
          <a:blip r:embed="rId1"/>
          <a:stretch>
            <a:fillRect/>
          </a:stretch>
        </p:blipFill>
        <p:spPr>
          <a:xfrm>
            <a:off x="722376" y="630936"/>
            <a:ext cx="310896" cy="310896"/>
          </a:xfrm>
          <a:prstGeom prst="rect">
            <a:avLst/>
          </a:prstGeom>
        </p:spPr>
      </p:pic>
      <p:sp>
        <p:nvSpPr>
          <p:cNvPr id="4" name="Text 1"/>
          <p:cNvSpPr txBox="1"/>
          <p:nvPr/>
        </p:nvSpPr>
        <p:spPr>
          <a:xfrm>
            <a:off x="1417320" y="429768"/>
            <a:ext cx="10149840" cy="256032"/>
          </a:xfrm>
          <a:prstGeom prst="rect">
            <a:avLst/>
          </a:prstGeom>
          <a:noFill/>
          <a:ln/>
        </p:spPr>
        <p:txBody>
          <a:bodyPr wrap="square" lIns="0" tIns="0" rIns="0" bIns="0" rtlCol="0" anchor="t"/>
          <a:lstStyle/>
          <a:p>
            <a:pPr indent="0" marL="0">
              <a:buNone/>
            </a:pPr>
            <a:r>
              <a:rPr lang="en-US" sz="1200" b="1" spc="200" kern="0" dirty="0">
                <a:solidFill>
                  <a:srgbClr val="5B3DF5"/>
                </a:solidFill>
                <a:latin typeface="Calibri" pitchFamily="34" charset="0"/>
                <a:ea typeface="Calibri" pitchFamily="34" charset="-122"/>
                <a:cs typeface="Calibri" pitchFamily="34" charset="-120"/>
              </a:rPr>
              <a:t>RECOMMENDATIONS</a:t>
            </a:r>
            <a:endParaRPr lang="en-US" sz="1200" dirty="0"/>
          </a:p>
        </p:txBody>
      </p:sp>
      <p:sp>
        <p:nvSpPr>
          <p:cNvPr id="5" name="Text 2"/>
          <p:cNvSpPr txBox="1"/>
          <p:nvPr/>
        </p:nvSpPr>
        <p:spPr>
          <a:xfrm>
            <a:off x="1417320" y="694944"/>
            <a:ext cx="10241280" cy="822960"/>
          </a:xfrm>
          <a:prstGeom prst="rect">
            <a:avLst/>
          </a:prstGeom>
          <a:noFill/>
          <a:ln/>
        </p:spPr>
        <p:txBody>
          <a:bodyPr wrap="square" lIns="0" tIns="0" rIns="0" bIns="0" rtlCol="0" anchor="t"/>
          <a:lstStyle/>
          <a:p>
            <a:pPr indent="0" marL="0">
              <a:buNone/>
            </a:pPr>
            <a:r>
              <a:rPr lang="en-US" sz="2500" b="1" dirty="0">
                <a:solidFill>
                  <a:srgbClr val="1B1838"/>
                </a:solidFill>
                <a:latin typeface="Calibri" pitchFamily="34" charset="0"/>
                <a:ea typeface="Calibri" pitchFamily="34" charset="-122"/>
                <a:cs typeface="Calibri" pitchFamily="34" charset="-120"/>
              </a:rPr>
              <a:t>Five moves to turn 5G into growth</a:t>
            </a:r>
            <a:endParaRPr lang="en-US" sz="2500" dirty="0"/>
          </a:p>
        </p:txBody>
      </p:sp>
      <p:sp>
        <p:nvSpPr>
          <p:cNvPr id="6" name="Shape 3"/>
          <p:cNvSpPr/>
          <p:nvPr/>
        </p:nvSpPr>
        <p:spPr>
          <a:xfrm>
            <a:off x="548640" y="1737360"/>
            <a:ext cx="3547872" cy="2194560"/>
          </a:xfrm>
          <a:prstGeom prst="roundRect">
            <a:avLst>
              <a:gd name="adj" fmla="val 3333"/>
            </a:avLst>
          </a:prstGeom>
          <a:solidFill>
            <a:srgbClr val="F5F4FA"/>
          </a:solidFill>
          <a:ln w="12700">
            <a:solidFill>
              <a:srgbClr val="F5F4FA"/>
            </a:solidFill>
            <a:prstDash val="solid"/>
          </a:ln>
        </p:spPr>
      </p:sp>
      <p:sp>
        <p:nvSpPr>
          <p:cNvPr id="7" name="Shape 4"/>
          <p:cNvSpPr/>
          <p:nvPr/>
        </p:nvSpPr>
        <p:spPr>
          <a:xfrm>
            <a:off x="822960" y="2011680"/>
            <a:ext cx="502920" cy="502920"/>
          </a:xfrm>
          <a:prstGeom prst="ellipse">
            <a:avLst/>
          </a:prstGeom>
          <a:solidFill>
            <a:srgbClr val="5B3DF5"/>
          </a:solidFill>
          <a:ln w="12700">
            <a:solidFill>
              <a:srgbClr val="5B3DF5"/>
            </a:solidFill>
            <a:prstDash val="solid"/>
          </a:ln>
        </p:spPr>
      </p:sp>
      <p:sp>
        <p:nvSpPr>
          <p:cNvPr id="8" name="Text 5"/>
          <p:cNvSpPr txBox="1"/>
          <p:nvPr/>
        </p:nvSpPr>
        <p:spPr>
          <a:xfrm>
            <a:off x="82296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463040" y="2011680"/>
            <a:ext cx="2450592" cy="50292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Win back lost users</a:t>
            </a:r>
            <a:endParaRPr lang="en-US" sz="1500" dirty="0"/>
          </a:p>
        </p:txBody>
      </p:sp>
      <p:sp>
        <p:nvSpPr>
          <p:cNvPr id="10" name="Text 7"/>
          <p:cNvSpPr txBox="1"/>
          <p:nvPr/>
        </p:nvSpPr>
        <p:spPr>
          <a:xfrm>
            <a:off x="822960" y="2651760"/>
            <a:ext cx="2999232" cy="91440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Run targeted retention and win-back offers in Delhi, Mumbai, Bangalore, Ahmedabad, which have about 15 L fewer active users a month between them.</a:t>
            </a:r>
            <a:endParaRPr lang="en-US" sz="1150" dirty="0"/>
          </a:p>
        </p:txBody>
      </p:sp>
      <p:sp>
        <p:nvSpPr>
          <p:cNvPr id="11" name="Text 8"/>
          <p:cNvSpPr txBox="1"/>
          <p:nvPr/>
        </p:nvSpPr>
        <p:spPr>
          <a:xfrm>
            <a:off x="822960" y="3547872"/>
            <a:ext cx="2999232" cy="228600"/>
          </a:xfrm>
          <a:prstGeom prst="rect">
            <a:avLst/>
          </a:prstGeom>
          <a:noFill/>
          <a:ln/>
        </p:spPr>
        <p:txBody>
          <a:bodyPr wrap="square" lIns="0" tIns="0" rIns="0" bIns="0" rtlCol="0" anchor="t"/>
          <a:lstStyle/>
          <a:p>
            <a:pPr indent="0" marL="0">
              <a:buNone/>
            </a:pPr>
            <a:r>
              <a:rPr lang="en-US" sz="1000" b="1" dirty="0">
                <a:solidFill>
                  <a:srgbClr val="5B3DF5"/>
                </a:solidFill>
                <a:latin typeface="Calibri" pitchFamily="34" charset="0"/>
                <a:ea typeface="Calibri" pitchFamily="34" charset="-122"/>
                <a:cs typeface="Calibri" pitchFamily="34" charset="-120"/>
              </a:rPr>
              <a:t>KPI: Active users</a:t>
            </a:r>
            <a:endParaRPr lang="en-US" sz="1000" dirty="0"/>
          </a:p>
        </p:txBody>
      </p:sp>
      <p:sp>
        <p:nvSpPr>
          <p:cNvPr id="12" name="Shape 9"/>
          <p:cNvSpPr/>
          <p:nvPr/>
        </p:nvSpPr>
        <p:spPr>
          <a:xfrm>
            <a:off x="4320540" y="1737360"/>
            <a:ext cx="3547872" cy="2194560"/>
          </a:xfrm>
          <a:prstGeom prst="roundRect">
            <a:avLst>
              <a:gd name="adj" fmla="val 3333"/>
            </a:avLst>
          </a:prstGeom>
          <a:solidFill>
            <a:srgbClr val="F5F4FA"/>
          </a:solidFill>
          <a:ln w="12700">
            <a:solidFill>
              <a:srgbClr val="F5F4FA"/>
            </a:solidFill>
            <a:prstDash val="solid"/>
          </a:ln>
        </p:spPr>
      </p:sp>
      <p:sp>
        <p:nvSpPr>
          <p:cNvPr id="13" name="Shape 10"/>
          <p:cNvSpPr/>
          <p:nvPr/>
        </p:nvSpPr>
        <p:spPr>
          <a:xfrm>
            <a:off x="4594860" y="2011680"/>
            <a:ext cx="502920" cy="502920"/>
          </a:xfrm>
          <a:prstGeom prst="ellipse">
            <a:avLst/>
          </a:prstGeom>
          <a:solidFill>
            <a:srgbClr val="5B3DF5"/>
          </a:solidFill>
          <a:ln w="12700">
            <a:solidFill>
              <a:srgbClr val="5B3DF5"/>
            </a:solidFill>
            <a:prstDash val="solid"/>
          </a:ln>
        </p:spPr>
      </p:sp>
      <p:sp>
        <p:nvSpPr>
          <p:cNvPr id="14" name="Text 11"/>
          <p:cNvSpPr txBox="1"/>
          <p:nvPr/>
        </p:nvSpPr>
        <p:spPr>
          <a:xfrm>
            <a:off x="459486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5234940" y="2011680"/>
            <a:ext cx="2450592" cy="50292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Fix what drives churn</a:t>
            </a:r>
            <a:endParaRPr lang="en-US" sz="1500" dirty="0"/>
          </a:p>
        </p:txBody>
      </p:sp>
      <p:sp>
        <p:nvSpPr>
          <p:cNvPr id="16" name="Text 13"/>
          <p:cNvSpPr txBox="1"/>
          <p:nvPr/>
        </p:nvSpPr>
        <p:spPr>
          <a:xfrm>
            <a:off x="4594860" y="2651760"/>
            <a:ext cx="2999232" cy="91440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Find out why unsubscribes jumped in Lucknow (+78%), Pune (+55%) and Jaipur (+52%): network quality, device readiness or pricing.</a:t>
            </a:r>
            <a:endParaRPr lang="en-US" sz="1150" dirty="0"/>
          </a:p>
        </p:txBody>
      </p:sp>
      <p:sp>
        <p:nvSpPr>
          <p:cNvPr id="17" name="Text 14"/>
          <p:cNvSpPr txBox="1"/>
          <p:nvPr/>
        </p:nvSpPr>
        <p:spPr>
          <a:xfrm>
            <a:off x="4594860" y="3547872"/>
            <a:ext cx="2999232" cy="228600"/>
          </a:xfrm>
          <a:prstGeom prst="rect">
            <a:avLst/>
          </a:prstGeom>
          <a:noFill/>
          <a:ln/>
        </p:spPr>
        <p:txBody>
          <a:bodyPr wrap="square" lIns="0" tIns="0" rIns="0" bIns="0" rtlCol="0" anchor="t"/>
          <a:lstStyle/>
          <a:p>
            <a:pPr indent="0" marL="0">
              <a:buNone/>
            </a:pPr>
            <a:r>
              <a:rPr lang="en-US" sz="1000" b="1" dirty="0">
                <a:solidFill>
                  <a:srgbClr val="5B3DF5"/>
                </a:solidFill>
                <a:latin typeface="Calibri" pitchFamily="34" charset="0"/>
                <a:ea typeface="Calibri" pitchFamily="34" charset="-122"/>
                <a:cs typeface="Calibri" pitchFamily="34" charset="-120"/>
              </a:rPr>
              <a:t>KPI: Unsubscribes</a:t>
            </a:r>
            <a:endParaRPr lang="en-US" sz="1000" dirty="0"/>
          </a:p>
        </p:txBody>
      </p:sp>
      <p:sp>
        <p:nvSpPr>
          <p:cNvPr id="18" name="Shape 15"/>
          <p:cNvSpPr/>
          <p:nvPr/>
        </p:nvSpPr>
        <p:spPr>
          <a:xfrm>
            <a:off x="8092440" y="1737360"/>
            <a:ext cx="3547872" cy="2194560"/>
          </a:xfrm>
          <a:prstGeom prst="roundRect">
            <a:avLst>
              <a:gd name="adj" fmla="val 3333"/>
            </a:avLst>
          </a:prstGeom>
          <a:solidFill>
            <a:srgbClr val="F5F4FA"/>
          </a:solidFill>
          <a:ln w="12700">
            <a:solidFill>
              <a:srgbClr val="F5F4FA"/>
            </a:solidFill>
            <a:prstDash val="solid"/>
          </a:ln>
        </p:spPr>
      </p:sp>
      <p:sp>
        <p:nvSpPr>
          <p:cNvPr id="19" name="Shape 16"/>
          <p:cNvSpPr/>
          <p:nvPr/>
        </p:nvSpPr>
        <p:spPr>
          <a:xfrm>
            <a:off x="8366760" y="2011680"/>
            <a:ext cx="502920" cy="502920"/>
          </a:xfrm>
          <a:prstGeom prst="ellipse">
            <a:avLst/>
          </a:prstGeom>
          <a:solidFill>
            <a:srgbClr val="5B3DF5"/>
          </a:solidFill>
          <a:ln w="12700">
            <a:solidFill>
              <a:srgbClr val="5B3DF5"/>
            </a:solidFill>
            <a:prstDash val="solid"/>
          </a:ln>
        </p:spPr>
      </p:sp>
      <p:sp>
        <p:nvSpPr>
          <p:cNvPr id="20" name="Text 17"/>
          <p:cNvSpPr txBox="1"/>
          <p:nvPr/>
        </p:nvSpPr>
        <p:spPr>
          <a:xfrm>
            <a:off x="836676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txBox="1"/>
          <p:nvPr/>
        </p:nvSpPr>
        <p:spPr>
          <a:xfrm>
            <a:off x="9006840" y="2011680"/>
            <a:ext cx="2450592" cy="50292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Scale the winners</a:t>
            </a:r>
            <a:endParaRPr lang="en-US" sz="1500" dirty="0"/>
          </a:p>
        </p:txBody>
      </p:sp>
      <p:sp>
        <p:nvSpPr>
          <p:cNvPr id="22" name="Text 19"/>
          <p:cNvSpPr txBox="1"/>
          <p:nvPr/>
        </p:nvSpPr>
        <p:spPr>
          <a:xfrm>
            <a:off x="8366760" y="2651760"/>
            <a:ext cx="2999232" cy="91440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Put marketing behind p1, p11 and p12. Offer p4, p5 and p6 users an upgrade to a data-heavy 5G pack.</a:t>
            </a:r>
            <a:endParaRPr lang="en-US" sz="1150" dirty="0"/>
          </a:p>
        </p:txBody>
      </p:sp>
      <p:sp>
        <p:nvSpPr>
          <p:cNvPr id="23" name="Text 20"/>
          <p:cNvSpPr txBox="1"/>
          <p:nvPr/>
        </p:nvSpPr>
        <p:spPr>
          <a:xfrm>
            <a:off x="8366760" y="3547872"/>
            <a:ext cx="2999232" cy="228600"/>
          </a:xfrm>
          <a:prstGeom prst="rect">
            <a:avLst/>
          </a:prstGeom>
          <a:noFill/>
          <a:ln/>
        </p:spPr>
        <p:txBody>
          <a:bodyPr wrap="square" lIns="0" tIns="0" rIns="0" bIns="0" rtlCol="0" anchor="t"/>
          <a:lstStyle/>
          <a:p>
            <a:pPr indent="0" marL="0">
              <a:buNone/>
            </a:pPr>
            <a:r>
              <a:rPr lang="en-US" sz="1000" b="1" dirty="0">
                <a:solidFill>
                  <a:srgbClr val="5B3DF5"/>
                </a:solidFill>
                <a:latin typeface="Calibri" pitchFamily="34" charset="0"/>
                <a:ea typeface="Calibri" pitchFamily="34" charset="-122"/>
                <a:cs typeface="Calibri" pitchFamily="34" charset="-120"/>
              </a:rPr>
              <a:t>KPI: Plan mix</a:t>
            </a:r>
            <a:endParaRPr lang="en-US" sz="1000" dirty="0"/>
          </a:p>
        </p:txBody>
      </p:sp>
      <p:sp>
        <p:nvSpPr>
          <p:cNvPr id="24" name="Shape 21"/>
          <p:cNvSpPr/>
          <p:nvPr/>
        </p:nvSpPr>
        <p:spPr>
          <a:xfrm>
            <a:off x="548640" y="4160520"/>
            <a:ext cx="3547872" cy="2194560"/>
          </a:xfrm>
          <a:prstGeom prst="roundRect">
            <a:avLst>
              <a:gd name="adj" fmla="val 3333"/>
            </a:avLst>
          </a:prstGeom>
          <a:solidFill>
            <a:srgbClr val="F5F4FA"/>
          </a:solidFill>
          <a:ln w="12700">
            <a:solidFill>
              <a:srgbClr val="F5F4FA"/>
            </a:solidFill>
            <a:prstDash val="solid"/>
          </a:ln>
        </p:spPr>
      </p:sp>
      <p:sp>
        <p:nvSpPr>
          <p:cNvPr id="25" name="Shape 22"/>
          <p:cNvSpPr/>
          <p:nvPr/>
        </p:nvSpPr>
        <p:spPr>
          <a:xfrm>
            <a:off x="822960" y="4434840"/>
            <a:ext cx="502920" cy="502920"/>
          </a:xfrm>
          <a:prstGeom prst="ellipse">
            <a:avLst/>
          </a:prstGeom>
          <a:solidFill>
            <a:srgbClr val="5B3DF5"/>
          </a:solidFill>
          <a:ln w="12700">
            <a:solidFill>
              <a:srgbClr val="5B3DF5"/>
            </a:solidFill>
            <a:prstDash val="solid"/>
          </a:ln>
        </p:spPr>
      </p:sp>
      <p:sp>
        <p:nvSpPr>
          <p:cNvPr id="26" name="Text 23"/>
          <p:cNvSpPr txBox="1"/>
          <p:nvPr/>
        </p:nvSpPr>
        <p:spPr>
          <a:xfrm>
            <a:off x="82296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4"/>
          <p:cNvSpPr txBox="1"/>
          <p:nvPr/>
        </p:nvSpPr>
        <p:spPr>
          <a:xfrm>
            <a:off x="1463040" y="4434840"/>
            <a:ext cx="2450592" cy="50292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Retire p7</a:t>
            </a:r>
            <a:endParaRPr lang="en-US" sz="1500" dirty="0"/>
          </a:p>
        </p:txBody>
      </p:sp>
      <p:sp>
        <p:nvSpPr>
          <p:cNvPr id="28" name="Text 25"/>
          <p:cNvSpPr txBox="1"/>
          <p:nvPr/>
        </p:nvSpPr>
        <p:spPr>
          <a:xfrm>
            <a:off x="822960" y="5074920"/>
            <a:ext cx="2999232" cy="91440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Switch off the 3G/4G combo and move its users to a 5G bulk-data pack with an upgrade offer.</a:t>
            </a:r>
            <a:endParaRPr lang="en-US" sz="1150" dirty="0"/>
          </a:p>
        </p:txBody>
      </p:sp>
      <p:sp>
        <p:nvSpPr>
          <p:cNvPr id="29" name="Text 26"/>
          <p:cNvSpPr txBox="1"/>
          <p:nvPr/>
        </p:nvSpPr>
        <p:spPr>
          <a:xfrm>
            <a:off x="822960" y="5971032"/>
            <a:ext cx="2999232" cy="228600"/>
          </a:xfrm>
          <a:prstGeom prst="rect">
            <a:avLst/>
          </a:prstGeom>
          <a:noFill/>
          <a:ln/>
        </p:spPr>
        <p:txBody>
          <a:bodyPr wrap="square" lIns="0" tIns="0" rIns="0" bIns="0" rtlCol="0" anchor="t"/>
          <a:lstStyle/>
          <a:p>
            <a:pPr indent="0" marL="0">
              <a:buNone/>
            </a:pPr>
            <a:r>
              <a:rPr lang="en-US" sz="1000" b="1" dirty="0">
                <a:solidFill>
                  <a:srgbClr val="5B3DF5"/>
                </a:solidFill>
                <a:latin typeface="Calibri" pitchFamily="34" charset="0"/>
                <a:ea typeface="Calibri" pitchFamily="34" charset="-122"/>
                <a:cs typeface="Calibri" pitchFamily="34" charset="-120"/>
              </a:rPr>
              <a:t>KPI: Plan portfolio</a:t>
            </a:r>
            <a:endParaRPr lang="en-US" sz="1000" dirty="0"/>
          </a:p>
        </p:txBody>
      </p:sp>
      <p:sp>
        <p:nvSpPr>
          <p:cNvPr id="30" name="Shape 27"/>
          <p:cNvSpPr/>
          <p:nvPr/>
        </p:nvSpPr>
        <p:spPr>
          <a:xfrm>
            <a:off x="4320540" y="4160520"/>
            <a:ext cx="3547872" cy="2194560"/>
          </a:xfrm>
          <a:prstGeom prst="roundRect">
            <a:avLst>
              <a:gd name="adj" fmla="val 3333"/>
            </a:avLst>
          </a:prstGeom>
          <a:solidFill>
            <a:srgbClr val="F5F4FA"/>
          </a:solidFill>
          <a:ln w="12700">
            <a:solidFill>
              <a:srgbClr val="F5F4FA"/>
            </a:solidFill>
            <a:prstDash val="solid"/>
          </a:ln>
        </p:spPr>
      </p:sp>
      <p:sp>
        <p:nvSpPr>
          <p:cNvPr id="31" name="Shape 28"/>
          <p:cNvSpPr/>
          <p:nvPr/>
        </p:nvSpPr>
        <p:spPr>
          <a:xfrm>
            <a:off x="4594860" y="4434840"/>
            <a:ext cx="502920" cy="502920"/>
          </a:xfrm>
          <a:prstGeom prst="ellipse">
            <a:avLst/>
          </a:prstGeom>
          <a:solidFill>
            <a:srgbClr val="5B3DF5"/>
          </a:solidFill>
          <a:ln w="12700">
            <a:solidFill>
              <a:srgbClr val="5B3DF5"/>
            </a:solidFill>
            <a:prstDash val="solid"/>
          </a:ln>
        </p:spPr>
      </p:sp>
      <p:sp>
        <p:nvSpPr>
          <p:cNvPr id="32" name="Text 29"/>
          <p:cNvSpPr txBox="1"/>
          <p:nvPr/>
        </p:nvSpPr>
        <p:spPr>
          <a:xfrm>
            <a:off x="459486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0"/>
          <p:cNvSpPr txBox="1"/>
          <p:nvPr/>
        </p:nvSpPr>
        <p:spPr>
          <a:xfrm>
            <a:off x="5234940" y="4434840"/>
            <a:ext cx="2450592" cy="502920"/>
          </a:xfrm>
          <a:prstGeom prst="rect">
            <a:avLst/>
          </a:prstGeom>
          <a:noFill/>
          <a:ln/>
        </p:spPr>
        <p:txBody>
          <a:bodyPr wrap="square" lIns="0" tIns="0" rIns="0" bIns="0" rtlCol="0" anchor="ctr"/>
          <a:lstStyle/>
          <a:p>
            <a:pPr indent="0" marL="0">
              <a:buNone/>
            </a:pPr>
            <a:r>
              <a:rPr lang="en-US" sz="1500" b="1" dirty="0">
                <a:solidFill>
                  <a:srgbClr val="1B1838"/>
                </a:solidFill>
                <a:latin typeface="Calibri" pitchFamily="34" charset="0"/>
                <a:ea typeface="Calibri" pitchFamily="34" charset="-122"/>
                <a:cs typeface="Calibri" pitchFamily="34" charset="-120"/>
              </a:rPr>
              <a:t>Win back market share</a:t>
            </a:r>
            <a:endParaRPr lang="en-US" sz="1500" dirty="0"/>
          </a:p>
        </p:txBody>
      </p:sp>
      <p:sp>
        <p:nvSpPr>
          <p:cNvPr id="34" name="Text 31"/>
          <p:cNvSpPr txBox="1"/>
          <p:nvPr/>
        </p:nvSpPr>
        <p:spPr>
          <a:xfrm>
            <a:off x="4594860" y="5074920"/>
            <a:ext cx="2999232" cy="914400"/>
          </a:xfrm>
          <a:prstGeom prst="rect">
            <a:avLst/>
          </a:prstGeom>
          <a:noFill/>
          <a:ln/>
        </p:spPr>
        <p:txBody>
          <a:bodyPr wrap="square" lIns="0" tIns="0" rIns="0" bIns="0" rtlCol="0" anchor="t"/>
          <a:lstStyle/>
          <a:p>
            <a:pPr indent="0" marL="0">
              <a:buNone/>
            </a:pPr>
            <a:r>
              <a:rPr lang="en-US" sz="1150" dirty="0">
                <a:solidFill>
                  <a:srgbClr val="615E78"/>
                </a:solidFill>
                <a:latin typeface="Calibri" pitchFamily="34" charset="0"/>
                <a:ea typeface="Calibri" pitchFamily="34" charset="-122"/>
                <a:cs typeface="Calibri" pitchFamily="34" charset="-120"/>
              </a:rPr>
              <a:t>We are the only operator losing share. Compete with PIO and Britel on 5G coverage and value. About ₹116 Cr is at stake.</a:t>
            </a:r>
            <a:endParaRPr lang="en-US" sz="1150" dirty="0"/>
          </a:p>
        </p:txBody>
      </p:sp>
      <p:sp>
        <p:nvSpPr>
          <p:cNvPr id="35" name="Text 32"/>
          <p:cNvSpPr txBox="1"/>
          <p:nvPr/>
        </p:nvSpPr>
        <p:spPr>
          <a:xfrm>
            <a:off x="4594860" y="5971032"/>
            <a:ext cx="2999232" cy="228600"/>
          </a:xfrm>
          <a:prstGeom prst="rect">
            <a:avLst/>
          </a:prstGeom>
          <a:noFill/>
          <a:ln/>
        </p:spPr>
        <p:txBody>
          <a:bodyPr wrap="square" lIns="0" tIns="0" rIns="0" bIns="0" rtlCol="0" anchor="t"/>
          <a:lstStyle/>
          <a:p>
            <a:pPr indent="0" marL="0">
              <a:buNone/>
            </a:pPr>
            <a:r>
              <a:rPr lang="en-US" sz="1000" b="1" dirty="0">
                <a:solidFill>
                  <a:srgbClr val="5B3DF5"/>
                </a:solidFill>
                <a:latin typeface="Calibri" pitchFamily="34" charset="0"/>
                <a:ea typeface="Calibri" pitchFamily="34" charset="-122"/>
                <a:cs typeface="Calibri" pitchFamily="34" charset="-120"/>
              </a:rPr>
              <a:t>KPI: Market share</a:t>
            </a:r>
            <a:endParaRPr lang="en-US" sz="1000" dirty="0"/>
          </a:p>
        </p:txBody>
      </p:sp>
      <p:sp>
        <p:nvSpPr>
          <p:cNvPr id="36" name="Shape 33"/>
          <p:cNvSpPr/>
          <p:nvPr/>
        </p:nvSpPr>
        <p:spPr>
          <a:xfrm>
            <a:off x="8092440" y="4160520"/>
            <a:ext cx="3547872" cy="2194560"/>
          </a:xfrm>
          <a:prstGeom prst="roundRect">
            <a:avLst>
              <a:gd name="adj" fmla="val 3333"/>
            </a:avLst>
          </a:prstGeom>
          <a:solidFill>
            <a:srgbClr val="120E33"/>
          </a:solidFill>
          <a:ln w="12700">
            <a:solidFill>
              <a:srgbClr val="120E33"/>
            </a:solidFill>
            <a:prstDash val="solid"/>
          </a:ln>
        </p:spPr>
      </p:sp>
      <p:pic>
        <p:nvPicPr>
          <p:cNvPr id="37" name="Image 1" descr="preencoded.png">    </p:cNvPr>
          <p:cNvPicPr>
            <a:picLocks noChangeAspect="1"/>
          </p:cNvPicPr>
          <p:nvPr/>
        </p:nvPicPr>
        <p:blipFill>
          <a:blip r:embed="rId2"/>
          <a:stretch>
            <a:fillRect/>
          </a:stretch>
        </p:blipFill>
        <p:spPr>
          <a:xfrm>
            <a:off x="8366760" y="4434840"/>
            <a:ext cx="365760" cy="365760"/>
          </a:xfrm>
          <a:prstGeom prst="rect">
            <a:avLst/>
          </a:prstGeom>
        </p:spPr>
      </p:pic>
      <p:sp>
        <p:nvSpPr>
          <p:cNvPr id="38" name="Text 34"/>
          <p:cNvSpPr txBox="1"/>
          <p:nvPr/>
        </p:nvSpPr>
        <p:spPr>
          <a:xfrm>
            <a:off x="8869680" y="4453128"/>
            <a:ext cx="2633472" cy="320040"/>
          </a:xfrm>
          <a:prstGeom prst="rect">
            <a:avLst/>
          </a:prstGeom>
          <a:noFill/>
          <a:ln/>
        </p:spPr>
        <p:txBody>
          <a:bodyPr wrap="square" lIns="0" tIns="0" rIns="0" bIns="0" rtlCol="0" anchor="ctr"/>
          <a:lstStyle/>
          <a:p>
            <a:pPr indent="0" marL="0">
              <a:buNone/>
            </a:pPr>
            <a:r>
              <a:rPr lang="en-US" sz="1100" b="1" spc="200" kern="0" dirty="0">
                <a:solidFill>
                  <a:srgbClr val="B4A8FF"/>
                </a:solidFill>
                <a:latin typeface="Calibri" pitchFamily="34" charset="0"/>
                <a:ea typeface="Calibri" pitchFamily="34" charset="-122"/>
                <a:cs typeface="Calibri" pitchFamily="34" charset="-120"/>
              </a:rPr>
              <a:t>NORTH-STAR TARGET</a:t>
            </a:r>
            <a:endParaRPr lang="en-US" sz="1100" dirty="0"/>
          </a:p>
        </p:txBody>
      </p:sp>
      <p:sp>
        <p:nvSpPr>
          <p:cNvPr id="39" name="Text 35"/>
          <p:cNvSpPr txBox="1"/>
          <p:nvPr/>
        </p:nvSpPr>
        <p:spPr>
          <a:xfrm>
            <a:off x="8366760" y="4937760"/>
            <a:ext cx="2999232" cy="9144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Get back to ~211 L active users a month while keeping revenue per user above ₹205</a:t>
            </a:r>
            <a:endParaRPr lang="en-US" sz="1500" dirty="0"/>
          </a:p>
        </p:txBody>
      </p:sp>
      <p:sp>
        <p:nvSpPr>
          <p:cNvPr id="40" name="Text 36"/>
          <p:cNvSpPr txBox="1"/>
          <p:nvPr/>
        </p:nvSpPr>
        <p:spPr>
          <a:xfrm>
            <a:off x="8366760" y="5852160"/>
            <a:ext cx="2999232" cy="320040"/>
          </a:xfrm>
          <a:prstGeom prst="rect">
            <a:avLst/>
          </a:prstGeom>
          <a:noFill/>
          <a:ln/>
        </p:spPr>
        <p:txBody>
          <a:bodyPr wrap="square" lIns="0" tIns="0" rIns="0" bIns="0" rtlCol="0" anchor="t"/>
          <a:lstStyle/>
          <a:p>
            <a:pPr indent="0" marL="0">
              <a:buNone/>
            </a:pPr>
            <a:r>
              <a:rPr lang="en-US" sz="1100" dirty="0">
                <a:solidFill>
                  <a:srgbClr val="CFC8FA"/>
                </a:solidFill>
                <a:latin typeface="Calibri" pitchFamily="34" charset="0"/>
                <a:ea typeface="Calibri" pitchFamily="34" charset="-122"/>
                <a:cs typeface="Calibri" pitchFamily="34" charset="-120"/>
              </a:rPr>
              <a:t>Today: 193 L a month at ₹205 revenue per user</a:t>
            </a:r>
            <a:endParaRPr lang="en-US" sz="1100" dirty="0"/>
          </a:p>
        </p:txBody>
      </p:sp>
      <p:sp>
        <p:nvSpPr>
          <p:cNvPr id="41" name="Text 37"/>
          <p:cNvSpPr txBox="1"/>
          <p:nvPr/>
        </p:nvSpPr>
        <p:spPr>
          <a:xfrm>
            <a:off x="548640" y="6419088"/>
            <a:ext cx="9875520" cy="228600"/>
          </a:xfrm>
          <a:prstGeom prst="rect">
            <a:avLst/>
          </a:prstGeom>
          <a:noFill/>
          <a:ln/>
        </p:spPr>
        <p:txBody>
          <a:bodyPr wrap="square" lIns="0" tIns="0" rIns="0" bIns="0" rtlCol="0" anchor="t"/>
          <a:lstStyle/>
          <a:p>
            <a:pPr indent="0" marL="0">
              <a:buNone/>
            </a:pPr>
            <a:r>
              <a:rPr lang="en-US" sz="900" dirty="0">
                <a:solidFill>
                  <a:srgbClr val="615E78"/>
                </a:solidFill>
                <a:latin typeface="Calibri" pitchFamily="34" charset="0"/>
                <a:ea typeface="Calibri" pitchFamily="34" charset="-122"/>
                <a:cs typeface="Calibri" pitchFamily="34" charset="-120"/>
              </a:rPr>
              <a:t>Source: WaveCon Power BI dashboard  ·  Before 5G = Jan–Apr 2022  ·  After 5G = Jun–Sep 2022 (May launch month excluded)</a:t>
            </a:r>
            <a:endParaRPr lang="en-US" sz="900" dirty="0"/>
          </a:p>
        </p:txBody>
      </p:sp>
      <p:sp>
        <p:nvSpPr>
          <p:cNvPr id="42" name="Text 38"/>
          <p:cNvSpPr txBox="1"/>
          <p:nvPr/>
        </p:nvSpPr>
        <p:spPr>
          <a:xfrm>
            <a:off x="11155680" y="6419088"/>
            <a:ext cx="484632" cy="228600"/>
          </a:xfrm>
          <a:prstGeom prst="rect">
            <a:avLst/>
          </a:prstGeom>
          <a:noFill/>
          <a:ln/>
        </p:spPr>
        <p:txBody>
          <a:bodyPr wrap="square" lIns="0" tIns="0" rIns="0" bIns="0" rtlCol="0" anchor="t"/>
          <a:lstStyle/>
          <a:p>
            <a:pPr algn="r" indent="0" marL="0">
              <a:buNone/>
            </a:pPr>
            <a:r>
              <a:rPr lang="en-US" sz="900" dirty="0">
                <a:solidFill>
                  <a:srgbClr val="615E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0E33"/>
        </a:solidFill>
      </p:bgPr>
    </p:bg>
    <p:spTree>
      <p:nvGrpSpPr>
        <p:cNvPr id="1" name=""/>
        <p:cNvGrpSpPr/>
        <p:nvPr/>
      </p:nvGrpSpPr>
      <p:grpSpPr>
        <a:xfrm>
          <a:off x="0" y="0"/>
          <a:ext cx="0" cy="0"/>
          <a:chOff x="0" y="0"/>
          <a:chExt cx="0" cy="0"/>
        </a:xfrm>
      </p:grpSpPr>
      <p:sp>
        <p:nvSpPr>
          <p:cNvPr id="2" name="Shape 0"/>
          <p:cNvSpPr/>
          <p:nvPr/>
        </p:nvSpPr>
        <p:spPr>
          <a:xfrm>
            <a:off x="7447788" y="864108"/>
            <a:ext cx="5129784" cy="5129784"/>
          </a:xfrm>
          <a:prstGeom prst="ellipse">
            <a:avLst/>
          </a:prstGeom>
          <a:ln w="19050">
            <a:solidFill>
              <a:srgbClr val="5B3DF5">
                <a:alpha val="30000"/>
              </a:srgbClr>
            </a:solidFill>
            <a:prstDash val="solid"/>
          </a:ln>
        </p:spPr>
      </p:sp>
      <p:sp>
        <p:nvSpPr>
          <p:cNvPr id="3" name="Shape 1"/>
          <p:cNvSpPr/>
          <p:nvPr/>
        </p:nvSpPr>
        <p:spPr>
          <a:xfrm>
            <a:off x="7952994" y="1369314"/>
            <a:ext cx="4119372" cy="4119372"/>
          </a:xfrm>
          <a:prstGeom prst="ellipse">
            <a:avLst/>
          </a:prstGeom>
          <a:ln w="19050">
            <a:solidFill>
              <a:srgbClr val="5B3DF5">
                <a:alpha val="45000"/>
              </a:srgbClr>
            </a:solidFill>
            <a:prstDash val="solid"/>
          </a:ln>
        </p:spPr>
      </p:sp>
      <p:sp>
        <p:nvSpPr>
          <p:cNvPr id="4" name="Shape 2"/>
          <p:cNvSpPr/>
          <p:nvPr/>
        </p:nvSpPr>
        <p:spPr>
          <a:xfrm>
            <a:off x="8458200" y="1874520"/>
            <a:ext cx="3108960" cy="3108960"/>
          </a:xfrm>
          <a:prstGeom prst="ellipse">
            <a:avLst/>
          </a:prstGeom>
          <a:ln w="19050">
            <a:solidFill>
              <a:srgbClr val="5B3DF5">
                <a:alpha val="60000"/>
              </a:srgbClr>
            </a:solidFill>
            <a:prstDash val="solid"/>
          </a:ln>
        </p:spPr>
      </p:sp>
      <p:sp>
        <p:nvSpPr>
          <p:cNvPr id="5" name="Shape 3"/>
          <p:cNvSpPr/>
          <p:nvPr/>
        </p:nvSpPr>
        <p:spPr>
          <a:xfrm>
            <a:off x="8924544" y="2340864"/>
            <a:ext cx="2176272" cy="2176272"/>
          </a:xfrm>
          <a:prstGeom prst="ellipse">
            <a:avLst/>
          </a:prstGeom>
          <a:ln w="19050">
            <a:solidFill>
              <a:srgbClr val="5B3DF5">
                <a:alpha val="75000"/>
              </a:srgbClr>
            </a:solidFill>
            <a:prstDash val="solid"/>
          </a:ln>
        </p:spPr>
      </p:sp>
      <p:sp>
        <p:nvSpPr>
          <p:cNvPr id="6" name="Shape 4"/>
          <p:cNvSpPr/>
          <p:nvPr/>
        </p:nvSpPr>
        <p:spPr>
          <a:xfrm>
            <a:off x="9281160" y="2697480"/>
            <a:ext cx="1463040" cy="1463040"/>
          </a:xfrm>
          <a:prstGeom prst="ellipse">
            <a:avLst/>
          </a:prstGeom>
          <a:solidFill>
            <a:srgbClr val="5B3DF5"/>
          </a:solidFill>
          <a:ln w="12700">
            <a:solidFill>
              <a:srgbClr val="5B3DF5"/>
            </a:solidFill>
            <a:prstDash val="solid"/>
          </a:ln>
        </p:spPr>
      </p:sp>
      <p:pic>
        <p:nvPicPr>
          <p:cNvPr id="7" name="Image 0" descr="preencoded.png">    </p:cNvPr>
          <p:cNvPicPr>
            <a:picLocks noChangeAspect="1"/>
          </p:cNvPicPr>
          <p:nvPr/>
        </p:nvPicPr>
        <p:blipFill>
          <a:blip r:embed="rId1"/>
          <a:stretch>
            <a:fillRect/>
          </a:stretch>
        </p:blipFill>
        <p:spPr>
          <a:xfrm>
            <a:off x="9555480" y="2971800"/>
            <a:ext cx="914400" cy="914400"/>
          </a:xfrm>
          <a:prstGeom prst="rect">
            <a:avLst/>
          </a:prstGeom>
        </p:spPr>
      </p:pic>
      <p:sp>
        <p:nvSpPr>
          <p:cNvPr id="8" name="Text 5"/>
          <p:cNvSpPr txBox="1"/>
          <p:nvPr/>
        </p:nvSpPr>
        <p:spPr>
          <a:xfrm>
            <a:off x="731520" y="1325880"/>
            <a:ext cx="6400800" cy="320040"/>
          </a:xfrm>
          <a:prstGeom prst="rect">
            <a:avLst/>
          </a:prstGeom>
          <a:noFill/>
          <a:ln/>
        </p:spPr>
        <p:txBody>
          <a:bodyPr wrap="square" lIns="0" tIns="0" rIns="0" bIns="0" rtlCol="0" anchor="t"/>
          <a:lstStyle/>
          <a:p>
            <a:pPr indent="0" marL="0">
              <a:buNone/>
            </a:pPr>
            <a:r>
              <a:rPr lang="en-US" sz="1300" b="1" spc="300" kern="0" dirty="0">
                <a:solidFill>
                  <a:srgbClr val="B4A8FF"/>
                </a:solidFill>
                <a:latin typeface="Calibri" pitchFamily="34" charset="0"/>
                <a:ea typeface="Calibri" pitchFamily="34" charset="-122"/>
                <a:cs typeface="Calibri" pitchFamily="34" charset="-120"/>
              </a:rPr>
              <a:t>THE BOTTOM LINE</a:t>
            </a:r>
            <a:endParaRPr lang="en-US" sz="1300" dirty="0"/>
          </a:p>
        </p:txBody>
      </p:sp>
      <p:sp>
        <p:nvSpPr>
          <p:cNvPr id="9" name="Text 6"/>
          <p:cNvSpPr txBox="1"/>
          <p:nvPr/>
        </p:nvSpPr>
        <p:spPr>
          <a:xfrm>
            <a:off x="731520" y="1691640"/>
            <a:ext cx="6309360" cy="178308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5G made each customer worth more. Now we have to keep them.</a:t>
            </a:r>
            <a:endParaRPr lang="en-US" sz="3600" dirty="0"/>
          </a:p>
        </p:txBody>
      </p:sp>
      <p:sp>
        <p:nvSpPr>
          <p:cNvPr id="10" name="Shape 7"/>
          <p:cNvSpPr/>
          <p:nvPr/>
        </p:nvSpPr>
        <p:spPr>
          <a:xfrm>
            <a:off x="731520" y="3931920"/>
            <a:ext cx="1920240" cy="1234440"/>
          </a:xfrm>
          <a:prstGeom prst="roundRect">
            <a:avLst>
              <a:gd name="adj" fmla="val 5926"/>
            </a:avLst>
          </a:prstGeom>
          <a:solidFill>
            <a:srgbClr val="1E1950"/>
          </a:solidFill>
          <a:ln w="12700">
            <a:solidFill>
              <a:srgbClr val="1E1950"/>
            </a:solidFill>
            <a:prstDash val="solid"/>
          </a:ln>
        </p:spPr>
      </p:sp>
      <p:sp>
        <p:nvSpPr>
          <p:cNvPr id="11" name="Text 8"/>
          <p:cNvSpPr txBox="1"/>
          <p:nvPr/>
        </p:nvSpPr>
        <p:spPr>
          <a:xfrm>
            <a:off x="914400" y="4069080"/>
            <a:ext cx="1645920" cy="548640"/>
          </a:xfrm>
          <a:prstGeom prst="rect">
            <a:avLst/>
          </a:prstGeom>
          <a:noFill/>
          <a:ln/>
        </p:spPr>
        <p:txBody>
          <a:bodyPr wrap="square" lIns="0" tIns="0" rIns="0" bIns="0" rtlCol="0" anchor="t"/>
          <a:lstStyle/>
          <a:p>
            <a:pPr indent="0" marL="0">
              <a:buNone/>
            </a:pPr>
            <a:r>
              <a:rPr lang="en-US" sz="2600" b="1" dirty="0">
                <a:solidFill>
                  <a:srgbClr val="7CE0BF"/>
                </a:solidFill>
                <a:latin typeface="Calibri" pitchFamily="34" charset="0"/>
                <a:ea typeface="Calibri" pitchFamily="34" charset="-122"/>
                <a:cs typeface="Calibri" pitchFamily="34" charset="-120"/>
              </a:rPr>
              <a:t>+11.0%</a:t>
            </a:r>
            <a:endParaRPr lang="en-US" sz="2600" dirty="0"/>
          </a:p>
        </p:txBody>
      </p:sp>
      <p:sp>
        <p:nvSpPr>
          <p:cNvPr id="12" name="Text 9"/>
          <p:cNvSpPr txBox="1"/>
          <p:nvPr/>
        </p:nvSpPr>
        <p:spPr>
          <a:xfrm>
            <a:off x="914400" y="4645152"/>
            <a:ext cx="1645920" cy="320040"/>
          </a:xfrm>
          <a:prstGeom prst="rect">
            <a:avLst/>
          </a:prstGeom>
          <a:noFill/>
          <a:ln/>
        </p:spPr>
        <p:txBody>
          <a:bodyPr wrap="square" lIns="0" tIns="0" rIns="0" bIns="0" rtlCol="0" anchor="t"/>
          <a:lstStyle/>
          <a:p>
            <a:pPr indent="0" marL="0">
              <a:buNone/>
            </a:pPr>
            <a:r>
              <a:rPr lang="en-US" sz="1200" dirty="0">
                <a:solidFill>
                  <a:srgbClr val="CFC8FA"/>
                </a:solidFill>
                <a:latin typeface="Calibri" pitchFamily="34" charset="0"/>
                <a:ea typeface="Calibri" pitchFamily="34" charset="-122"/>
                <a:cs typeface="Calibri" pitchFamily="34" charset="-120"/>
              </a:rPr>
              <a:t>ARPU</a:t>
            </a:r>
            <a:endParaRPr lang="en-US" sz="1200" dirty="0"/>
          </a:p>
        </p:txBody>
      </p:sp>
      <p:sp>
        <p:nvSpPr>
          <p:cNvPr id="13" name="Shape 10"/>
          <p:cNvSpPr/>
          <p:nvPr/>
        </p:nvSpPr>
        <p:spPr>
          <a:xfrm>
            <a:off x="2834640" y="3931920"/>
            <a:ext cx="1920240" cy="1234440"/>
          </a:xfrm>
          <a:prstGeom prst="roundRect">
            <a:avLst>
              <a:gd name="adj" fmla="val 5926"/>
            </a:avLst>
          </a:prstGeom>
          <a:solidFill>
            <a:srgbClr val="1E1950"/>
          </a:solidFill>
          <a:ln w="12700">
            <a:solidFill>
              <a:srgbClr val="1E1950"/>
            </a:solidFill>
            <a:prstDash val="solid"/>
          </a:ln>
        </p:spPr>
      </p:sp>
      <p:sp>
        <p:nvSpPr>
          <p:cNvPr id="14" name="Text 11"/>
          <p:cNvSpPr txBox="1"/>
          <p:nvPr/>
        </p:nvSpPr>
        <p:spPr>
          <a:xfrm>
            <a:off x="3017520" y="4069080"/>
            <a:ext cx="1645920" cy="548640"/>
          </a:xfrm>
          <a:prstGeom prst="rect">
            <a:avLst/>
          </a:prstGeom>
          <a:noFill/>
          <a:ln/>
        </p:spPr>
        <p:txBody>
          <a:bodyPr wrap="square" lIns="0" tIns="0" rIns="0" bIns="0" rtlCol="0" anchor="t"/>
          <a:lstStyle/>
          <a:p>
            <a:pPr indent="0" marL="0">
              <a:buNone/>
            </a:pPr>
            <a:r>
              <a:rPr lang="en-US" sz="2600" b="1" dirty="0">
                <a:solidFill>
                  <a:srgbClr val="FF8A8D"/>
                </a:solidFill>
                <a:latin typeface="Calibri" pitchFamily="34" charset="0"/>
                <a:ea typeface="Calibri" pitchFamily="34" charset="-122"/>
                <a:cs typeface="Calibri" pitchFamily="34" charset="-120"/>
              </a:rPr>
              <a:t>−8.3%</a:t>
            </a:r>
            <a:endParaRPr lang="en-US" sz="2600" dirty="0"/>
          </a:p>
        </p:txBody>
      </p:sp>
      <p:sp>
        <p:nvSpPr>
          <p:cNvPr id="15" name="Text 12"/>
          <p:cNvSpPr txBox="1"/>
          <p:nvPr/>
        </p:nvSpPr>
        <p:spPr>
          <a:xfrm>
            <a:off x="3017520" y="4645152"/>
            <a:ext cx="1645920" cy="320040"/>
          </a:xfrm>
          <a:prstGeom prst="rect">
            <a:avLst/>
          </a:prstGeom>
          <a:noFill/>
          <a:ln/>
        </p:spPr>
        <p:txBody>
          <a:bodyPr wrap="square" lIns="0" tIns="0" rIns="0" bIns="0" rtlCol="0" anchor="t"/>
          <a:lstStyle/>
          <a:p>
            <a:pPr indent="0" marL="0">
              <a:buNone/>
            </a:pPr>
            <a:r>
              <a:rPr lang="en-US" sz="1200" dirty="0">
                <a:solidFill>
                  <a:srgbClr val="CFC8FA"/>
                </a:solidFill>
                <a:latin typeface="Calibri" pitchFamily="34" charset="0"/>
                <a:ea typeface="Calibri" pitchFamily="34" charset="-122"/>
                <a:cs typeface="Calibri" pitchFamily="34" charset="-120"/>
              </a:rPr>
              <a:t>active users</a:t>
            </a:r>
            <a:endParaRPr lang="en-US" sz="1200" dirty="0"/>
          </a:p>
        </p:txBody>
      </p:sp>
      <p:sp>
        <p:nvSpPr>
          <p:cNvPr id="16" name="Shape 13"/>
          <p:cNvSpPr/>
          <p:nvPr/>
        </p:nvSpPr>
        <p:spPr>
          <a:xfrm>
            <a:off x="4937760" y="3931920"/>
            <a:ext cx="1920240" cy="1234440"/>
          </a:xfrm>
          <a:prstGeom prst="roundRect">
            <a:avLst>
              <a:gd name="adj" fmla="val 5926"/>
            </a:avLst>
          </a:prstGeom>
          <a:solidFill>
            <a:srgbClr val="1E1950"/>
          </a:solidFill>
          <a:ln w="12700">
            <a:solidFill>
              <a:srgbClr val="1E1950"/>
            </a:solidFill>
            <a:prstDash val="solid"/>
          </a:ln>
        </p:spPr>
      </p:sp>
      <p:sp>
        <p:nvSpPr>
          <p:cNvPr id="17" name="Text 14"/>
          <p:cNvSpPr txBox="1"/>
          <p:nvPr/>
        </p:nvSpPr>
        <p:spPr>
          <a:xfrm>
            <a:off x="5120640" y="4069080"/>
            <a:ext cx="1645920" cy="548640"/>
          </a:xfrm>
          <a:prstGeom prst="rect">
            <a:avLst/>
          </a:prstGeom>
          <a:noFill/>
          <a:ln/>
        </p:spPr>
        <p:txBody>
          <a:bodyPr wrap="square" lIns="0" tIns="0" rIns="0" bIns="0" rtlCol="0" anchor="t"/>
          <a:lstStyle/>
          <a:p>
            <a:pPr indent="0" marL="0">
              <a:buNone/>
            </a:pPr>
            <a:r>
              <a:rPr lang="en-US" sz="2600" b="1" dirty="0">
                <a:solidFill>
                  <a:srgbClr val="FF8A8D"/>
                </a:solidFill>
                <a:latin typeface="Calibri" pitchFamily="34" charset="0"/>
                <a:ea typeface="Calibri" pitchFamily="34" charset="-122"/>
                <a:cs typeface="Calibri" pitchFamily="34" charset="-120"/>
              </a:rPr>
              <a:t>−1.35 pp</a:t>
            </a:r>
            <a:endParaRPr lang="en-US" sz="2600" dirty="0"/>
          </a:p>
        </p:txBody>
      </p:sp>
      <p:sp>
        <p:nvSpPr>
          <p:cNvPr id="18" name="Text 15"/>
          <p:cNvSpPr txBox="1"/>
          <p:nvPr/>
        </p:nvSpPr>
        <p:spPr>
          <a:xfrm>
            <a:off x="5120640" y="4645152"/>
            <a:ext cx="1645920" cy="320040"/>
          </a:xfrm>
          <a:prstGeom prst="rect">
            <a:avLst/>
          </a:prstGeom>
          <a:noFill/>
          <a:ln/>
        </p:spPr>
        <p:txBody>
          <a:bodyPr wrap="square" lIns="0" tIns="0" rIns="0" bIns="0" rtlCol="0" anchor="t"/>
          <a:lstStyle/>
          <a:p>
            <a:pPr indent="0" marL="0">
              <a:buNone/>
            </a:pPr>
            <a:r>
              <a:rPr lang="en-US" sz="1200" dirty="0">
                <a:solidFill>
                  <a:srgbClr val="CFC8FA"/>
                </a:solidFill>
                <a:latin typeface="Calibri" pitchFamily="34" charset="0"/>
                <a:ea typeface="Calibri" pitchFamily="34" charset="-122"/>
                <a:cs typeface="Calibri" pitchFamily="34" charset="-120"/>
              </a:rPr>
              <a:t>market share</a:t>
            </a:r>
            <a:endParaRPr lang="en-US" sz="1200" dirty="0"/>
          </a:p>
        </p:txBody>
      </p:sp>
      <p:sp>
        <p:nvSpPr>
          <p:cNvPr id="19" name="Text 16"/>
          <p:cNvSpPr txBox="1"/>
          <p:nvPr/>
        </p:nvSpPr>
        <p:spPr>
          <a:xfrm>
            <a:off x="731520" y="5760720"/>
            <a:ext cx="5486400" cy="3657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WaveCon 5G Launch Impact Review</dc:title>
  <dc:subject>PptxGenJS Presentation</dc:subject>
  <dc:creator>WaveCon Analytics</dc:creator>
  <cp:lastModifiedBy>WaveCon Analytics</cp:lastModifiedBy>
  <cp:revision>1</cp:revision>
  <dcterms:created xsi:type="dcterms:W3CDTF">2026-09-29T06:41:45Z</dcterms:created>
  <dcterms:modified xsi:type="dcterms:W3CDTF">2026-09-29T06:41:45Z</dcterms:modified>
</cp:coreProperties>
</file>